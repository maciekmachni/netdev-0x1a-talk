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who has debugged a distributed trace where events looked out of order? Almost every hand goes up. That is the whole talk.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prior talk made reading the PTP hardware clock cheap — the Hermóðr PoC approximates the device clock in userspace from the CPU counter, cutting a /dev/ptpX read from ~5 microseconds (syscall + PCIe) down to tens of nanoseconds. Note the shape: a daemon that cross-timestamps and estimates drift, a snapshot in shared memory, and a small client library — the same skeleton as ptp-uncertainty. This talk adds the missing half: the uncertainty of that time. Together they are the full story — fast access to the time and its associated error bar.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is necessary but insufficient. Higher precision made silent errors both more likely to be relied on and harder to see.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Draft with the full menu of use cases — trim during review. The core three (ordering, causality, compliance) carry the argument; the rest map the blast radius: databases (external consistency / commit-wait), profiling (cross-node spans), coordination (leases → split brain), observability (telemetry skew), audit/forensics, cyber-physical (sensor fusion), and regulated timestamping (MiFID II). Auditors care about defensible ordering, not nanosecond vanity metrics.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aha. The numbers look confident; the reality is ambiguous. Each bar is the timestamp ± its uncertainty; because 150 + 150 &gt; 200, the intervals overlap (amber) and either event could have come first. We need the error bar to be part of the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thesis of the abstract. Keep returning to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this on a whiteboard if possible. The interval end-points have names: t−U is the earliest the event could have happened, t+U the latest. 'Unknown' is a valid, useful answer a system can act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conservatism: we want a defensible upper bound, not a best guess.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slowly. The point: 'the event time' means different things at different layers even when everything is 'synced'.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consolidated budget before we zoom into individual layers. Two sources come from the source clock itself, and they differ in kind: the grandmaster's class (clockClass / clockAccuracy) is an advertised bound on the source quality, while the offset from the grandmaster is our own value, measured locally from the t1-t4 timestamp exchange — that measured |offset| is what enters the bound. (stepsRemoved is neither: just the hop count to the GM.) Two come from our local oscillator: its free-run drift between sync messages, and holdover when discipline is lost entirely. Two are properties of reading the clock: the access latency of a PHC or clock_gettime read, and the finite resolution of the tick itself. And two live in the network: the delays accumulated across every transparent/boundary clock and queue on the path (whose mean PTP measures and compensates), and link asymmetry — the up/down difference PTP cannot see, which stays an unmodeled conservative gap. The rest of Part 3 drills into the ones that dominate.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1 is the oscillator alone — stability in ppb and temperature sensitivity, free-running drift. Layer 2 is the PHC clock it feeds: offsetFromMaster is an estimate (not a truth), and the clock has a finite resolution (tick granularity) plus a read latency. PTP believes something about your clock; that belief is an input to U, not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for profiling: GPU, NIC and CPU may live in different timestamp domains even when 'synced'.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3 is the network: every hop — transparent/boundary clocks and queues — adds delay. PTP measures and compensates the mean path delay, so it is not in the bound; only the residual up/down asymmetry is, it grows with hop count, and we do not get a clean measurement of it. Layer 5 is the kernel path: the ingredients exist (PTP_SYS_OFFSET, SO_TIMESTAMPING, ptp4l mgmt), but the single 'current uncertainty' API does not. Foreshadow the kernel-gaps section.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tools show offset but never show the interval growing since the last correction. This is the term the daemon makes explicit.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PTP does NOT answer 'what is my application-level timestamp error bar?'. We build that on top.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makes 'staleness' concrete: anchor at ingress, extrapolate at read time using a worst-case drift bound.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residual terms after the offset correction is applied: drift (staleness), clock resolution (tick granularity), and capture-point error (HW vs SW stamp). Mean path delay is measured and compensated by PTP inside the offset, so it is not added; the offset itself is a correction, not an uncertainty. Residual path asymmetry is real but unmodeled here — a known conservative gap. A practical model, not a full Allan-deviation analysis.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'Synchronized' is necessary but not sufficient. The last row is the interesting failure mode the daemon handles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theory to something the audience can actually run.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 features: poll interval derived from logSyncInterval (&gt;=2x sync rate); optional PHC index autodetection.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snapshot age vs drift — a common confusion and a good teaching moment.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abstract's phrase 'evaluate temporal correctness explicitly' turned into three lines of code.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interval model is not academic. Meta's fbclock ships 'Window of Uncertainty' [earliest, latest] to a fleet of PTP clients using the same daemon+shmem+library shape this talk arrives at independently. Two honest differences: (1) Meta computes a statistical sigma-based window (M = clockaccuracy + |offset| + stddev(offset); W = mean(M) + k*stddev(M), k-&gt;4), we default to a conservative worst-case bound; (2) Meta estimates holdover drift empirically from PHC frequency-adjustment history (1.5 * mean(|freqchange|)) plus temperature and vibration telemetry, we use a configured max_drift_ppb. Same skeleton, different knobs. Source: 'How Precision Time Protocol is being deployed at Meta', Meta Engineering, 2022; github.com/facebook/time/fbclock.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capture from watch_uncertainty against a live ptp4l at 1 Hz sync, 10 ppm drift bound. Mean path delay is compensated by PTP, so the bound is |offset| + drift; the dashed line is the tiny |offset| floor (tens of ns) and the sawtooth is staleness accumulating between sync messages and resetting at each ingress. This is slide 17's claim, measured.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run has the same tiny |offset| floor (tens of ns) because path delay is compensated by PTP. Only max_drift_ppb changes: 100 ppb (OCXO), 1 ppm (TCXO), 10 ppm, 100 ppm. Log scale. The envelope is set by staleness, not by PTP.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Peak-moment budget per class, as |offset| + drift. For the OCXO, offset and drift are comparable (~0.3 us total); for the basic XO, drift is essentially 100%. Same protocol, same network, the peak bound runs from ~0.3 us to ~120 us from the crystal alone. This is why oscillator stability must be part of the model and why the kernel not exposing it (next section) is the real gap.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 bridge to the prior fast-PHC-access talk (Hermóðr). Both halves share a daemon + shared-memory + client-library shape and compose into one primitive: a timestamp you can read cheaply — tens of nanoseconds instead of microseconds — and trust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Fast reads (prior talk) and the uncertainty bound (this talk) are two halves of one time primitive: read the clock cheaply, and know how wrong it might be. Example: two events 300 ns apart, each U ~ 500 ns — the fast read alone says 'A before B'; with U the order is honestly ambiguous.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Correction to the usual framing: the ptp4l management socket is not a kernel API — it lives in userspace. The kernel exposes raw ingredients (SO_TIMESTAMPING, PTP_SYS_OFFSET, /dev/ptpN) but no disciplined PTP sync state, so today the only way to get the offset, the sync ingress anchor, the drift bound and the grandmaster identity is to talk to ptp4l out-of-band. The piece I want to add is exactly that state, exposed by the kernel and built on the ptp-uncertainty IPC segment: master_offset_ns, ingress_time_ns, max_drift_ppb, gm_id and steps_removed — with port state optional since it is derivable from the rest. Those few fields are what let any app compute a live bound without linking a PTP stack. (The harder physical unknowns — oscillator stability, calibration age — still need operator config.)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bridge sentence: better profiles need better time — and better time needs error bars.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Offer to collaborate with profiling-tool authors. Have the demo plot ready as a backup.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D29"/>
        </a:solidFill>
        <a:effectLst/>
      </p:bgPr>
    </p:bg>
    <p:spTree>
      <p:nvGrpSpPr>
        <p:cNvPr id="1" name=""/>
        <p:cNvGrpSpPr/>
        <p:nvPr/>
      </p:nvGrpSpPr>
      <p:grpSpPr/>
      <p:sp>
        <p:nvSpPr>
          <p:cNvPr id="2" name="Rectangle 1"/>
          <p:cNvSpPr/>
          <p:nvPr/>
        </p:nvSpPr>
        <p:spPr>
          <a:xfrm>
            <a:off x="0" y="3246120"/>
            <a:ext cx="12191695" cy="82296"/>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328416"/>
            <a:ext cx="3840480" cy="8229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234440"/>
            <a:ext cx="10881360" cy="1920240"/>
          </a:xfrm>
          <a:prstGeom prst="rect">
            <a:avLst/>
          </a:prstGeom>
          <a:noFill/>
        </p:spPr>
        <p:txBody>
          <a:bodyPr wrap="square" anchor="t" lIns="0" rIns="0" tIns="0" bIns="0">
            <a:spAutoFit/>
          </a:bodyPr>
          <a:lstStyle/>
          <a:p>
            <a:pPr algn="l">
              <a:spcBef>
                <a:spcPts val="0"/>
              </a:spcBef>
              <a:spcAft>
                <a:spcPts val="600"/>
              </a:spcAft>
            </a:pPr>
            <a:r>
              <a:rPr sz="3800" b="1" i="0">
                <a:solidFill>
                  <a:srgbClr val="FFFFFF"/>
                </a:solidFill>
                <a:latin typeface="Calibri"/>
              </a:rPr>
              <a:t>Making Time Uncertainty a First-Class Concept in Linux Timing</a:t>
            </a:r>
          </a:p>
        </p:txBody>
      </p:sp>
      <p:sp>
        <p:nvSpPr>
          <p:cNvPr id="5" name="TextBox 4"/>
          <p:cNvSpPr txBox="1"/>
          <p:nvPr/>
        </p:nvSpPr>
        <p:spPr>
          <a:xfrm>
            <a:off x="841248" y="3520440"/>
            <a:ext cx="10515600" cy="731520"/>
          </a:xfrm>
          <a:prstGeom prst="rect">
            <a:avLst/>
          </a:prstGeom>
          <a:noFill/>
        </p:spPr>
        <p:txBody>
          <a:bodyPr wrap="square" anchor="t" lIns="0" rIns="0" tIns="0" bIns="0">
            <a:spAutoFit/>
          </a:bodyPr>
          <a:lstStyle/>
          <a:p>
            <a:pPr algn="l">
              <a:spcBef>
                <a:spcPts val="0"/>
              </a:spcBef>
              <a:spcAft>
                <a:spcPts val="600"/>
              </a:spcAft>
            </a:pPr>
            <a:r>
              <a:rPr sz="2200" b="0" i="0">
                <a:solidFill>
                  <a:srgbClr val="C7D2F0"/>
                </a:solidFill>
                <a:latin typeface="Calibri"/>
              </a:rPr>
              <a:t>Trustworthy timestamps for distributed and AI systems</a:t>
            </a:r>
          </a:p>
        </p:txBody>
      </p:sp>
      <p:sp>
        <p:nvSpPr>
          <p:cNvPr id="6" name="TextBox 5"/>
          <p:cNvSpPr txBox="1"/>
          <p:nvPr/>
        </p:nvSpPr>
        <p:spPr>
          <a:xfrm>
            <a:off x="841248" y="5394960"/>
            <a:ext cx="10515600" cy="914400"/>
          </a:xfrm>
          <a:prstGeom prst="rect">
            <a:avLst/>
          </a:prstGeom>
          <a:noFill/>
        </p:spPr>
        <p:txBody>
          <a:bodyPr wrap="square" anchor="t" lIns="0" rIns="0" tIns="0" bIns="0">
            <a:spAutoFit/>
          </a:bodyPr>
          <a:lstStyle/>
          <a:p>
            <a:pPr algn="l">
              <a:spcBef>
                <a:spcPts val="0"/>
              </a:spcBef>
              <a:spcAft>
                <a:spcPts val="600"/>
              </a:spcAft>
            </a:pPr>
            <a:r>
              <a:rPr sz="1600" b="0" i="0">
                <a:solidFill>
                  <a:srgbClr val="9AA6C4"/>
                </a:solidFill>
                <a:latin typeface="Calibri"/>
              </a:rPr>
              <a:t>Time uncertainty as a first-class property  ·  built on Linux + PTP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OPENING</a:t>
            </a:r>
          </a:p>
        </p:txBody>
      </p:sp>
      <p:sp>
        <p:nvSpPr>
          <p:cNvPr id="4" name="TextBox 3"/>
          <p:cNvSpPr txBox="1"/>
          <p:nvPr/>
        </p:nvSpPr>
        <p:spPr>
          <a:xfrm>
            <a:off x="502920" y="566928"/>
            <a:ext cx="11155680" cy="82296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We make this decision constantly</a:t>
            </a:r>
          </a:p>
        </p:txBody>
      </p:sp>
      <p:sp>
        <p:nvSpPr>
          <p:cNvPr id="5" name="TextBox 4"/>
          <p:cNvSpPr txBox="1"/>
          <p:nvPr/>
        </p:nvSpPr>
        <p:spPr>
          <a:xfrm>
            <a:off x="640080" y="1554480"/>
            <a:ext cx="10972800" cy="4754880"/>
          </a:xfrm>
          <a:prstGeom prst="rect">
            <a:avLst/>
          </a:prstGeom>
          <a:noFill/>
        </p:spPr>
        <p:txBody>
          <a:bodyPr wrap="square" anchor="t" lIns="0" rIns="0" tIns="0" bIns="0">
            <a:spAutoFit/>
          </a:bodyPr>
          <a:lstStyle/>
          <a:p>
            <a:pPr algn="l">
              <a:spcBef>
                <a:spcPts val="0"/>
              </a:spcBef>
              <a:spcAft>
                <a:spcPts val="1000"/>
              </a:spcAft>
            </a:pPr>
            <a:r>
              <a:rPr sz="1800" b="1" i="0">
                <a:solidFill>
                  <a:srgbClr val="2E6BE6"/>
                </a:solidFill>
                <a:latin typeface="Calibri"/>
              </a:rPr>
              <a:t>▸  </a:t>
            </a:r>
            <a:r>
              <a:rPr sz="1800" b="0" i="0">
                <a:solidFill>
                  <a:srgbClr val="1A1D29"/>
                </a:solidFill>
                <a:latin typeface="Calibri"/>
              </a:rPr>
              <a:t>event A at T₁   →   event B at T₂   →   “A happened before B”</a:t>
            </a:r>
          </a:p>
          <a:p>
            <a:pPr algn="l">
              <a:spcBef>
                <a:spcPts val="0"/>
              </a:spcBef>
              <a:spcAft>
                <a:spcPts val="1000"/>
              </a:spcAft>
            </a:pPr>
            <a:r>
              <a:rPr sz="1600" b="0" i="0">
                <a:solidFill>
                  <a:srgbClr val="5B6172"/>
                </a:solidFill>
                <a:latin typeface="Calibri"/>
              </a:rPr>
              <a:t>        –  </a:t>
            </a:r>
            <a:r>
              <a:rPr sz="1600" b="0" i="0">
                <a:solidFill>
                  <a:srgbClr val="5B6172"/>
                </a:solidFill>
                <a:latin typeface="Calibri"/>
              </a:rPr>
              <a:t>Ordering. Causality. “Which write won?” “What caused the stall?”</a:t>
            </a:r>
          </a:p>
          <a:p>
            <a:pPr algn="l">
              <a:spcBef>
                <a:spcPts val="0"/>
              </a:spcBef>
              <a:spcAft>
                <a:spcPts val="1000"/>
              </a:spcAft>
            </a:pPr>
            <a:r>
              <a:rPr sz="1800" b="1" i="0">
                <a:solidFill>
                  <a:srgbClr val="2E6BE6"/>
                </a:solidFill>
                <a:latin typeface="Calibri"/>
              </a:rPr>
              <a:t>▸  </a:t>
            </a:r>
            <a:r>
              <a:rPr sz="1800" b="0" i="0">
                <a:solidFill>
                  <a:srgbClr val="1A1D29"/>
                </a:solidFill>
                <a:latin typeface="Calibri"/>
              </a:rPr>
              <a:t>The hidden assumption: both timestamps are exact points.</a:t>
            </a:r>
          </a:p>
          <a:p>
            <a:pPr algn="l">
              <a:spcBef>
                <a:spcPts val="0"/>
              </a:spcBef>
              <a:spcAft>
                <a:spcPts val="1000"/>
              </a:spcAft>
            </a:pPr>
            <a:r>
              <a:rPr sz="1600" b="0" i="0">
                <a:solidFill>
                  <a:srgbClr val="5B6172"/>
                </a:solidFill>
                <a:latin typeface="Calibri"/>
              </a:rPr>
              <a:t>        –  </a:t>
            </a:r>
            <a:r>
              <a:rPr sz="1600" b="0" i="0">
                <a:solidFill>
                  <a:srgbClr val="5B6172"/>
                </a:solidFill>
                <a:latin typeface="Calibri"/>
              </a:rPr>
              <a:t>Clocks disagree. Timestamps are captured at different layers.</a:t>
            </a:r>
          </a:p>
          <a:p>
            <a:pPr algn="l">
              <a:spcBef>
                <a:spcPts val="0"/>
              </a:spcBef>
              <a:spcAft>
                <a:spcPts val="1000"/>
              </a:spcAft>
            </a:pPr>
            <a:r>
              <a:rPr sz="1600" b="0" i="0">
                <a:solidFill>
                  <a:srgbClr val="5B6172"/>
                </a:solidFill>
                <a:latin typeface="Calibri"/>
              </a:rPr>
              <a:t>        –  </a:t>
            </a:r>
            <a:r>
              <a:rPr sz="1600" b="0" i="0">
                <a:solidFill>
                  <a:srgbClr val="5B6172"/>
                </a:solidFill>
                <a:latin typeface="Calibri"/>
              </a:rPr>
              <a:t>Synchronization data goes stale between updates.</a:t>
            </a:r>
          </a:p>
        </p:txBody>
      </p:sp>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ROADMAP</a:t>
            </a:r>
          </a:p>
        </p:txBody>
      </p:sp>
      <p:sp>
        <p:nvSpPr>
          <p:cNvPr id="4" name="TextBox 3"/>
          <p:cNvSpPr txBox="1"/>
          <p:nvPr/>
        </p:nvSpPr>
        <p:spPr>
          <a:xfrm>
            <a:off x="502920" y="566928"/>
            <a:ext cx="11155680" cy="82296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Two talks, one story</a:t>
            </a:r>
          </a:p>
        </p:txBody>
      </p:sp>
      <p:sp>
        <p:nvSpPr>
          <p:cNvPr id="5" name="Rectangle 4"/>
          <p:cNvSpPr/>
          <p:nvPr/>
        </p:nvSpPr>
        <p:spPr>
          <a:xfrm>
            <a:off x="640080" y="1691640"/>
            <a:ext cx="5349240" cy="4297680"/>
          </a:xfrm>
          <a:prstGeom prst="rect">
            <a:avLst/>
          </a:prstGeom>
          <a:solidFill>
            <a:srgbClr val="ED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56232"/>
            <a:ext cx="4892040" cy="457200"/>
          </a:xfrm>
          <a:prstGeom prst="rect">
            <a:avLst/>
          </a:prstGeom>
          <a:noFill/>
        </p:spPr>
        <p:txBody>
          <a:bodyPr wrap="square" anchor="t" lIns="0" rIns="0" tIns="0" bIns="0">
            <a:spAutoFit/>
          </a:bodyPr>
          <a:lstStyle/>
          <a:p>
            <a:pPr algn="l">
              <a:spcBef>
                <a:spcPts val="0"/>
              </a:spcBef>
              <a:spcAft>
                <a:spcPts val="600"/>
              </a:spcAft>
            </a:pPr>
            <a:r>
              <a:rPr sz="1800" b="1" i="0">
                <a:solidFill>
                  <a:srgbClr val="2E6BE6"/>
                </a:solidFill>
                <a:latin typeface="Calibri"/>
              </a:rPr>
              <a:t>This talk</a:t>
            </a:r>
          </a:p>
        </p:txBody>
      </p:sp>
      <p:sp>
        <p:nvSpPr>
          <p:cNvPr id="7" name="TextBox 6"/>
          <p:cNvSpPr txBox="1"/>
          <p:nvPr/>
        </p:nvSpPr>
        <p:spPr>
          <a:xfrm>
            <a:off x="868680" y="2468880"/>
            <a:ext cx="4892040" cy="3291840"/>
          </a:xfrm>
          <a:prstGeom prst="rect">
            <a:avLst/>
          </a:prstGeom>
          <a:noFill/>
        </p:spPr>
        <p:txBody>
          <a:bodyPr wrap="square" anchor="t" lIns="0" rIns="0" tIns="0" bIns="0">
            <a:spAutoFit/>
          </a:bodyPr>
          <a:lstStyle/>
          <a:p>
            <a:pPr algn="l">
              <a:spcBef>
                <a:spcPts val="0"/>
              </a:spcBef>
              <a:spcAft>
                <a:spcPts val="900"/>
              </a:spcAft>
            </a:pPr>
            <a:r>
              <a:rPr sz="1500" b="1" i="0">
                <a:solidFill>
                  <a:srgbClr val="2E6BE6"/>
                </a:solidFill>
                <a:latin typeface="Calibri"/>
              </a:rPr>
              <a:t>•  </a:t>
            </a:r>
            <a:r>
              <a:rPr sz="1500" b="0" i="0">
                <a:solidFill>
                  <a:srgbClr val="1A1D29"/>
                </a:solidFill>
                <a:latin typeface="Calibri"/>
              </a:rPr>
              <a:t>What is the error bar on a timestamp?</a:t>
            </a:r>
          </a:p>
          <a:p>
            <a:pPr algn="l">
              <a:spcBef>
                <a:spcPts val="0"/>
              </a:spcBef>
              <a:spcAft>
                <a:spcPts val="900"/>
              </a:spcAft>
            </a:pPr>
            <a:r>
              <a:rPr sz="1500" b="1" i="0">
                <a:solidFill>
                  <a:srgbClr val="2E6BE6"/>
                </a:solidFill>
                <a:latin typeface="Calibri"/>
              </a:rPr>
              <a:t>•  </a:t>
            </a:r>
            <a:r>
              <a:rPr sz="1500" b="0" i="0">
                <a:solidFill>
                  <a:srgbClr val="1A1D29"/>
                </a:solidFill>
                <a:latin typeface="Calibri"/>
              </a:rPr>
              <a:t>Timestamps as intervals</a:t>
            </a:r>
          </a:p>
          <a:p>
            <a:pPr algn="l">
              <a:spcBef>
                <a:spcPts val="0"/>
              </a:spcBef>
              <a:spcAft>
                <a:spcPts val="900"/>
              </a:spcAft>
            </a:pPr>
            <a:r>
              <a:rPr sz="1500" b="1" i="0">
                <a:solidFill>
                  <a:srgbClr val="2E6BE6"/>
                </a:solidFill>
                <a:latin typeface="Calibri"/>
              </a:rPr>
              <a:t>•  </a:t>
            </a:r>
            <a:r>
              <a:rPr sz="1500" b="0" i="0">
                <a:solidFill>
                  <a:srgbClr val="1A1D29"/>
                </a:solidFill>
                <a:latin typeface="Calibri"/>
              </a:rPr>
              <a:t>Explicit correctness criteria</a:t>
            </a:r>
          </a:p>
          <a:p>
            <a:pPr algn="l">
              <a:spcBef>
                <a:spcPts val="0"/>
              </a:spcBef>
              <a:spcAft>
                <a:spcPts val="900"/>
              </a:spcAft>
            </a:pPr>
            <a:r>
              <a:rPr sz="1500" b="1" i="0">
                <a:solidFill>
                  <a:srgbClr val="2E6BE6"/>
                </a:solidFill>
                <a:latin typeface="Calibri"/>
              </a:rPr>
              <a:t>•  </a:t>
            </a:r>
            <a:r>
              <a:rPr sz="1500" b="0" i="0">
                <a:solidFill>
                  <a:srgbClr val="1A1D29"/>
                </a:solidFill>
                <a:latin typeface="Calibri"/>
              </a:rPr>
              <a:t>“Can I trust this time?”</a:t>
            </a:r>
          </a:p>
        </p:txBody>
      </p:sp>
      <p:sp>
        <p:nvSpPr>
          <p:cNvPr id="8" name="Rectangle 7"/>
          <p:cNvSpPr/>
          <p:nvPr/>
        </p:nvSpPr>
        <p:spPr>
          <a:xfrm>
            <a:off x="6355080" y="1691640"/>
            <a:ext cx="5349240" cy="4297680"/>
          </a:xfrm>
          <a:prstGeom prst="rect">
            <a:avLst/>
          </a:prstGeom>
          <a:solidFill>
            <a:srgbClr val="EA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856232"/>
            <a:ext cx="4892040" cy="457200"/>
          </a:xfrm>
          <a:prstGeom prst="rect">
            <a:avLst/>
          </a:prstGeom>
          <a:noFill/>
        </p:spPr>
        <p:txBody>
          <a:bodyPr wrap="square" anchor="t" lIns="0" rIns="0" tIns="0" bIns="0">
            <a:spAutoFit/>
          </a:bodyPr>
          <a:lstStyle/>
          <a:p>
            <a:pPr algn="l">
              <a:spcBef>
                <a:spcPts val="0"/>
              </a:spcBef>
              <a:spcAft>
                <a:spcPts val="600"/>
              </a:spcAft>
            </a:pPr>
            <a:r>
              <a:rPr sz="1800" b="1" i="0">
                <a:solidFill>
                  <a:srgbClr val="14B8A6"/>
                </a:solidFill>
                <a:latin typeface="Calibri"/>
              </a:rPr>
              <a:t>Prior talk — fast PHC access</a:t>
            </a:r>
          </a:p>
        </p:txBody>
      </p:sp>
      <p:sp>
        <p:nvSpPr>
          <p:cNvPr id="10" name="TextBox 9"/>
          <p:cNvSpPr txBox="1"/>
          <p:nvPr/>
        </p:nvSpPr>
        <p:spPr>
          <a:xfrm>
            <a:off x="6583680" y="2468880"/>
            <a:ext cx="4892040" cy="3291840"/>
          </a:xfrm>
          <a:prstGeom prst="rect">
            <a:avLst/>
          </a:prstGeom>
          <a:noFill/>
        </p:spPr>
        <p:txBody>
          <a:bodyPr wrap="square" anchor="t" lIns="0" rIns="0" tIns="0" bIns="0">
            <a:spAutoFit/>
          </a:bodyPr>
          <a:lstStyle/>
          <a:p>
            <a:pPr algn="l">
              <a:spcBef>
                <a:spcPts val="0"/>
              </a:spcBef>
              <a:spcAft>
                <a:spcPts val="900"/>
              </a:spcAft>
            </a:pPr>
            <a:r>
              <a:rPr sz="1500" b="1" i="0">
                <a:solidFill>
                  <a:srgbClr val="14B8A6"/>
                </a:solidFill>
                <a:latin typeface="Calibri"/>
              </a:rPr>
              <a:t>•  </a:t>
            </a:r>
            <a:r>
              <a:rPr sz="1500" b="0" i="0">
                <a:solidFill>
                  <a:srgbClr val="1A1D29"/>
                </a:solidFill>
                <a:latin typeface="Calibri"/>
              </a:rPr>
              <a:t>How do we read the clock cheaply?</a:t>
            </a:r>
          </a:p>
          <a:p>
            <a:pPr algn="l">
              <a:spcBef>
                <a:spcPts val="0"/>
              </a:spcBef>
              <a:spcAft>
                <a:spcPts val="900"/>
              </a:spcAft>
            </a:pPr>
            <a:r>
              <a:rPr sz="1500" b="1" i="0">
                <a:solidFill>
                  <a:srgbClr val="14B8A6"/>
                </a:solidFill>
                <a:latin typeface="Calibri"/>
              </a:rPr>
              <a:t>•  </a:t>
            </a:r>
            <a:r>
              <a:rPr sz="1500" b="0" i="0">
                <a:solidFill>
                  <a:srgbClr val="1A1D29"/>
                </a:solidFill>
                <a:latin typeface="Calibri"/>
              </a:rPr>
              <a:t>PHC reads without syscall / PCIe overhead</a:t>
            </a:r>
          </a:p>
          <a:p>
            <a:pPr algn="l">
              <a:spcBef>
                <a:spcPts val="0"/>
              </a:spcBef>
              <a:spcAft>
                <a:spcPts val="900"/>
              </a:spcAft>
            </a:pPr>
            <a:r>
              <a:rPr sz="1500" b="1" i="0">
                <a:solidFill>
                  <a:srgbClr val="14B8A6"/>
                </a:solidFill>
                <a:latin typeface="Calibri"/>
              </a:rPr>
              <a:t>•  </a:t>
            </a:r>
            <a:r>
              <a:rPr sz="1500" b="0" i="0">
                <a:solidFill>
                  <a:srgbClr val="1A1D29"/>
                </a:solidFill>
                <a:latin typeface="Calibri"/>
              </a:rPr>
              <a:t>Userspace PHC approximation (Hermóðr)</a:t>
            </a:r>
          </a:p>
          <a:p>
            <a:pPr algn="l">
              <a:spcBef>
                <a:spcPts val="0"/>
              </a:spcBef>
              <a:spcAft>
                <a:spcPts val="900"/>
              </a:spcAft>
            </a:pPr>
            <a:r>
              <a:rPr sz="1500" b="1" i="0">
                <a:solidFill>
                  <a:srgbClr val="14B8A6"/>
                </a:solidFill>
                <a:latin typeface="Calibri"/>
              </a:rPr>
              <a:t>•  </a:t>
            </a:r>
            <a:r>
              <a:rPr sz="1500" b="0" i="0">
                <a:solidFill>
                  <a:srgbClr val="1A1D29"/>
                </a:solidFill>
                <a:latin typeface="Calibri"/>
              </a:rPr>
              <a:t>~5 µs syscall+PCIe read → ~60 ns</a:t>
            </a:r>
          </a:p>
        </p:txBody>
      </p:sp>
      <p:sp>
        <p:nvSpPr>
          <p:cNvPr id="11" name="Rectangle 10"/>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13" name="TextBox 12"/>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E6BE6"/>
        </a:solidFill>
        <a:effectLst/>
      </p:bgPr>
    </p:bg>
    <p:spTree>
      <p:nvGrpSpPr>
        <p:cNvPr id="1" name=""/>
        <p:cNvGrpSpPr/>
        <p:nvPr/>
      </p:nvGrpSpPr>
      <p:grpSpPr/>
      <p:sp>
        <p:nvSpPr>
          <p:cNvPr id="2" name="Rectangle 1"/>
          <p:cNvSpPr/>
          <p:nvPr/>
        </p:nvSpPr>
        <p:spPr>
          <a:xfrm>
            <a:off x="0" y="2468880"/>
            <a:ext cx="3200400" cy="914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058400" cy="548640"/>
          </a:xfrm>
          <a:prstGeom prst="rect">
            <a:avLst/>
          </a:prstGeom>
          <a:noFill/>
        </p:spPr>
        <p:txBody>
          <a:bodyPr wrap="square" anchor="t" lIns="0" rIns="0" tIns="0" bIns="0">
            <a:spAutoFit/>
          </a:bodyPr>
          <a:lstStyle/>
          <a:p>
            <a:pPr algn="l">
              <a:spcBef>
                <a:spcPts val="0"/>
              </a:spcBef>
              <a:spcAft>
                <a:spcPts val="600"/>
              </a:spcAft>
            </a:pPr>
            <a:r>
              <a:rPr sz="2000" b="1" i="0">
                <a:solidFill>
                  <a:srgbClr val="C7D2F0"/>
                </a:solidFill>
                <a:latin typeface="Calibri"/>
              </a:rPr>
              <a:t>PART 1</a:t>
            </a:r>
          </a:p>
        </p:txBody>
      </p:sp>
      <p:sp>
        <p:nvSpPr>
          <p:cNvPr id="4" name="TextBox 3"/>
          <p:cNvSpPr txBox="1"/>
          <p:nvPr/>
        </p:nvSpPr>
        <p:spPr>
          <a:xfrm>
            <a:off x="804672" y="2697480"/>
            <a:ext cx="10515600" cy="1828800"/>
          </a:xfrm>
          <a:prstGeom prst="rect">
            <a:avLst/>
          </a:prstGeom>
          <a:noFill/>
        </p:spPr>
        <p:txBody>
          <a:bodyPr wrap="square" anchor="t" lIns="0" rIns="0" tIns="0" bIns="0">
            <a:spAutoFit/>
          </a:bodyPr>
          <a:lstStyle/>
          <a:p>
            <a:pPr algn="l">
              <a:spcBef>
                <a:spcPts val="0"/>
              </a:spcBef>
              <a:spcAft>
                <a:spcPts val="600"/>
              </a:spcAft>
            </a:pPr>
            <a:r>
              <a:rPr sz="4000" b="1" i="0">
                <a:solidFill>
                  <a:srgbClr val="FFFFFF"/>
                </a:solidFill>
                <a:latin typeface="Calibri"/>
              </a:rPr>
              <a:t>Precise is not the same as correct</a:t>
            </a:r>
          </a:p>
        </p:txBody>
      </p:sp>
      <p:sp>
        <p:nvSpPr>
          <p:cNvPr id="5" name="TextBox 4"/>
          <p:cNvSpPr txBox="1"/>
          <p:nvPr/>
        </p:nvSpPr>
        <p:spPr>
          <a:xfrm>
            <a:off x="11002975" y="6263640"/>
            <a:ext cx="822960" cy="365760"/>
          </a:xfrm>
          <a:prstGeom prst="rect">
            <a:avLst/>
          </a:prstGeom>
          <a:noFill/>
        </p:spPr>
        <p:txBody>
          <a:bodyPr wrap="square" anchor="t" lIns="0" rIns="0" tIns="0" bIns="0">
            <a:spAutoFit/>
          </a:bodyPr>
          <a:lstStyle/>
          <a:p>
            <a:pPr algn="r">
              <a:spcBef>
                <a:spcPts val="0"/>
              </a:spcBef>
              <a:spcAft>
                <a:spcPts val="600"/>
              </a:spcAft>
            </a:pPr>
            <a:r>
              <a:rPr sz="1200" b="1" i="0">
                <a:solidFill>
                  <a:srgbClr val="FFFFFF"/>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THE PROBLEM</a:t>
            </a:r>
          </a:p>
        </p:txBody>
      </p:sp>
      <p:sp>
        <p:nvSpPr>
          <p:cNvPr id="4" name="TextBox 3"/>
          <p:cNvSpPr txBox="1"/>
          <p:nvPr/>
        </p:nvSpPr>
        <p:spPr>
          <a:xfrm>
            <a:off x="502920" y="566928"/>
            <a:ext cx="11155680" cy="82296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We spent two decades chasing precision</a:t>
            </a:r>
          </a:p>
        </p:txBody>
      </p:sp>
      <p:sp>
        <p:nvSpPr>
          <p:cNvPr id="5" name="TextBox 4"/>
          <p:cNvSpPr txBox="1"/>
          <p:nvPr/>
        </p:nvSpPr>
        <p:spPr>
          <a:xfrm>
            <a:off x="640080" y="1554480"/>
            <a:ext cx="10972800" cy="4754880"/>
          </a:xfrm>
          <a:prstGeom prst="rect">
            <a:avLst/>
          </a:prstGeom>
          <a:noFill/>
        </p:spPr>
        <p:txBody>
          <a:bodyPr wrap="square" anchor="t" lIns="0" rIns="0" tIns="0" bIns="0">
            <a:spAutoFit/>
          </a:bodyPr>
          <a:lstStyle/>
          <a:p>
            <a:pPr algn="l">
              <a:spcBef>
                <a:spcPts val="0"/>
              </a:spcBef>
              <a:spcAft>
                <a:spcPts val="1000"/>
              </a:spcAft>
            </a:pPr>
            <a:r>
              <a:rPr sz="1800" b="1" i="0">
                <a:solidFill>
                  <a:srgbClr val="2E6BE6"/>
                </a:solidFill>
                <a:latin typeface="Calibri"/>
              </a:rPr>
              <a:t>▸  </a:t>
            </a:r>
            <a:r>
              <a:rPr sz="1800" b="0" i="0">
                <a:solidFill>
                  <a:srgbClr val="1A1D29"/>
                </a:solidFill>
                <a:latin typeface="Calibri"/>
              </a:rPr>
              <a:t>Sub-microsecond PTP is now common on data-center and AI fabrics</a:t>
            </a:r>
          </a:p>
          <a:p>
            <a:pPr algn="l">
              <a:spcBef>
                <a:spcPts val="0"/>
              </a:spcBef>
              <a:spcAft>
                <a:spcPts val="1000"/>
              </a:spcAft>
            </a:pPr>
            <a:r>
              <a:rPr sz="1800" b="1" i="0">
                <a:solidFill>
                  <a:srgbClr val="2E6BE6"/>
                </a:solidFill>
                <a:latin typeface="Calibri"/>
              </a:rPr>
              <a:t>▸  </a:t>
            </a:r>
            <a:r>
              <a:rPr sz="1800" b="0" i="0">
                <a:solidFill>
                  <a:srgbClr val="1A1D29"/>
                </a:solidFill>
                <a:latin typeface="Calibri"/>
              </a:rPr>
              <a:t>Hardware timestamping in NICs, SmartNICs, DPUs</a:t>
            </a:r>
          </a:p>
          <a:p>
            <a:pPr algn="l">
              <a:spcBef>
                <a:spcPts val="0"/>
              </a:spcBef>
              <a:spcAft>
                <a:spcPts val="1000"/>
              </a:spcAft>
            </a:pPr>
            <a:r>
              <a:rPr sz="1800" b="1" i="0">
                <a:solidFill>
                  <a:srgbClr val="2E6BE6"/>
                </a:solidFill>
                <a:latin typeface="Calibri"/>
              </a:rPr>
              <a:t>▸  </a:t>
            </a:r>
            <a:r>
              <a:rPr sz="1800" b="0" i="0">
                <a:solidFill>
                  <a:srgbClr val="1A1D29"/>
                </a:solidFill>
                <a:latin typeface="Calibri"/>
              </a:rPr>
              <a:t>Multi-node GPU traces spanning thousands of ranks</a:t>
            </a:r>
          </a:p>
          <a:p>
            <a:pPr algn="l">
              <a:spcBef>
                <a:spcPts val="0"/>
              </a:spcBef>
              <a:spcAft>
                <a:spcPts val="1000"/>
              </a:spcAft>
            </a:pPr>
            <a:r>
              <a:rPr sz="1800" b="1" i="0">
                <a:solidFill>
                  <a:srgbClr val="2E6BE6"/>
                </a:solidFill>
                <a:latin typeface="Calibri"/>
              </a:rPr>
              <a:t>▸  </a:t>
            </a:r>
            <a:r>
              <a:rPr sz="1800" b="0" i="0">
                <a:solidFill>
                  <a:srgbClr val="1A1D29"/>
                </a:solidFill>
                <a:latin typeface="Calibri"/>
              </a:rPr>
              <a:t>The better our clocks got, the more we trusted them — implicitly</a:t>
            </a:r>
          </a:p>
          <a:p>
            <a:pPr algn="l">
              <a:spcBef>
                <a:spcPts val="0"/>
              </a:spcBef>
              <a:spcAft>
                <a:spcPts val="1000"/>
              </a:spcAft>
            </a:pPr>
            <a:r>
              <a:rPr sz="1600" b="0" i="0">
                <a:solidFill>
                  <a:srgbClr val="5B6172"/>
                </a:solidFill>
                <a:latin typeface="Calibri"/>
              </a:rPr>
              <a:t>        –  </a:t>
            </a:r>
            <a:r>
              <a:rPr sz="1600" b="0" i="0">
                <a:solidFill>
                  <a:srgbClr val="5B6172"/>
                </a:solidFill>
                <a:latin typeface="Calibri"/>
              </a:rPr>
              <a:t>Precision raised confidence faster than it raised correctness</a:t>
            </a:r>
          </a:p>
        </p:txBody>
      </p:sp>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THE PROBLEM</a:t>
            </a:r>
          </a:p>
        </p:txBody>
      </p:sp>
      <p:sp>
        <p:nvSpPr>
          <p:cNvPr id="4" name="TextBox 3"/>
          <p:cNvSpPr txBox="1"/>
          <p:nvPr/>
        </p:nvSpPr>
        <p:spPr>
          <a:xfrm>
            <a:off x="502920" y="566928"/>
            <a:ext cx="11155680" cy="82296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Ways timestamps quietly mislead</a:t>
            </a:r>
          </a:p>
        </p:txBody>
      </p:sp>
      <p:graphicFrame>
        <p:nvGraphicFramePr>
          <p:cNvPr id="5" name="Table 4"/>
          <p:cNvGraphicFramePr>
            <a:graphicFrameLocks noGrp="1"/>
          </p:cNvGraphicFramePr>
          <p:nvPr/>
        </p:nvGraphicFramePr>
        <p:xfrm>
          <a:off x="640080" y="1645920"/>
          <a:ext cx="10881360" cy="4754880"/>
        </p:xfrm>
        <a:graphic>
          <a:graphicData uri="http://schemas.openxmlformats.org/drawingml/2006/table">
            <a:tbl>
              <a:tblPr firstRow="1" bandRow="1">
                <a:tableStyleId>{5C22544A-7EE6-4342-B048-85BDC9FD1C3A}</a:tableStyleId>
              </a:tblPr>
              <a:tblGrid>
                <a:gridCol w="3627120"/>
                <a:gridCol w="3627120"/>
                <a:gridCol w="3627120"/>
              </a:tblGrid>
              <a:tr h="396240">
                <a:tc>
                  <a:txBody>
                    <a:bodyPr/>
                    <a:lstStyle/>
                    <a:p>
                      <a:r>
                        <a:rPr b="1" sz="1500">
                          <a:solidFill>
                            <a:srgbClr val="FFFFFF"/>
                          </a:solidFill>
                          <a:latin typeface="Calibri"/>
                        </a:rPr>
                        <a:t>Domain</a:t>
                      </a:r>
                    </a:p>
                  </a:txBody>
                  <a:tcPr marL="109728" marT="45720" marB="45720">
                    <a:solidFill>
                      <a:srgbClr val="2E6BE6"/>
                    </a:solidFill>
                  </a:tcPr>
                </a:tc>
                <a:tc>
                  <a:txBody>
                    <a:bodyPr/>
                    <a:lstStyle/>
                    <a:p>
                      <a:r>
                        <a:rPr b="1" sz="1500">
                          <a:solidFill>
                            <a:srgbClr val="FFFFFF"/>
                          </a:solidFill>
                          <a:latin typeface="Calibri"/>
                        </a:rPr>
                        <a:t>Naive claim</a:t>
                      </a:r>
                    </a:p>
                  </a:txBody>
                  <a:tcPr marL="109728" marT="45720" marB="45720">
                    <a:solidFill>
                      <a:srgbClr val="2E6BE6"/>
                    </a:solidFill>
                  </a:tcPr>
                </a:tc>
                <a:tc>
                  <a:txBody>
                    <a:bodyPr/>
                    <a:lstStyle/>
                    <a:p>
                      <a:r>
                        <a:rPr b="1" sz="1500">
                          <a:solidFill>
                            <a:srgbClr val="FFFFFF"/>
                          </a:solidFill>
                          <a:latin typeface="Calibri"/>
                        </a:rPr>
                        <a:t>What can go wrong</a:t>
                      </a:r>
                    </a:p>
                  </a:txBody>
                  <a:tcPr marL="109728" marT="45720" marB="45720">
                    <a:solidFill>
                      <a:srgbClr val="2E6BE6"/>
                    </a:solidFill>
                  </a:tcPr>
                </a:tc>
              </a:tr>
              <a:tr h="396240">
                <a:tc>
                  <a:txBody>
                    <a:bodyPr/>
                    <a:lstStyle/>
                    <a:p>
                      <a:r>
                        <a:rPr sz="1200" b="1">
                          <a:solidFill>
                            <a:srgbClr val="1A1D29"/>
                          </a:solidFill>
                          <a:latin typeface="Calibri"/>
                        </a:rPr>
                        <a:t>Ordering</a:t>
                      </a:r>
                    </a:p>
                  </a:txBody>
                  <a:tcPr marL="109728" marT="36576" marB="36576">
                    <a:solidFill>
                      <a:srgbClr val="FFFFFF"/>
                    </a:solidFill>
                  </a:tcPr>
                </a:tc>
                <a:tc>
                  <a:txBody>
                    <a:bodyPr/>
                    <a:lstStyle/>
                    <a:p>
                      <a:r>
                        <a:rPr sz="1200" b="0">
                          <a:solidFill>
                            <a:srgbClr val="5B6172"/>
                          </a:solidFill>
                          <a:latin typeface="Calibri"/>
                        </a:rPr>
                        <a:t>A before B</a:t>
                      </a:r>
                    </a:p>
                  </a:txBody>
                  <a:tcPr marL="109728" marT="36576" marB="36576">
                    <a:solidFill>
                      <a:srgbClr val="FFFFFF"/>
                    </a:solidFill>
                  </a:tcPr>
                </a:tc>
                <a:tc>
                  <a:txBody>
                    <a:bodyPr/>
                    <a:lstStyle/>
                    <a:p>
                      <a:r>
                        <a:rPr sz="1200" b="0">
                          <a:solidFill>
                            <a:srgbClr val="5B6172"/>
                          </a:solidFill>
                          <a:latin typeface="Calibri"/>
                        </a:rPr>
                        <a:t>intervals overlap → order is unknown</a:t>
                      </a:r>
                    </a:p>
                  </a:txBody>
                  <a:tcPr marL="109728" marT="36576" marB="36576">
                    <a:solidFill>
                      <a:srgbClr val="FFFFFF"/>
                    </a:solidFill>
                  </a:tcPr>
                </a:tc>
              </a:tr>
              <a:tr h="396240">
                <a:tc>
                  <a:txBody>
                    <a:bodyPr/>
                    <a:lstStyle/>
                    <a:p>
                      <a:r>
                        <a:rPr sz="1200" b="1">
                          <a:solidFill>
                            <a:srgbClr val="1A1D29"/>
                          </a:solidFill>
                          <a:latin typeface="Calibri"/>
                        </a:rPr>
                        <a:t>Causality</a:t>
                      </a:r>
                    </a:p>
                  </a:txBody>
                  <a:tcPr marL="109728" marT="36576" marB="36576">
                    <a:solidFill>
                      <a:srgbClr val="EDF1FB"/>
                    </a:solidFill>
                  </a:tcPr>
                </a:tc>
                <a:tc>
                  <a:txBody>
                    <a:bodyPr/>
                    <a:lstStyle/>
                    <a:p>
                      <a:r>
                        <a:rPr sz="1200" b="0">
                          <a:solidFill>
                            <a:srgbClr val="5B6172"/>
                          </a:solidFill>
                          <a:latin typeface="Calibri"/>
                        </a:rPr>
                        <a:t>A caused B</a:t>
                      </a:r>
                    </a:p>
                  </a:txBody>
                  <a:tcPr marL="109728" marT="36576" marB="36576">
                    <a:solidFill>
                      <a:srgbClr val="EDF1FB"/>
                    </a:solidFill>
                  </a:tcPr>
                </a:tc>
                <a:tc>
                  <a:txBody>
                    <a:bodyPr/>
                    <a:lstStyle/>
                    <a:p>
                      <a:r>
                        <a:rPr sz="1200" b="0">
                          <a:solidFill>
                            <a:srgbClr val="5B6172"/>
                          </a:solidFill>
                          <a:latin typeface="Calibri"/>
                        </a:rPr>
                        <a:t>off-by-one across nodes → false cause</a:t>
                      </a:r>
                    </a:p>
                  </a:txBody>
                  <a:tcPr marL="109728" marT="36576" marB="36576">
                    <a:solidFill>
                      <a:srgbClr val="EDF1FB"/>
                    </a:solidFill>
                  </a:tcPr>
                </a:tc>
              </a:tr>
              <a:tr h="396240">
                <a:tc>
                  <a:txBody>
                    <a:bodyPr/>
                    <a:lstStyle/>
                    <a:p>
                      <a:r>
                        <a:rPr sz="1200" b="1">
                          <a:solidFill>
                            <a:srgbClr val="1A1D29"/>
                          </a:solidFill>
                          <a:latin typeface="Calibri"/>
                        </a:rPr>
                        <a:t>Compliance</a:t>
                      </a:r>
                    </a:p>
                  </a:txBody>
                  <a:tcPr marL="109728" marT="36576" marB="36576">
                    <a:solidFill>
                      <a:srgbClr val="FFFFFF"/>
                    </a:solidFill>
                  </a:tcPr>
                </a:tc>
                <a:tc>
                  <a:txBody>
                    <a:bodyPr/>
                    <a:lstStyle/>
                    <a:p>
                      <a:r>
                        <a:rPr sz="1200" b="0">
                          <a:solidFill>
                            <a:srgbClr val="5B6172"/>
                          </a:solidFill>
                          <a:latin typeface="Calibri"/>
                        </a:rPr>
                        <a:t>log is ordered</a:t>
                      </a:r>
                    </a:p>
                  </a:txBody>
                  <a:tcPr marL="109728" marT="36576" marB="36576">
                    <a:solidFill>
                      <a:srgbClr val="FFFFFF"/>
                    </a:solidFill>
                  </a:tcPr>
                </a:tc>
                <a:tc>
                  <a:txBody>
                    <a:bodyPr/>
                    <a:lstStyle/>
                    <a:p>
                      <a:r>
                        <a:rPr sz="1200" b="0">
                          <a:solidFill>
                            <a:srgbClr val="5B6172"/>
                          </a:solidFill>
                          <a:latin typeface="Calibri"/>
                        </a:rPr>
                        <a:t>cannot prove ordering is defensible</a:t>
                      </a:r>
                    </a:p>
                  </a:txBody>
                  <a:tcPr marL="109728" marT="36576" marB="36576">
                    <a:solidFill>
                      <a:srgbClr val="FFFFFF"/>
                    </a:solidFill>
                  </a:tcPr>
                </a:tc>
              </a:tr>
              <a:tr h="396240">
                <a:tc>
                  <a:txBody>
                    <a:bodyPr/>
                    <a:lstStyle/>
                    <a:p>
                      <a:r>
                        <a:rPr sz="1200" b="1">
                          <a:solidFill>
                            <a:srgbClr val="1A1D29"/>
                          </a:solidFill>
                          <a:latin typeface="Calibri"/>
                        </a:rPr>
                        <a:t>Consistency</a:t>
                      </a:r>
                    </a:p>
                  </a:txBody>
                  <a:tcPr marL="109728" marT="36576" marB="36576">
                    <a:solidFill>
                      <a:srgbClr val="EDF1FB"/>
                    </a:solidFill>
                  </a:tcPr>
                </a:tc>
                <a:tc>
                  <a:txBody>
                    <a:bodyPr/>
                    <a:lstStyle/>
                    <a:p>
                      <a:r>
                        <a:rPr sz="1200" b="0">
                          <a:solidFill>
                            <a:srgbClr val="5B6172"/>
                          </a:solidFill>
                          <a:latin typeface="Calibri"/>
                        </a:rPr>
                        <a:t>commit A visible before B</a:t>
                      </a:r>
                    </a:p>
                  </a:txBody>
                  <a:tcPr marL="109728" marT="36576" marB="36576">
                    <a:solidFill>
                      <a:srgbClr val="EDF1FB"/>
                    </a:solidFill>
                  </a:tcPr>
                </a:tc>
                <a:tc>
                  <a:txBody>
                    <a:bodyPr/>
                    <a:lstStyle/>
                    <a:p>
                      <a:r>
                        <a:rPr sz="1200" b="0">
                          <a:solidFill>
                            <a:srgbClr val="5B6172"/>
                          </a:solidFill>
                          <a:latin typeface="Calibri"/>
                        </a:rPr>
                        <a:t>overlap breaks external consistency</a:t>
                      </a:r>
                    </a:p>
                  </a:txBody>
                  <a:tcPr marL="109728" marT="36576" marB="36576">
                    <a:solidFill>
                      <a:srgbClr val="EDF1FB"/>
                    </a:solidFill>
                  </a:tcPr>
                </a:tc>
              </a:tr>
              <a:tr h="396240">
                <a:tc>
                  <a:txBody>
                    <a:bodyPr/>
                    <a:lstStyle/>
                    <a:p>
                      <a:r>
                        <a:rPr sz="1200" b="1">
                          <a:solidFill>
                            <a:srgbClr val="1A1D29"/>
                          </a:solidFill>
                          <a:latin typeface="Calibri"/>
                        </a:rPr>
                        <a:t>Profiling</a:t>
                      </a:r>
                    </a:p>
                  </a:txBody>
                  <a:tcPr marL="109728" marT="36576" marB="36576">
                    <a:solidFill>
                      <a:srgbClr val="FFFFFF"/>
                    </a:solidFill>
                  </a:tcPr>
                </a:tc>
                <a:tc>
                  <a:txBody>
                    <a:bodyPr/>
                    <a:lstStyle/>
                    <a:p>
                      <a:r>
                        <a:rPr sz="1200" b="0">
                          <a:solidFill>
                            <a:srgbClr val="5B6172"/>
                          </a:solidFill>
                          <a:latin typeface="Calibri"/>
                        </a:rPr>
                        <a:t>span A nested in span B</a:t>
                      </a:r>
                    </a:p>
                  </a:txBody>
                  <a:tcPr marL="109728" marT="36576" marB="36576">
                    <a:solidFill>
                      <a:srgbClr val="FFFFFF"/>
                    </a:solidFill>
                  </a:tcPr>
                </a:tc>
                <a:tc>
                  <a:txBody>
                    <a:bodyPr/>
                    <a:lstStyle/>
                    <a:p>
                      <a:r>
                        <a:rPr sz="1200" b="0">
                          <a:solidFill>
                            <a:srgbClr val="5B6172"/>
                          </a:solidFill>
                          <a:latin typeface="Calibri"/>
                        </a:rPr>
                        <a:t>cross-node spans misorder</a:t>
                      </a:r>
                    </a:p>
                  </a:txBody>
                  <a:tcPr marL="109728" marT="36576" marB="36576">
                    <a:solidFill>
                      <a:srgbClr val="FFFFFF"/>
                    </a:solidFill>
                  </a:tcPr>
                </a:tc>
              </a:tr>
              <a:tr h="396240">
                <a:tc>
                  <a:txBody>
                    <a:bodyPr/>
                    <a:lstStyle/>
                    <a:p>
                      <a:r>
                        <a:rPr sz="1200" b="1">
                          <a:solidFill>
                            <a:srgbClr val="1A1D29"/>
                          </a:solidFill>
                          <a:latin typeface="Calibri"/>
                        </a:rPr>
                        <a:t>Leases / locks</a:t>
                      </a:r>
                    </a:p>
                  </a:txBody>
                  <a:tcPr marL="109728" marT="36576" marB="36576">
                    <a:solidFill>
                      <a:srgbClr val="EDF1FB"/>
                    </a:solidFill>
                  </a:tcPr>
                </a:tc>
                <a:tc>
                  <a:txBody>
                    <a:bodyPr/>
                    <a:lstStyle/>
                    <a:p>
                      <a:r>
                        <a:rPr sz="1200" b="0">
                          <a:solidFill>
                            <a:srgbClr val="5B6172"/>
                          </a:solidFill>
                          <a:latin typeface="Calibri"/>
                        </a:rPr>
                        <a:t>lease expired before regrant</a:t>
                      </a:r>
                    </a:p>
                  </a:txBody>
                  <a:tcPr marL="109728" marT="36576" marB="36576">
                    <a:solidFill>
                      <a:srgbClr val="EDF1FB"/>
                    </a:solidFill>
                  </a:tcPr>
                </a:tc>
                <a:tc>
                  <a:txBody>
                    <a:bodyPr/>
                    <a:lstStyle/>
                    <a:p>
                      <a:r>
                        <a:rPr sz="1200" b="0">
                          <a:solidFill>
                            <a:srgbClr val="5B6172"/>
                          </a:solidFill>
                          <a:latin typeface="Calibri"/>
                        </a:rPr>
                        <a:t>overlap → split brain / two leaders</a:t>
                      </a:r>
                    </a:p>
                  </a:txBody>
                  <a:tcPr marL="109728" marT="36576" marB="36576">
                    <a:solidFill>
                      <a:srgbClr val="EDF1FB"/>
                    </a:solidFill>
                  </a:tcPr>
                </a:tc>
              </a:tr>
              <a:tr h="396240">
                <a:tc>
                  <a:txBody>
                    <a:bodyPr/>
                    <a:lstStyle/>
                    <a:p>
                      <a:r>
                        <a:rPr sz="1200" b="1">
                          <a:solidFill>
                            <a:srgbClr val="1A1D29"/>
                          </a:solidFill>
                          <a:latin typeface="Calibri"/>
                        </a:rPr>
                        <a:t>Telemetry</a:t>
                      </a:r>
                    </a:p>
                  </a:txBody>
                  <a:tcPr marL="109728" marT="36576" marB="36576">
                    <a:solidFill>
                      <a:srgbClr val="FFFFFF"/>
                    </a:solidFill>
                  </a:tcPr>
                </a:tc>
                <a:tc>
                  <a:txBody>
                    <a:bodyPr/>
                    <a:lstStyle/>
                    <a:p>
                      <a:r>
                        <a:rPr sz="1200" b="0">
                          <a:solidFill>
                            <a:srgbClr val="5B6172"/>
                          </a:solidFill>
                          <a:latin typeface="Calibri"/>
                        </a:rPr>
                        <a:t>counters sampled together</a:t>
                      </a:r>
                    </a:p>
                  </a:txBody>
                  <a:tcPr marL="109728" marT="36576" marB="36576">
                    <a:solidFill>
                      <a:srgbClr val="FFFFFF"/>
                    </a:solidFill>
                  </a:tcPr>
                </a:tc>
                <a:tc>
                  <a:txBody>
                    <a:bodyPr/>
                    <a:lstStyle/>
                    <a:p>
                      <a:r>
                        <a:rPr sz="1200" b="0">
                          <a:solidFill>
                            <a:srgbClr val="5B6172"/>
                          </a:solidFill>
                          <a:latin typeface="Calibri"/>
                        </a:rPr>
                        <a:t>inter-node skew → phantom correlations</a:t>
                      </a:r>
                    </a:p>
                  </a:txBody>
                  <a:tcPr marL="109728" marT="36576" marB="36576">
                    <a:solidFill>
                      <a:srgbClr val="FFFFFF"/>
                    </a:solidFill>
                  </a:tcPr>
                </a:tc>
              </a:tr>
              <a:tr h="396240">
                <a:tc>
                  <a:txBody>
                    <a:bodyPr/>
                    <a:lstStyle/>
                    <a:p>
                      <a:r>
                        <a:rPr sz="1200" b="1">
                          <a:solidFill>
                            <a:srgbClr val="1A1D29"/>
                          </a:solidFill>
                          <a:latin typeface="Calibri"/>
                        </a:rPr>
                        <a:t>Forensics</a:t>
                      </a:r>
                    </a:p>
                  </a:txBody>
                  <a:tcPr marL="109728" marT="36576" marB="36576">
                    <a:solidFill>
                      <a:srgbClr val="EDF1FB"/>
                    </a:solidFill>
                  </a:tcPr>
                </a:tc>
                <a:tc>
                  <a:txBody>
                    <a:bodyPr/>
                    <a:lstStyle/>
                    <a:p>
                      <a:r>
                        <a:rPr sz="1200" b="0">
                          <a:solidFill>
                            <a:srgbClr val="5B6172"/>
                          </a:solidFill>
                          <a:latin typeface="Calibri"/>
                        </a:rPr>
                        <a:t>log A caused log B</a:t>
                      </a:r>
                    </a:p>
                  </a:txBody>
                  <a:tcPr marL="109728" marT="36576" marB="36576">
                    <a:solidFill>
                      <a:srgbClr val="EDF1FB"/>
                    </a:solidFill>
                  </a:tcPr>
                </a:tc>
                <a:tc>
                  <a:txBody>
                    <a:bodyPr/>
                    <a:lstStyle/>
                    <a:p>
                      <a:r>
                        <a:rPr sz="1200" b="0">
                          <a:solidFill>
                            <a:srgbClr val="5B6172"/>
                          </a:solidFill>
                          <a:latin typeface="Calibri"/>
                        </a:rPr>
                        <a:t>causal chain is indefensible</a:t>
                      </a:r>
                    </a:p>
                  </a:txBody>
                  <a:tcPr marL="109728" marT="36576" marB="36576">
                    <a:solidFill>
                      <a:srgbClr val="EDF1FB"/>
                    </a:solidFill>
                  </a:tcPr>
                </a:tc>
              </a:tr>
              <a:tr h="396240">
                <a:tc>
                  <a:txBody>
                    <a:bodyPr/>
                    <a:lstStyle/>
                    <a:p>
                      <a:r>
                        <a:rPr sz="1200" b="1">
                          <a:solidFill>
                            <a:srgbClr val="1A1D29"/>
                          </a:solidFill>
                          <a:latin typeface="Calibri"/>
                        </a:rPr>
                        <a:t>Sensor fusion</a:t>
                      </a:r>
                    </a:p>
                  </a:txBody>
                  <a:tcPr marL="109728" marT="36576" marB="36576">
                    <a:solidFill>
                      <a:srgbClr val="FFFFFF"/>
                    </a:solidFill>
                  </a:tcPr>
                </a:tc>
                <a:tc>
                  <a:txBody>
                    <a:bodyPr/>
                    <a:lstStyle/>
                    <a:p>
                      <a:r>
                        <a:rPr sz="1200" b="0">
                          <a:solidFill>
                            <a:srgbClr val="5B6172"/>
                          </a:solidFill>
                          <a:latin typeface="Calibri"/>
                        </a:rPr>
                        <a:t>radar + camera aligned</a:t>
                      </a:r>
                    </a:p>
                  </a:txBody>
                  <a:tcPr marL="109728" marT="36576" marB="36576">
                    <a:solidFill>
                      <a:srgbClr val="FFFFFF"/>
                    </a:solidFill>
                  </a:tcPr>
                </a:tc>
                <a:tc>
                  <a:txBody>
                    <a:bodyPr/>
                    <a:lstStyle/>
                    <a:p>
                      <a:r>
                        <a:rPr sz="1200" b="0">
                          <a:solidFill>
                            <a:srgbClr val="5B6172"/>
                          </a:solidFill>
                          <a:latin typeface="Calibri"/>
                        </a:rPr>
                        <a:t>physical-world misalignment</a:t>
                      </a:r>
                    </a:p>
                  </a:txBody>
                  <a:tcPr marL="109728" marT="36576" marB="36576">
                    <a:solidFill>
                      <a:srgbClr val="FFFFFF"/>
                    </a:solidFill>
                  </a:tcPr>
                </a:tc>
              </a:tr>
              <a:tr h="396240">
                <a:tc>
                  <a:txBody>
                    <a:bodyPr/>
                    <a:lstStyle/>
                    <a:p>
                      <a:r>
                        <a:rPr sz="1200" b="1">
                          <a:solidFill>
                            <a:srgbClr val="1A1D29"/>
                          </a:solidFill>
                          <a:latin typeface="Calibri"/>
                        </a:rPr>
                        <a:t>Finance</a:t>
                      </a:r>
                    </a:p>
                  </a:txBody>
                  <a:tcPr marL="109728" marT="36576" marB="36576">
                    <a:solidFill>
                      <a:srgbClr val="EDF1FB"/>
                    </a:solidFill>
                  </a:tcPr>
                </a:tc>
                <a:tc>
                  <a:txBody>
                    <a:bodyPr/>
                    <a:lstStyle/>
                    <a:p>
                      <a:r>
                        <a:rPr sz="1200" b="0">
                          <a:solidFill>
                            <a:srgbClr val="5B6172"/>
                          </a:solidFill>
                          <a:latin typeface="Calibri"/>
                        </a:rPr>
                        <a:t>trade timestamped correctly</a:t>
                      </a:r>
                    </a:p>
                  </a:txBody>
                  <a:tcPr marL="109728" marT="36576" marB="36576">
                    <a:solidFill>
                      <a:srgbClr val="EDF1FB"/>
                    </a:solidFill>
                  </a:tcPr>
                </a:tc>
                <a:tc>
                  <a:txBody>
                    <a:bodyPr/>
                    <a:lstStyle/>
                    <a:p>
                      <a:r>
                        <a:rPr sz="1200" b="0">
                          <a:solidFill>
                            <a:srgbClr val="5B6172"/>
                          </a:solidFill>
                          <a:latin typeface="Calibri"/>
                        </a:rPr>
                        <a:t>can't prove mandated window (MiFID II)</a:t>
                      </a:r>
                    </a:p>
                  </a:txBody>
                  <a:tcPr marL="109728" marT="36576" marB="36576">
                    <a:solidFill>
                      <a:srgbClr val="EDF1FB"/>
                    </a:solidFill>
                  </a:tcPr>
                </a:tc>
              </a:tr>
              <a:tr h="396240">
                <a:tc>
                  <a:txBody>
                    <a:bodyPr/>
                    <a:lstStyle/>
                    <a:p>
                      <a:r>
                        <a:rPr sz="1200" b="1">
                          <a:solidFill>
                            <a:srgbClr val="1A1D29"/>
                          </a:solidFill>
                          <a:latin typeface="Calibri"/>
                        </a:rPr>
                        <a:t>Launch time load balancing</a:t>
                      </a:r>
                    </a:p>
                  </a:txBody>
                  <a:tcPr marL="109728" marT="36576" marB="36576">
                    <a:solidFill>
                      <a:srgbClr val="FFFFFF"/>
                    </a:solidFill>
                  </a:tcPr>
                </a:tc>
                <a:tc>
                  <a:txBody>
                    <a:bodyPr/>
                    <a:lstStyle/>
                    <a:p>
                      <a:r>
                        <a:rPr sz="1200" b="0">
                          <a:solidFill>
                            <a:srgbClr val="5B6172"/>
                          </a:solidFill>
                          <a:latin typeface="Calibri"/>
                        </a:rPr>
                        <a:t>packets will have their dedicated slots</a:t>
                      </a:r>
                    </a:p>
                  </a:txBody>
                  <a:tcPr marL="109728" marT="36576" marB="36576">
                    <a:solidFill>
                      <a:srgbClr val="FFFFFF"/>
                    </a:solidFill>
                  </a:tcPr>
                </a:tc>
                <a:tc>
                  <a:txBody>
                    <a:bodyPr/>
                    <a:lstStyle/>
                    <a:p>
                      <a:r>
                        <a:rPr sz="1200" b="0">
                          <a:solidFill>
                            <a:srgbClr val="5B6172"/>
                          </a:solidFill>
                          <a:latin typeface="Calibri"/>
                        </a:rPr>
                        <a:t>packet collisions</a:t>
                      </a:r>
                    </a:p>
                  </a:txBody>
                  <a:tcPr marL="109728" marT="36576" marB="36576">
                    <a:solidFill>
                      <a:srgbClr val="FFFFFF"/>
                    </a:solidFill>
                  </a:tcPr>
                </a:tc>
              </a:tr>
            </a:tbl>
          </a:graphicData>
        </a:graphic>
      </p:graphicFrame>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DF1FB"/>
        </a:solidFill>
        <a:effectLst/>
      </p:bgPr>
    </p:bg>
    <p:spTree>
      <p:nvGrpSpPr>
        <p:cNvPr id="1" name=""/>
        <p:cNvGrpSpPr/>
        <p:nvPr/>
      </p:nvGrpSpPr>
      <p:grpSpPr/>
      <p:sp>
        <p:nvSpPr>
          <p:cNvPr id="2" name="Rectangle 1"/>
          <p:cNvSpPr/>
          <p:nvPr/>
        </p:nvSpPr>
        <p:spPr>
          <a:xfrm>
            <a:off x="822960" y="932688"/>
            <a:ext cx="2377440" cy="9144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78992"/>
            <a:ext cx="10698480" cy="91440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Two events 200 ns apart, each known to ±150 ns.</a:t>
            </a:r>
          </a:p>
        </p:txBody>
      </p:sp>
      <p:sp>
        <p:nvSpPr>
          <p:cNvPr id="4" name="Rectangle 3"/>
          <p:cNvSpPr/>
          <p:nvPr/>
        </p:nvSpPr>
        <p:spPr>
          <a:xfrm>
            <a:off x="5349230" y="2697480"/>
            <a:ext cx="1188700" cy="1920240"/>
          </a:xfrm>
          <a:prstGeom prst="rect">
            <a:avLst/>
          </a:prstGeom>
          <a:solidFill>
            <a:srgbClr val="FBE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49230" y="2743200"/>
            <a:ext cx="1188700" cy="365760"/>
          </a:xfrm>
          <a:prstGeom prst="rect">
            <a:avLst/>
          </a:prstGeom>
          <a:noFill/>
        </p:spPr>
        <p:txBody>
          <a:bodyPr wrap="square" anchor="ctr" lIns="0" rIns="0" tIns="0" bIns="0">
            <a:spAutoFit/>
          </a:bodyPr>
          <a:lstStyle/>
          <a:p>
            <a:pPr algn="ctr">
              <a:spcBef>
                <a:spcPts val="0"/>
              </a:spcBef>
              <a:spcAft>
                <a:spcPts val="600"/>
              </a:spcAft>
            </a:pPr>
            <a:r>
              <a:rPr sz="1400" b="1" i="0">
                <a:solidFill>
                  <a:srgbClr val="B4760A"/>
                </a:solidFill>
                <a:latin typeface="Calibri"/>
              </a:rPr>
              <a:t>overlap</a:t>
            </a:r>
          </a:p>
        </p:txBody>
      </p:sp>
      <p:sp>
        <p:nvSpPr>
          <p:cNvPr id="6" name="Rectangle 5"/>
          <p:cNvSpPr/>
          <p:nvPr/>
        </p:nvSpPr>
        <p:spPr>
          <a:xfrm>
            <a:off x="2377480" y="4617720"/>
            <a:ext cx="7132200" cy="25400"/>
          </a:xfrm>
          <a:prstGeom prst="rect">
            <a:avLst/>
          </a:prstGeom>
          <a:solidFill>
            <a:srgbClr val="5B61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754880" y="3063240"/>
            <a:ext cx="19050" cy="1554480"/>
          </a:xfrm>
          <a:prstGeom prst="rect">
            <a:avLst/>
          </a:prstGeom>
          <a:solidFill>
            <a:srgbClr val="C2CB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971830" y="2980944"/>
            <a:ext cx="3566100" cy="16459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971830" y="2898648"/>
            <a:ext cx="50800" cy="329184"/>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87130" y="2898648"/>
            <a:ext cx="50800" cy="329184"/>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16780" y="2852928"/>
            <a:ext cx="76200" cy="420624"/>
          </a:xfrm>
          <a:prstGeom prst="rect">
            <a:avLst/>
          </a:prstGeom>
          <a:solidFill>
            <a:srgbClr val="1A1D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04902" y="2880360"/>
            <a:ext cx="457200" cy="365760"/>
          </a:xfrm>
          <a:prstGeom prst="rect">
            <a:avLst/>
          </a:prstGeom>
          <a:noFill/>
        </p:spPr>
        <p:txBody>
          <a:bodyPr wrap="square" anchor="ctr" lIns="0" rIns="0" tIns="0" bIns="0">
            <a:spAutoFit/>
          </a:bodyPr>
          <a:lstStyle/>
          <a:p>
            <a:pPr algn="ctr">
              <a:spcBef>
                <a:spcPts val="0"/>
              </a:spcBef>
              <a:spcAft>
                <a:spcPts val="600"/>
              </a:spcAft>
            </a:pPr>
            <a:r>
              <a:rPr sz="1800" b="1" i="0">
                <a:solidFill>
                  <a:srgbClr val="2E6BE6"/>
                </a:solidFill>
                <a:latin typeface="Calibri"/>
              </a:rPr>
              <a:t>A</a:t>
            </a:r>
          </a:p>
        </p:txBody>
      </p:sp>
      <p:sp>
        <p:nvSpPr>
          <p:cNvPr id="13" name="Rectangle 12"/>
          <p:cNvSpPr/>
          <p:nvPr/>
        </p:nvSpPr>
        <p:spPr>
          <a:xfrm>
            <a:off x="7132280" y="3977639"/>
            <a:ext cx="19050" cy="640081"/>
          </a:xfrm>
          <a:prstGeom prst="rect">
            <a:avLst/>
          </a:prstGeom>
          <a:solidFill>
            <a:srgbClr val="C2CB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49230" y="3895343"/>
            <a:ext cx="3566100" cy="164592"/>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349230" y="3813047"/>
            <a:ext cx="50800" cy="329184"/>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64530" y="3813047"/>
            <a:ext cx="50800" cy="329184"/>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094180" y="3767327"/>
            <a:ext cx="76200" cy="420624"/>
          </a:xfrm>
          <a:prstGeom prst="rect">
            <a:avLst/>
          </a:prstGeom>
          <a:solidFill>
            <a:srgbClr val="1A1D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82302" y="3794759"/>
            <a:ext cx="457200" cy="365760"/>
          </a:xfrm>
          <a:prstGeom prst="rect">
            <a:avLst/>
          </a:prstGeom>
          <a:noFill/>
        </p:spPr>
        <p:txBody>
          <a:bodyPr wrap="square" anchor="ctr" lIns="0" rIns="0" tIns="0" bIns="0">
            <a:spAutoFit/>
          </a:bodyPr>
          <a:lstStyle/>
          <a:p>
            <a:pPr algn="ctr">
              <a:spcBef>
                <a:spcPts val="0"/>
              </a:spcBef>
              <a:spcAft>
                <a:spcPts val="600"/>
              </a:spcAft>
            </a:pPr>
            <a:r>
              <a:rPr sz="1800" b="1" i="0">
                <a:solidFill>
                  <a:srgbClr val="14B8A6"/>
                </a:solidFill>
                <a:latin typeface="Calibri"/>
              </a:rPr>
              <a:t>B</a:t>
            </a:r>
          </a:p>
        </p:txBody>
      </p:sp>
      <p:sp>
        <p:nvSpPr>
          <p:cNvPr id="19" name="Rectangle 18"/>
          <p:cNvSpPr/>
          <p:nvPr/>
        </p:nvSpPr>
        <p:spPr>
          <a:xfrm>
            <a:off x="2971830" y="3246120"/>
            <a:ext cx="3566100" cy="19050"/>
          </a:xfrm>
          <a:prstGeom prst="rect">
            <a:avLst/>
          </a:prstGeom>
          <a:solidFill>
            <a:srgbClr val="5B61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971830" y="3209544"/>
            <a:ext cx="19050" cy="100584"/>
          </a:xfrm>
          <a:prstGeom prst="rect">
            <a:avLst/>
          </a:prstGeom>
          <a:solidFill>
            <a:srgbClr val="5B61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54880" y="3209544"/>
            <a:ext cx="19050" cy="100584"/>
          </a:xfrm>
          <a:prstGeom prst="rect">
            <a:avLst/>
          </a:prstGeom>
          <a:solidFill>
            <a:srgbClr val="5B61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37930" y="3209544"/>
            <a:ext cx="19050" cy="100584"/>
          </a:xfrm>
          <a:prstGeom prst="rect">
            <a:avLst/>
          </a:prstGeom>
          <a:solidFill>
            <a:srgbClr val="5B61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971830" y="3291840"/>
            <a:ext cx="1783050" cy="274320"/>
          </a:xfrm>
          <a:prstGeom prst="rect">
            <a:avLst/>
          </a:prstGeom>
          <a:noFill/>
        </p:spPr>
        <p:txBody>
          <a:bodyPr wrap="square" anchor="ctr" lIns="0" rIns="0" tIns="0" bIns="0">
            <a:spAutoFit/>
          </a:bodyPr>
          <a:lstStyle/>
          <a:p>
            <a:pPr algn="ctr">
              <a:spcBef>
                <a:spcPts val="0"/>
              </a:spcBef>
              <a:spcAft>
                <a:spcPts val="600"/>
              </a:spcAft>
            </a:pPr>
            <a:r>
              <a:rPr sz="1200" b="0" i="1">
                <a:solidFill>
                  <a:srgbClr val="1A1D29"/>
                </a:solidFill>
                <a:latin typeface="Calibri"/>
              </a:rPr>
              <a:t>150 ns</a:t>
            </a:r>
          </a:p>
        </p:txBody>
      </p:sp>
      <p:sp>
        <p:nvSpPr>
          <p:cNvPr id="24" name="TextBox 23"/>
          <p:cNvSpPr txBox="1"/>
          <p:nvPr/>
        </p:nvSpPr>
        <p:spPr>
          <a:xfrm>
            <a:off x="4754880" y="3291840"/>
            <a:ext cx="1783050" cy="274320"/>
          </a:xfrm>
          <a:prstGeom prst="rect">
            <a:avLst/>
          </a:prstGeom>
          <a:noFill/>
        </p:spPr>
        <p:txBody>
          <a:bodyPr wrap="square" anchor="ctr" lIns="0" rIns="0" tIns="0" bIns="0">
            <a:spAutoFit/>
          </a:bodyPr>
          <a:lstStyle/>
          <a:p>
            <a:pPr algn="ctr">
              <a:spcBef>
                <a:spcPts val="0"/>
              </a:spcBef>
              <a:spcAft>
                <a:spcPts val="600"/>
              </a:spcAft>
            </a:pPr>
            <a:r>
              <a:rPr sz="1200" b="0" i="1">
                <a:solidFill>
                  <a:srgbClr val="1A1D29"/>
                </a:solidFill>
                <a:latin typeface="Calibri"/>
              </a:rPr>
              <a:t>150 ns</a:t>
            </a:r>
          </a:p>
        </p:txBody>
      </p:sp>
      <p:sp>
        <p:nvSpPr>
          <p:cNvPr id="25" name="TextBox 24"/>
          <p:cNvSpPr txBox="1"/>
          <p:nvPr/>
        </p:nvSpPr>
        <p:spPr>
          <a:xfrm>
            <a:off x="4754880" y="5029200"/>
            <a:ext cx="2377400" cy="320040"/>
          </a:xfrm>
          <a:prstGeom prst="rect">
            <a:avLst/>
          </a:prstGeom>
          <a:noFill/>
        </p:spPr>
        <p:txBody>
          <a:bodyPr wrap="square" anchor="ctr" lIns="0" rIns="0" tIns="0" bIns="0">
            <a:spAutoFit/>
          </a:bodyPr>
          <a:lstStyle/>
          <a:p>
            <a:pPr algn="ctr">
              <a:spcBef>
                <a:spcPts val="0"/>
              </a:spcBef>
              <a:spcAft>
                <a:spcPts val="600"/>
              </a:spcAft>
            </a:pPr>
            <a:r>
              <a:rPr sz="1400" b="1" i="0">
                <a:solidFill>
                  <a:srgbClr val="1A1D29"/>
                </a:solidFill>
                <a:latin typeface="Calibri"/>
              </a:rPr>
              <a:t>←  200 ns apart  →</a:t>
            </a:r>
          </a:p>
        </p:txBody>
      </p:sp>
      <p:sp>
        <p:nvSpPr>
          <p:cNvPr id="26" name="TextBox 25"/>
          <p:cNvSpPr txBox="1"/>
          <p:nvPr/>
        </p:nvSpPr>
        <p:spPr>
          <a:xfrm>
            <a:off x="841248" y="5623560"/>
            <a:ext cx="10698480" cy="822960"/>
          </a:xfrm>
          <a:prstGeom prst="rect">
            <a:avLst/>
          </a:prstGeom>
          <a:noFill/>
        </p:spPr>
        <p:txBody>
          <a:bodyPr wrap="square" anchor="t" lIns="0" rIns="0" tIns="0" bIns="0">
            <a:spAutoFit/>
          </a:bodyPr>
          <a:lstStyle/>
          <a:p>
            <a:pPr algn="l">
              <a:spcBef>
                <a:spcPts val="0"/>
              </a:spcBef>
              <a:spcAft>
                <a:spcPts val="600"/>
              </a:spcAft>
            </a:pPr>
            <a:r>
              <a:rPr sz="2000" b="0" i="1">
                <a:solidFill>
                  <a:srgbClr val="5B6172"/>
                </a:solidFill>
                <a:latin typeface="Calibri"/>
              </a:rPr>
              <a:t>Their true order is unknown — and nothing in the timestamp told you so.</a:t>
            </a:r>
          </a:p>
        </p:txBody>
      </p:sp>
      <p:sp>
        <p:nvSpPr>
          <p:cNvPr id="27" name="Rectangle 26"/>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29" name="TextBox 28"/>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E6BE6"/>
        </a:solidFill>
        <a:effectLst/>
      </p:bgPr>
    </p:bg>
    <p:spTree>
      <p:nvGrpSpPr>
        <p:cNvPr id="1" name=""/>
        <p:cNvGrpSpPr/>
        <p:nvPr/>
      </p:nvGrpSpPr>
      <p:grpSpPr/>
      <p:sp>
        <p:nvSpPr>
          <p:cNvPr id="2" name="Rectangle 1"/>
          <p:cNvSpPr/>
          <p:nvPr/>
        </p:nvSpPr>
        <p:spPr>
          <a:xfrm>
            <a:off x="0" y="2468880"/>
            <a:ext cx="3200400" cy="914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058400" cy="548640"/>
          </a:xfrm>
          <a:prstGeom prst="rect">
            <a:avLst/>
          </a:prstGeom>
          <a:noFill/>
        </p:spPr>
        <p:txBody>
          <a:bodyPr wrap="square" anchor="t" lIns="0" rIns="0" tIns="0" bIns="0">
            <a:spAutoFit/>
          </a:bodyPr>
          <a:lstStyle/>
          <a:p>
            <a:pPr algn="l">
              <a:spcBef>
                <a:spcPts val="0"/>
              </a:spcBef>
              <a:spcAft>
                <a:spcPts val="600"/>
              </a:spcAft>
            </a:pPr>
            <a:r>
              <a:rPr sz="2000" b="1" i="0">
                <a:solidFill>
                  <a:srgbClr val="C7D2F0"/>
                </a:solidFill>
                <a:latin typeface="Calibri"/>
              </a:rPr>
              <a:t>PART 2</a:t>
            </a:r>
          </a:p>
        </p:txBody>
      </p:sp>
      <p:sp>
        <p:nvSpPr>
          <p:cNvPr id="4" name="TextBox 3"/>
          <p:cNvSpPr txBox="1"/>
          <p:nvPr/>
        </p:nvSpPr>
        <p:spPr>
          <a:xfrm>
            <a:off x="804672" y="2697480"/>
            <a:ext cx="10515600" cy="1828800"/>
          </a:xfrm>
          <a:prstGeom prst="rect">
            <a:avLst/>
          </a:prstGeom>
          <a:noFill/>
        </p:spPr>
        <p:txBody>
          <a:bodyPr wrap="square" anchor="t" lIns="0" rIns="0" tIns="0" bIns="0">
            <a:spAutoFit/>
          </a:bodyPr>
          <a:lstStyle/>
          <a:p>
            <a:pPr algn="l">
              <a:spcBef>
                <a:spcPts val="0"/>
              </a:spcBef>
              <a:spcAft>
                <a:spcPts val="600"/>
              </a:spcAft>
            </a:pPr>
            <a:r>
              <a:rPr sz="4000" b="1" i="0">
                <a:solidFill>
                  <a:srgbClr val="FFFFFF"/>
                </a:solidFill>
                <a:latin typeface="Calibri"/>
              </a:rPr>
              <a:t>A timestamp is an interval</a:t>
            </a:r>
          </a:p>
        </p:txBody>
      </p:sp>
      <p:sp>
        <p:nvSpPr>
          <p:cNvPr id="5" name="TextBox 4"/>
          <p:cNvSpPr txBox="1"/>
          <p:nvPr/>
        </p:nvSpPr>
        <p:spPr>
          <a:xfrm>
            <a:off x="11002975" y="6263640"/>
            <a:ext cx="822960" cy="365760"/>
          </a:xfrm>
          <a:prstGeom prst="rect">
            <a:avLst/>
          </a:prstGeom>
          <a:noFill/>
        </p:spPr>
        <p:txBody>
          <a:bodyPr wrap="square" anchor="t" lIns="0" rIns="0" tIns="0" bIns="0">
            <a:spAutoFit/>
          </a:bodyPr>
          <a:lstStyle/>
          <a:p>
            <a:pPr algn="r">
              <a:spcBef>
                <a:spcPts val="0"/>
              </a:spcBef>
              <a:spcAft>
                <a:spcPts val="600"/>
              </a:spcAft>
            </a:pPr>
            <a:r>
              <a:rPr sz="1200" b="1" i="0">
                <a:solidFill>
                  <a:srgbClr val="FFFFFF"/>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THE MODEL</a:t>
            </a:r>
          </a:p>
        </p:txBody>
      </p:sp>
      <p:sp>
        <p:nvSpPr>
          <p:cNvPr id="4" name="TextBox 3"/>
          <p:cNvSpPr txBox="1"/>
          <p:nvPr/>
        </p:nvSpPr>
        <p:spPr>
          <a:xfrm>
            <a:off x="502920" y="566928"/>
            <a:ext cx="11155680" cy="82296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From a point to an interval</a:t>
            </a:r>
          </a:p>
        </p:txBody>
      </p:sp>
      <p:sp>
        <p:nvSpPr>
          <p:cNvPr id="5" name="TextBox 4"/>
          <p:cNvSpPr txBox="1"/>
          <p:nvPr/>
        </p:nvSpPr>
        <p:spPr>
          <a:xfrm>
            <a:off x="640080" y="1554480"/>
            <a:ext cx="10972800" cy="4754880"/>
          </a:xfrm>
          <a:prstGeom prst="rect">
            <a:avLst/>
          </a:prstGeom>
          <a:noFill/>
        </p:spPr>
        <p:txBody>
          <a:bodyPr wrap="square" anchor="t" lIns="0" rIns="0" tIns="0" bIns="0">
            <a:spAutoFit/>
          </a:bodyPr>
          <a:lstStyle/>
          <a:p>
            <a:pPr algn="l">
              <a:spcBef>
                <a:spcPts val="0"/>
              </a:spcBef>
              <a:spcAft>
                <a:spcPts val="1000"/>
              </a:spcAft>
            </a:pPr>
            <a:r>
              <a:rPr sz="1800" b="1" i="0">
                <a:solidFill>
                  <a:srgbClr val="2E6BE6"/>
                </a:solidFill>
                <a:latin typeface="Calibri"/>
              </a:rPr>
              <a:t>▸  </a:t>
            </a:r>
            <a:r>
              <a:rPr sz="1800" b="0" i="0">
                <a:solidFill>
                  <a:srgbClr val="1A1D29"/>
                </a:solidFill>
                <a:latin typeface="Calibri"/>
              </a:rPr>
              <a:t>Instead of:  “the event happened at t”</a:t>
            </a:r>
          </a:p>
          <a:p>
            <a:pPr algn="l">
              <a:spcBef>
                <a:spcPts val="0"/>
              </a:spcBef>
              <a:spcAft>
                <a:spcPts val="1000"/>
              </a:spcAft>
            </a:pPr>
            <a:r>
              <a:rPr sz="1800" b="1" i="0">
                <a:solidFill>
                  <a:srgbClr val="2E6BE6"/>
                </a:solidFill>
                <a:latin typeface="Calibri"/>
              </a:rPr>
              <a:t>▸  </a:t>
            </a:r>
            <a:r>
              <a:rPr sz="1800" b="0" i="0">
                <a:solidFill>
                  <a:srgbClr val="1A1D29"/>
                </a:solidFill>
                <a:latin typeface="Calibri"/>
              </a:rPr>
              <a:t>Say:  “the event happened at t ± U”</a:t>
            </a:r>
          </a:p>
          <a:p>
            <a:pPr algn="l">
              <a:spcBef>
                <a:spcPts val="0"/>
              </a:spcBef>
              <a:spcAft>
                <a:spcPts val="1000"/>
              </a:spcAft>
            </a:pPr>
            <a:r>
              <a:rPr sz="1600" b="0" i="0">
                <a:solidFill>
                  <a:srgbClr val="5B6172"/>
                </a:solidFill>
                <a:latin typeface="Calibri"/>
              </a:rPr>
              <a:t>        –  </a:t>
            </a:r>
            <a:r>
              <a:rPr sz="1600" b="0" i="0">
                <a:solidFill>
                  <a:srgbClr val="5B6172"/>
                </a:solidFill>
                <a:latin typeface="Calibri"/>
              </a:rPr>
              <a:t>U = the time-uncertainty bound at the moment of observation</a:t>
            </a:r>
          </a:p>
          <a:p>
            <a:pPr algn="l">
              <a:spcBef>
                <a:spcPts val="0"/>
              </a:spcBef>
              <a:spcAft>
                <a:spcPts val="1000"/>
              </a:spcAft>
            </a:pPr>
            <a:r>
              <a:rPr sz="1600" b="0" i="0">
                <a:solidFill>
                  <a:srgbClr val="5B6172"/>
                </a:solidFill>
                <a:latin typeface="Calibri"/>
              </a:rPr>
              <a:t>        –  </a:t>
            </a:r>
            <a:r>
              <a:rPr sz="1600" b="0" i="0">
                <a:solidFill>
                  <a:srgbClr val="5B6172"/>
                </a:solidFill>
                <a:latin typeface="Calibri"/>
              </a:rPr>
              <a:t>Also can be viewed as earliest-latest</a:t>
            </a:r>
          </a:p>
          <a:p>
            <a:pPr algn="l">
              <a:spcBef>
                <a:spcPts val="0"/>
              </a:spcBef>
              <a:spcAft>
                <a:spcPts val="1000"/>
              </a:spcAft>
            </a:pPr>
            <a:r>
              <a:rPr sz="1800" b="1" i="0">
                <a:solidFill>
                  <a:srgbClr val="2E6BE6"/>
                </a:solidFill>
                <a:latin typeface="Calibri"/>
              </a:rPr>
              <a:t>▸  </a:t>
            </a:r>
            <a:r>
              <a:rPr sz="1800" b="0" i="0">
                <a:solidFill>
                  <a:srgbClr val="1A1D29"/>
                </a:solidFill>
                <a:latin typeface="Calibri"/>
              </a:rPr>
              <a:t>Now applications can ask explicit questions:</a:t>
            </a:r>
          </a:p>
          <a:p>
            <a:pPr algn="l">
              <a:spcBef>
                <a:spcPts val="0"/>
              </a:spcBef>
              <a:spcAft>
                <a:spcPts val="1000"/>
              </a:spcAft>
            </a:pPr>
            <a:r>
              <a:rPr sz="1600" b="0" i="0">
                <a:solidFill>
                  <a:srgbClr val="5B6172"/>
                </a:solidFill>
                <a:latin typeface="Calibri"/>
              </a:rPr>
              <a:t>        –  </a:t>
            </a:r>
            <a:r>
              <a:rPr sz="1600" b="0" i="0">
                <a:solidFill>
                  <a:srgbClr val="5B6172"/>
                </a:solidFill>
                <a:latin typeface="Calibri"/>
              </a:rPr>
              <a:t>Is ordering between A and B definite, or ambiguous?</a:t>
            </a:r>
          </a:p>
          <a:p>
            <a:pPr algn="l">
              <a:spcBef>
                <a:spcPts val="0"/>
              </a:spcBef>
              <a:spcAft>
                <a:spcPts val="1000"/>
              </a:spcAft>
            </a:pPr>
            <a:r>
              <a:rPr sz="1600" b="0" i="0">
                <a:solidFill>
                  <a:srgbClr val="5B6172"/>
                </a:solidFill>
                <a:latin typeface="Calibri"/>
              </a:rPr>
              <a:t>        –  </a:t>
            </a:r>
            <a:r>
              <a:rPr sz="1600" b="0" i="0">
                <a:solidFill>
                  <a:srgbClr val="5B6172"/>
                </a:solidFill>
                <a:latin typeface="Calibri"/>
              </a:rPr>
              <a:t>Is this window fresh enough for a compliance decision?</a:t>
            </a:r>
          </a:p>
        </p:txBody>
      </p:sp>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THE MODEL</a:t>
            </a:r>
          </a:p>
        </p:txBody>
      </p:sp>
      <p:sp>
        <p:nvSpPr>
          <p:cNvPr id="4" name="TextBox 3"/>
          <p:cNvSpPr txBox="1"/>
          <p:nvPr/>
        </p:nvSpPr>
        <p:spPr>
          <a:xfrm>
            <a:off x="502920" y="566928"/>
            <a:ext cx="11155680" cy="82296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The ordering rule</a:t>
            </a:r>
          </a:p>
        </p:txBody>
      </p:sp>
      <p:sp>
        <p:nvSpPr>
          <p:cNvPr id="5" name="Rectangle 4"/>
          <p:cNvSpPr/>
          <p:nvPr/>
        </p:nvSpPr>
        <p:spPr>
          <a:xfrm>
            <a:off x="640080" y="1600200"/>
            <a:ext cx="5257800" cy="2331720"/>
          </a:xfrm>
          <a:prstGeom prst="rect">
            <a:avLst/>
          </a:prstGeom>
          <a:solidFill>
            <a:srgbClr val="ED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291072" y="1600200"/>
            <a:ext cx="5257800" cy="2331720"/>
          </a:xfrm>
          <a:prstGeom prst="rect">
            <a:avLst/>
          </a:prstGeom>
          <a:solidFill>
            <a:srgbClr val="EA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746504"/>
            <a:ext cx="4846320" cy="365760"/>
          </a:xfrm>
          <a:prstGeom prst="rect">
            <a:avLst/>
          </a:prstGeom>
          <a:noFill/>
        </p:spPr>
        <p:txBody>
          <a:bodyPr wrap="square" anchor="t" lIns="0" rIns="0" tIns="0" bIns="0">
            <a:spAutoFit/>
          </a:bodyPr>
          <a:lstStyle/>
          <a:p>
            <a:pPr algn="l">
              <a:spcBef>
                <a:spcPts val="0"/>
              </a:spcBef>
              <a:spcAft>
                <a:spcPts val="600"/>
              </a:spcAft>
            </a:pPr>
            <a:r>
              <a:rPr sz="1600" b="1" i="0">
                <a:solidFill>
                  <a:srgbClr val="5B6172"/>
                </a:solidFill>
                <a:latin typeface="Calibri"/>
              </a:rPr>
              <a:t>Point model</a:t>
            </a:r>
          </a:p>
        </p:txBody>
      </p:sp>
      <p:sp>
        <p:nvSpPr>
          <p:cNvPr id="8" name="TextBox 7"/>
          <p:cNvSpPr txBox="1"/>
          <p:nvPr/>
        </p:nvSpPr>
        <p:spPr>
          <a:xfrm>
            <a:off x="6519672" y="1746504"/>
            <a:ext cx="4846320" cy="365760"/>
          </a:xfrm>
          <a:prstGeom prst="rect">
            <a:avLst/>
          </a:prstGeom>
          <a:noFill/>
        </p:spPr>
        <p:txBody>
          <a:bodyPr wrap="square" anchor="t" lIns="0" rIns="0" tIns="0" bIns="0">
            <a:spAutoFit/>
          </a:bodyPr>
          <a:lstStyle/>
          <a:p>
            <a:pPr algn="l">
              <a:spcBef>
                <a:spcPts val="0"/>
              </a:spcBef>
              <a:spcAft>
                <a:spcPts val="600"/>
              </a:spcAft>
            </a:pPr>
            <a:r>
              <a:rPr sz="1600" b="1" i="0">
                <a:solidFill>
                  <a:srgbClr val="14B8A6"/>
                </a:solidFill>
                <a:latin typeface="Calibri"/>
              </a:rPr>
              <a:t>Interval model</a:t>
            </a:r>
          </a:p>
        </p:txBody>
      </p:sp>
      <p:sp>
        <p:nvSpPr>
          <p:cNvPr id="9" name="Rectangle 8"/>
          <p:cNvSpPr/>
          <p:nvPr/>
        </p:nvSpPr>
        <p:spPr>
          <a:xfrm>
            <a:off x="1143000" y="2926080"/>
            <a:ext cx="4251960" cy="31750"/>
          </a:xfrm>
          <a:prstGeom prst="rect">
            <a:avLst/>
          </a:prstGeom>
          <a:solidFill>
            <a:srgbClr val="5B61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46120" y="2670048"/>
            <a:ext cx="44450" cy="512064"/>
          </a:xfrm>
          <a:prstGeom prst="rect">
            <a:avLst/>
          </a:prstGeom>
          <a:solidFill>
            <a:srgbClr val="1A1D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80360" y="3236976"/>
            <a:ext cx="731520" cy="365760"/>
          </a:xfrm>
          <a:prstGeom prst="rect">
            <a:avLst/>
          </a:prstGeom>
          <a:noFill/>
        </p:spPr>
        <p:txBody>
          <a:bodyPr wrap="square" anchor="t" lIns="0" rIns="0" tIns="0" bIns="0">
            <a:spAutoFit/>
          </a:bodyPr>
          <a:lstStyle/>
          <a:p>
            <a:pPr algn="ctr">
              <a:spcBef>
                <a:spcPts val="0"/>
              </a:spcBef>
              <a:spcAft>
                <a:spcPts val="600"/>
              </a:spcAft>
            </a:pPr>
            <a:r>
              <a:rPr sz="1600" b="1" i="0">
                <a:solidFill>
                  <a:srgbClr val="1A1D29"/>
                </a:solidFill>
                <a:latin typeface="Calibri"/>
              </a:rPr>
              <a:t>t</a:t>
            </a:r>
          </a:p>
        </p:txBody>
      </p:sp>
      <p:sp>
        <p:nvSpPr>
          <p:cNvPr id="12" name="Rectangle 11"/>
          <p:cNvSpPr/>
          <p:nvPr/>
        </p:nvSpPr>
        <p:spPr>
          <a:xfrm>
            <a:off x="6766560" y="2926080"/>
            <a:ext cx="4434840" cy="31750"/>
          </a:xfrm>
          <a:prstGeom prst="rect">
            <a:avLst/>
          </a:prstGeom>
          <a:solidFill>
            <a:srgbClr val="5B61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83879" y="2816352"/>
            <a:ext cx="2103120" cy="219456"/>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83879" y="2670048"/>
            <a:ext cx="44450" cy="512064"/>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242549" y="2670048"/>
            <a:ext cx="44450" cy="512064"/>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235439" y="2624328"/>
            <a:ext cx="44450" cy="603504"/>
          </a:xfrm>
          <a:prstGeom prst="rect">
            <a:avLst/>
          </a:prstGeom>
          <a:solidFill>
            <a:srgbClr val="1A1D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43799" y="2359152"/>
            <a:ext cx="1280160" cy="274320"/>
          </a:xfrm>
          <a:prstGeom prst="rect">
            <a:avLst/>
          </a:prstGeom>
          <a:noFill/>
        </p:spPr>
        <p:txBody>
          <a:bodyPr wrap="square" anchor="t" lIns="0" rIns="0" tIns="0" bIns="0">
            <a:spAutoFit/>
          </a:bodyPr>
          <a:lstStyle/>
          <a:p>
            <a:pPr algn="ctr">
              <a:spcBef>
                <a:spcPts val="0"/>
              </a:spcBef>
              <a:spcAft>
                <a:spcPts val="600"/>
              </a:spcAft>
            </a:pPr>
            <a:r>
              <a:rPr sz="1300" b="0" i="1">
                <a:solidFill>
                  <a:srgbClr val="2E6BE6"/>
                </a:solidFill>
                <a:latin typeface="Calibri"/>
              </a:rPr>
              <a:t>earliest</a:t>
            </a:r>
          </a:p>
        </p:txBody>
      </p:sp>
      <p:sp>
        <p:nvSpPr>
          <p:cNvPr id="18" name="TextBox 17"/>
          <p:cNvSpPr txBox="1"/>
          <p:nvPr/>
        </p:nvSpPr>
        <p:spPr>
          <a:xfrm>
            <a:off x="9646919" y="2359152"/>
            <a:ext cx="1280160" cy="274320"/>
          </a:xfrm>
          <a:prstGeom prst="rect">
            <a:avLst/>
          </a:prstGeom>
          <a:noFill/>
        </p:spPr>
        <p:txBody>
          <a:bodyPr wrap="square" anchor="t" lIns="0" rIns="0" tIns="0" bIns="0">
            <a:spAutoFit/>
          </a:bodyPr>
          <a:lstStyle/>
          <a:p>
            <a:pPr algn="ctr">
              <a:spcBef>
                <a:spcPts val="0"/>
              </a:spcBef>
              <a:spcAft>
                <a:spcPts val="600"/>
              </a:spcAft>
            </a:pPr>
            <a:r>
              <a:rPr sz="1300" b="0" i="1">
                <a:solidFill>
                  <a:srgbClr val="2E6BE6"/>
                </a:solidFill>
                <a:latin typeface="Calibri"/>
              </a:rPr>
              <a:t>latest</a:t>
            </a:r>
          </a:p>
        </p:txBody>
      </p:sp>
      <p:sp>
        <p:nvSpPr>
          <p:cNvPr id="19" name="TextBox 18"/>
          <p:cNvSpPr txBox="1"/>
          <p:nvPr/>
        </p:nvSpPr>
        <p:spPr>
          <a:xfrm>
            <a:off x="7680959" y="3236976"/>
            <a:ext cx="1005840" cy="365760"/>
          </a:xfrm>
          <a:prstGeom prst="rect">
            <a:avLst/>
          </a:prstGeom>
          <a:noFill/>
        </p:spPr>
        <p:txBody>
          <a:bodyPr wrap="square" anchor="t" lIns="0" rIns="0" tIns="0" bIns="0">
            <a:spAutoFit/>
          </a:bodyPr>
          <a:lstStyle/>
          <a:p>
            <a:pPr algn="ctr">
              <a:spcBef>
                <a:spcPts val="0"/>
              </a:spcBef>
              <a:spcAft>
                <a:spcPts val="600"/>
              </a:spcAft>
            </a:pPr>
            <a:r>
              <a:rPr sz="1400" b="1" i="0">
                <a:solidFill>
                  <a:srgbClr val="2E6BE6"/>
                </a:solidFill>
                <a:latin typeface="Calibri"/>
              </a:rPr>
              <a:t>t−U</a:t>
            </a:r>
          </a:p>
        </p:txBody>
      </p:sp>
      <p:sp>
        <p:nvSpPr>
          <p:cNvPr id="20" name="TextBox 19"/>
          <p:cNvSpPr txBox="1"/>
          <p:nvPr/>
        </p:nvSpPr>
        <p:spPr>
          <a:xfrm>
            <a:off x="8869679" y="3236976"/>
            <a:ext cx="731520" cy="365760"/>
          </a:xfrm>
          <a:prstGeom prst="rect">
            <a:avLst/>
          </a:prstGeom>
          <a:noFill/>
        </p:spPr>
        <p:txBody>
          <a:bodyPr wrap="square" anchor="t" lIns="0" rIns="0" tIns="0" bIns="0">
            <a:spAutoFit/>
          </a:bodyPr>
          <a:lstStyle/>
          <a:p>
            <a:pPr algn="ctr">
              <a:spcBef>
                <a:spcPts val="0"/>
              </a:spcBef>
              <a:spcAft>
                <a:spcPts val="600"/>
              </a:spcAft>
            </a:pPr>
            <a:r>
              <a:rPr sz="1400" b="1" i="0">
                <a:solidFill>
                  <a:srgbClr val="1A1D29"/>
                </a:solidFill>
                <a:latin typeface="Calibri"/>
              </a:rPr>
              <a:t>t</a:t>
            </a:r>
          </a:p>
        </p:txBody>
      </p:sp>
      <p:sp>
        <p:nvSpPr>
          <p:cNvPr id="21" name="TextBox 20"/>
          <p:cNvSpPr txBox="1"/>
          <p:nvPr/>
        </p:nvSpPr>
        <p:spPr>
          <a:xfrm>
            <a:off x="9784079" y="3236976"/>
            <a:ext cx="1005840" cy="365760"/>
          </a:xfrm>
          <a:prstGeom prst="rect">
            <a:avLst/>
          </a:prstGeom>
          <a:noFill/>
        </p:spPr>
        <p:txBody>
          <a:bodyPr wrap="square" anchor="t" lIns="0" rIns="0" tIns="0" bIns="0">
            <a:spAutoFit/>
          </a:bodyPr>
          <a:lstStyle/>
          <a:p>
            <a:pPr algn="ctr">
              <a:spcBef>
                <a:spcPts val="0"/>
              </a:spcBef>
              <a:spcAft>
                <a:spcPts val="600"/>
              </a:spcAft>
            </a:pPr>
            <a:r>
              <a:rPr sz="1400" b="1" i="0">
                <a:solidFill>
                  <a:srgbClr val="2E6BE6"/>
                </a:solidFill>
                <a:latin typeface="Calibri"/>
              </a:rPr>
              <a:t>t+U</a:t>
            </a:r>
          </a:p>
        </p:txBody>
      </p:sp>
      <p:sp>
        <p:nvSpPr>
          <p:cNvPr id="22" name="Rectangle 21"/>
          <p:cNvSpPr/>
          <p:nvPr/>
        </p:nvSpPr>
        <p:spPr>
          <a:xfrm>
            <a:off x="640080" y="4206240"/>
            <a:ext cx="10908792" cy="1234440"/>
          </a:xfrm>
          <a:prstGeom prst="rect">
            <a:avLst/>
          </a:prstGeom>
          <a:solidFill>
            <a:srgbClr val="1A1D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407408"/>
            <a:ext cx="10908792" cy="548640"/>
          </a:xfrm>
          <a:prstGeom prst="rect">
            <a:avLst/>
          </a:prstGeom>
          <a:noFill/>
        </p:spPr>
        <p:txBody>
          <a:bodyPr wrap="square" anchor="t" lIns="0" rIns="0" tIns="0" bIns="0">
            <a:spAutoFit/>
          </a:bodyPr>
          <a:lstStyle/>
          <a:p>
            <a:pPr algn="ctr">
              <a:spcBef>
                <a:spcPts val="0"/>
              </a:spcBef>
              <a:spcAft>
                <a:spcPts val="600"/>
              </a:spcAft>
            </a:pPr>
            <a:r>
              <a:rPr sz="2600" b="1" i="0">
                <a:solidFill>
                  <a:srgbClr val="FFFFFF"/>
                </a:solidFill>
                <a:latin typeface="Consolas"/>
              </a:rPr>
              <a:t>A before B   only if   tA + UA  &lt;  tB − UB</a:t>
            </a:r>
          </a:p>
        </p:txBody>
      </p:sp>
      <p:sp>
        <p:nvSpPr>
          <p:cNvPr id="24" name="TextBox 23"/>
          <p:cNvSpPr txBox="1"/>
          <p:nvPr/>
        </p:nvSpPr>
        <p:spPr>
          <a:xfrm>
            <a:off x="640080" y="4956048"/>
            <a:ext cx="10908792" cy="411480"/>
          </a:xfrm>
          <a:prstGeom prst="rect">
            <a:avLst/>
          </a:prstGeom>
          <a:noFill/>
        </p:spPr>
        <p:txBody>
          <a:bodyPr wrap="square" anchor="t" lIns="0" rIns="0" tIns="0" bIns="0">
            <a:spAutoFit/>
          </a:bodyPr>
          <a:lstStyle/>
          <a:p>
            <a:pPr algn="ctr">
              <a:spcBef>
                <a:spcPts val="0"/>
              </a:spcBef>
              <a:spcAft>
                <a:spcPts val="600"/>
              </a:spcAft>
            </a:pPr>
            <a:r>
              <a:rPr sz="1800" b="0" i="1">
                <a:solidFill>
                  <a:srgbClr val="8FE0D6"/>
                </a:solidFill>
                <a:latin typeface="Calibri"/>
              </a:rPr>
              <a:t>otherwise → ambiguous  ·  unknown, not wrong</a:t>
            </a:r>
          </a:p>
        </p:txBody>
      </p:sp>
      <p:sp>
        <p:nvSpPr>
          <p:cNvPr id="25" name="TextBox 24"/>
          <p:cNvSpPr txBox="1"/>
          <p:nvPr/>
        </p:nvSpPr>
        <p:spPr>
          <a:xfrm>
            <a:off x="658368" y="5596128"/>
            <a:ext cx="10881360" cy="457200"/>
          </a:xfrm>
          <a:prstGeom prst="rect">
            <a:avLst/>
          </a:prstGeom>
          <a:noFill/>
        </p:spPr>
        <p:txBody>
          <a:bodyPr wrap="square" anchor="t" lIns="0" rIns="0" tIns="0" bIns="0">
            <a:spAutoFit/>
          </a:bodyPr>
          <a:lstStyle/>
          <a:p>
            <a:pPr algn="l">
              <a:spcBef>
                <a:spcPts val="0"/>
              </a:spcBef>
              <a:spcAft>
                <a:spcPts val="600"/>
              </a:spcAft>
            </a:pPr>
            <a:r>
              <a:rPr sz="1500" b="0" i="1">
                <a:solidFill>
                  <a:srgbClr val="5B6172"/>
                </a:solidFill>
                <a:latin typeface="Calibri"/>
              </a:rPr>
              <a:t>The overlap region is where causality cannot be resolved from timestamps alone.</a:t>
            </a:r>
          </a:p>
        </p:txBody>
      </p:sp>
      <p:sp>
        <p:nvSpPr>
          <p:cNvPr id="26" name="Rectangle 2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28" name="TextBox 27"/>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THE MODEL</a:t>
            </a:r>
          </a:p>
        </p:txBody>
      </p:sp>
      <p:sp>
        <p:nvSpPr>
          <p:cNvPr id="4" name="TextBox 3"/>
          <p:cNvSpPr txBox="1"/>
          <p:nvPr/>
        </p:nvSpPr>
        <p:spPr>
          <a:xfrm>
            <a:off x="502920" y="566928"/>
            <a:ext cx="11155680" cy="82296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What uncertainty is — and is not</a:t>
            </a:r>
          </a:p>
        </p:txBody>
      </p:sp>
      <p:sp>
        <p:nvSpPr>
          <p:cNvPr id="5" name="Rectangle 4"/>
          <p:cNvSpPr/>
          <p:nvPr/>
        </p:nvSpPr>
        <p:spPr>
          <a:xfrm>
            <a:off x="640080" y="1691640"/>
            <a:ext cx="5349240" cy="4297680"/>
          </a:xfrm>
          <a:prstGeom prst="rect">
            <a:avLst/>
          </a:prstGeom>
          <a:solidFill>
            <a:srgbClr val="ED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56232"/>
            <a:ext cx="4892040" cy="457200"/>
          </a:xfrm>
          <a:prstGeom prst="rect">
            <a:avLst/>
          </a:prstGeom>
          <a:noFill/>
        </p:spPr>
        <p:txBody>
          <a:bodyPr wrap="square" anchor="t" lIns="0" rIns="0" tIns="0" bIns="0">
            <a:spAutoFit/>
          </a:bodyPr>
          <a:lstStyle/>
          <a:p>
            <a:pPr algn="l">
              <a:spcBef>
                <a:spcPts val="0"/>
              </a:spcBef>
              <a:spcAft>
                <a:spcPts val="600"/>
              </a:spcAft>
            </a:pPr>
            <a:r>
              <a:rPr sz="1800" b="1" i="0">
                <a:solidFill>
                  <a:srgbClr val="2E6BE6"/>
                </a:solidFill>
                <a:latin typeface="Calibri"/>
              </a:rPr>
              <a:t>U IS</a:t>
            </a:r>
          </a:p>
        </p:txBody>
      </p:sp>
      <p:sp>
        <p:nvSpPr>
          <p:cNvPr id="7" name="TextBox 6"/>
          <p:cNvSpPr txBox="1"/>
          <p:nvPr/>
        </p:nvSpPr>
        <p:spPr>
          <a:xfrm>
            <a:off x="868680" y="2468880"/>
            <a:ext cx="4892040" cy="3291840"/>
          </a:xfrm>
          <a:prstGeom prst="rect">
            <a:avLst/>
          </a:prstGeom>
          <a:noFill/>
        </p:spPr>
        <p:txBody>
          <a:bodyPr wrap="square" anchor="t" lIns="0" rIns="0" tIns="0" bIns="0">
            <a:spAutoFit/>
          </a:bodyPr>
          <a:lstStyle/>
          <a:p>
            <a:pPr algn="l">
              <a:spcBef>
                <a:spcPts val="0"/>
              </a:spcBef>
              <a:spcAft>
                <a:spcPts val="900"/>
              </a:spcAft>
            </a:pPr>
            <a:r>
              <a:rPr sz="1500" b="1" i="0">
                <a:solidFill>
                  <a:srgbClr val="2E6BE6"/>
                </a:solidFill>
                <a:latin typeface="Calibri"/>
              </a:rPr>
              <a:t>•  </a:t>
            </a:r>
            <a:r>
              <a:rPr sz="1500" b="0" i="0">
                <a:solidFill>
                  <a:srgbClr val="1A1D29"/>
                </a:solidFill>
                <a:latin typeface="Calibri"/>
              </a:rPr>
              <a:t>A conservative bound on clock error, right now</a:t>
            </a:r>
          </a:p>
          <a:p>
            <a:pPr algn="l">
              <a:spcBef>
                <a:spcPts val="0"/>
              </a:spcBef>
              <a:spcAft>
                <a:spcPts val="900"/>
              </a:spcAft>
            </a:pPr>
            <a:r>
              <a:rPr sz="1500" b="1" i="0">
                <a:solidFill>
                  <a:srgbClr val="2E6BE6"/>
                </a:solidFill>
                <a:latin typeface="Calibri"/>
              </a:rPr>
              <a:t>•  </a:t>
            </a:r>
            <a:r>
              <a:rPr sz="1500" b="0" i="0">
                <a:solidFill>
                  <a:srgbClr val="1A1D29"/>
                </a:solidFill>
                <a:latin typeface="Calibri"/>
              </a:rPr>
              <a:t>Derived from measurable sync state + configured limits</a:t>
            </a:r>
          </a:p>
          <a:p>
            <a:pPr algn="l">
              <a:spcBef>
                <a:spcPts val="0"/>
              </a:spcBef>
              <a:spcAft>
                <a:spcPts val="900"/>
              </a:spcAft>
            </a:pPr>
            <a:r>
              <a:rPr sz="1500" b="1" i="0">
                <a:solidFill>
                  <a:srgbClr val="2E6BE6"/>
                </a:solidFill>
                <a:latin typeface="Calibri"/>
              </a:rPr>
              <a:t>•  </a:t>
            </a:r>
            <a:r>
              <a:rPr sz="1500" b="0" i="0">
                <a:solidFill>
                  <a:srgbClr val="1A1D29"/>
                </a:solidFill>
                <a:latin typeface="Calibri"/>
              </a:rPr>
              <a:t>An explicit input to application logic</a:t>
            </a:r>
          </a:p>
        </p:txBody>
      </p:sp>
      <p:sp>
        <p:nvSpPr>
          <p:cNvPr id="8" name="Rectangle 7"/>
          <p:cNvSpPr/>
          <p:nvPr/>
        </p:nvSpPr>
        <p:spPr>
          <a:xfrm>
            <a:off x="6355080" y="1691640"/>
            <a:ext cx="5349240" cy="4297680"/>
          </a:xfrm>
          <a:prstGeom prst="rect">
            <a:avLst/>
          </a:prstGeom>
          <a:solidFill>
            <a:srgbClr val="EA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856232"/>
            <a:ext cx="4892040" cy="457200"/>
          </a:xfrm>
          <a:prstGeom prst="rect">
            <a:avLst/>
          </a:prstGeom>
          <a:noFill/>
        </p:spPr>
        <p:txBody>
          <a:bodyPr wrap="square" anchor="t" lIns="0" rIns="0" tIns="0" bIns="0">
            <a:spAutoFit/>
          </a:bodyPr>
          <a:lstStyle/>
          <a:p>
            <a:pPr algn="l">
              <a:spcBef>
                <a:spcPts val="0"/>
              </a:spcBef>
              <a:spcAft>
                <a:spcPts val="600"/>
              </a:spcAft>
            </a:pPr>
            <a:r>
              <a:rPr sz="1800" b="1" i="0">
                <a:solidFill>
                  <a:srgbClr val="14B8A6"/>
                </a:solidFill>
                <a:latin typeface="Calibri"/>
              </a:rPr>
              <a:t>U IS NOT</a:t>
            </a:r>
          </a:p>
        </p:txBody>
      </p:sp>
      <p:sp>
        <p:nvSpPr>
          <p:cNvPr id="10" name="TextBox 9"/>
          <p:cNvSpPr txBox="1"/>
          <p:nvPr/>
        </p:nvSpPr>
        <p:spPr>
          <a:xfrm>
            <a:off x="6583680" y="2468880"/>
            <a:ext cx="4892040" cy="3291840"/>
          </a:xfrm>
          <a:prstGeom prst="rect">
            <a:avLst/>
          </a:prstGeom>
          <a:noFill/>
        </p:spPr>
        <p:txBody>
          <a:bodyPr wrap="square" anchor="t" lIns="0" rIns="0" tIns="0" bIns="0">
            <a:spAutoFit/>
          </a:bodyPr>
          <a:lstStyle/>
          <a:p>
            <a:pPr algn="l">
              <a:spcBef>
                <a:spcPts val="0"/>
              </a:spcBef>
              <a:spcAft>
                <a:spcPts val="900"/>
              </a:spcAft>
            </a:pPr>
            <a:r>
              <a:rPr sz="1500" b="1" i="0">
                <a:solidFill>
                  <a:srgbClr val="14B8A6"/>
                </a:solidFill>
                <a:latin typeface="Calibri"/>
              </a:rPr>
              <a:t>•  </a:t>
            </a:r>
            <a:r>
              <a:rPr sz="1500" b="0" i="0">
                <a:solidFill>
                  <a:srgbClr val="1A1D29"/>
                </a:solidFill>
                <a:latin typeface="Calibri"/>
              </a:rPr>
              <a:t>A statistical confidence interval (unless you add stats)</a:t>
            </a:r>
          </a:p>
          <a:p>
            <a:pPr algn="l">
              <a:spcBef>
                <a:spcPts val="0"/>
              </a:spcBef>
              <a:spcAft>
                <a:spcPts val="900"/>
              </a:spcAft>
            </a:pPr>
            <a:r>
              <a:rPr sz="1500" b="1" i="0">
                <a:solidFill>
                  <a:srgbClr val="14B8A6"/>
                </a:solidFill>
                <a:latin typeface="Calibri"/>
              </a:rPr>
              <a:t>•  </a:t>
            </a:r>
            <a:r>
              <a:rPr sz="1500" b="0" i="0">
                <a:solidFill>
                  <a:srgbClr val="1A1D29"/>
                </a:solidFill>
                <a:latin typeface="Calibri"/>
              </a:rPr>
              <a:t>A substitute for good clock design</a:t>
            </a:r>
          </a:p>
          <a:p>
            <a:pPr algn="l">
              <a:spcBef>
                <a:spcPts val="0"/>
              </a:spcBef>
              <a:spcAft>
                <a:spcPts val="900"/>
              </a:spcAft>
            </a:pPr>
            <a:r>
              <a:rPr sz="1500" b="1" i="0">
                <a:solidFill>
                  <a:srgbClr val="14B8A6"/>
                </a:solidFill>
                <a:latin typeface="Calibri"/>
              </a:rPr>
              <a:t>•  </a:t>
            </a:r>
            <a:r>
              <a:rPr sz="1500" b="0" i="0">
                <a:solidFill>
                  <a:srgbClr val="1A1D29"/>
                </a:solidFill>
                <a:latin typeface="Calibri"/>
              </a:rPr>
              <a:t>Zero just because PTP reports “SLAVE”</a:t>
            </a:r>
          </a:p>
        </p:txBody>
      </p:sp>
      <p:sp>
        <p:nvSpPr>
          <p:cNvPr id="11" name="Rectangle 10"/>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13" name="TextBox 12"/>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E6BE6"/>
        </a:solidFill>
        <a:effectLst/>
      </p:bgPr>
    </p:bg>
    <p:spTree>
      <p:nvGrpSpPr>
        <p:cNvPr id="1" name=""/>
        <p:cNvGrpSpPr/>
        <p:nvPr/>
      </p:nvGrpSpPr>
      <p:grpSpPr/>
      <p:sp>
        <p:nvSpPr>
          <p:cNvPr id="2" name="Rectangle 1"/>
          <p:cNvSpPr/>
          <p:nvPr/>
        </p:nvSpPr>
        <p:spPr>
          <a:xfrm>
            <a:off x="0" y="2468880"/>
            <a:ext cx="3200400" cy="914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058400" cy="548640"/>
          </a:xfrm>
          <a:prstGeom prst="rect">
            <a:avLst/>
          </a:prstGeom>
          <a:noFill/>
        </p:spPr>
        <p:txBody>
          <a:bodyPr wrap="square" anchor="t" lIns="0" rIns="0" tIns="0" bIns="0">
            <a:spAutoFit/>
          </a:bodyPr>
          <a:lstStyle/>
          <a:p>
            <a:pPr algn="l">
              <a:spcBef>
                <a:spcPts val="0"/>
              </a:spcBef>
              <a:spcAft>
                <a:spcPts val="600"/>
              </a:spcAft>
            </a:pPr>
            <a:r>
              <a:rPr sz="2000" b="1" i="0">
                <a:solidFill>
                  <a:srgbClr val="C7D2F0"/>
                </a:solidFill>
                <a:latin typeface="Calibri"/>
              </a:rPr>
              <a:t>PART 3</a:t>
            </a:r>
          </a:p>
        </p:txBody>
      </p:sp>
      <p:sp>
        <p:nvSpPr>
          <p:cNvPr id="4" name="TextBox 3"/>
          <p:cNvSpPr txBox="1"/>
          <p:nvPr/>
        </p:nvSpPr>
        <p:spPr>
          <a:xfrm>
            <a:off x="804672" y="2697480"/>
            <a:ext cx="10515600" cy="1828800"/>
          </a:xfrm>
          <a:prstGeom prst="rect">
            <a:avLst/>
          </a:prstGeom>
          <a:noFill/>
        </p:spPr>
        <p:txBody>
          <a:bodyPr wrap="square" anchor="t" lIns="0" rIns="0" tIns="0" bIns="0">
            <a:spAutoFit/>
          </a:bodyPr>
          <a:lstStyle/>
          <a:p>
            <a:pPr algn="l">
              <a:spcBef>
                <a:spcPts val="0"/>
              </a:spcBef>
              <a:spcAft>
                <a:spcPts val="600"/>
              </a:spcAft>
            </a:pPr>
            <a:r>
              <a:rPr sz="4000" b="1" i="0">
                <a:solidFill>
                  <a:srgbClr val="FFFFFF"/>
                </a:solidFill>
                <a:latin typeface="Calibri"/>
              </a:rPr>
              <a:t>Where does uncertainty come from?</a:t>
            </a:r>
          </a:p>
        </p:txBody>
      </p:sp>
      <p:sp>
        <p:nvSpPr>
          <p:cNvPr id="5" name="TextBox 4"/>
          <p:cNvSpPr txBox="1"/>
          <p:nvPr/>
        </p:nvSpPr>
        <p:spPr>
          <a:xfrm>
            <a:off x="11002975" y="6263640"/>
            <a:ext cx="822960" cy="365760"/>
          </a:xfrm>
          <a:prstGeom prst="rect">
            <a:avLst/>
          </a:prstGeom>
          <a:noFill/>
        </p:spPr>
        <p:txBody>
          <a:bodyPr wrap="square" anchor="t" lIns="0" rIns="0" tIns="0" bIns="0">
            <a:spAutoFit/>
          </a:bodyPr>
          <a:lstStyle/>
          <a:p>
            <a:pPr algn="r">
              <a:spcBef>
                <a:spcPts val="0"/>
              </a:spcBef>
              <a:spcAft>
                <a:spcPts val="600"/>
              </a:spcAft>
            </a:pPr>
            <a:r>
              <a:rPr sz="1200" b="1" i="0">
                <a:solidFill>
                  <a:srgbClr val="FFFFFF"/>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ANATOMY</a:t>
            </a:r>
          </a:p>
        </p:txBody>
      </p:sp>
      <p:sp>
        <p:nvSpPr>
          <p:cNvPr id="4" name="TextBox 3"/>
          <p:cNvSpPr txBox="1"/>
          <p:nvPr/>
        </p:nvSpPr>
        <p:spPr>
          <a:xfrm>
            <a:off x="502920" y="566928"/>
            <a:ext cx="11155680" cy="82296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Walk the stack, bottom to top</a:t>
            </a:r>
          </a:p>
        </p:txBody>
      </p:sp>
      <p:sp>
        <p:nvSpPr>
          <p:cNvPr id="5" name="Rectangle 4"/>
          <p:cNvSpPr/>
          <p:nvPr/>
        </p:nvSpPr>
        <p:spPr>
          <a:xfrm>
            <a:off x="640080" y="1600200"/>
            <a:ext cx="10881360" cy="4114800"/>
          </a:xfrm>
          <a:prstGeom prst="rect">
            <a:avLst/>
          </a:prstGeom>
          <a:solidFill>
            <a:srgbClr val="11162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0" rIns="182880" tIns="182880" bIns="182880"/>
          <a:lstStyle/>
          <a:p>
            <a:pPr algn="l">
              <a:spcAft>
                <a:spcPts val="200"/>
              </a:spcAft>
            </a:pPr>
            <a:r>
              <a:rPr sz="1500">
                <a:solidFill>
                  <a:srgbClr val="D6E2FF"/>
                </a:solidFill>
                <a:latin typeface="Consolas"/>
              </a:rPr>
              <a:t>  6  Userspace observation delay   &lt;- syscall + scheduling</a:t>
            </a:r>
          </a:p>
          <a:p>
            <a:pPr algn="l">
              <a:spcAft>
                <a:spcPts val="200"/>
              </a:spcAft>
            </a:pPr>
            <a:r>
              <a:rPr sz="1500">
                <a:solidFill>
                  <a:srgbClr val="D6E2FF"/>
                </a:solidFill>
                <a:latin typeface="Consolas"/>
              </a:rPr>
              <a:t>  5  Kernel -&gt; userspace transfer  &lt;- IRQ, softirq, copy</a:t>
            </a:r>
          </a:p>
          <a:p>
            <a:pPr algn="l">
              <a:spcAft>
                <a:spcPts val="200"/>
              </a:spcAft>
            </a:pPr>
            <a:r>
              <a:rPr sz="1500">
                <a:solidFill>
                  <a:srgbClr val="D6E2FF"/>
                </a:solidFill>
                <a:latin typeface="Consolas"/>
              </a:rPr>
              <a:t>  4  Timestamp capture point       &lt;- HW vs SW</a:t>
            </a:r>
          </a:p>
          <a:p>
            <a:pPr algn="l">
              <a:spcAft>
                <a:spcPts val="200"/>
              </a:spcAft>
            </a:pPr>
            <a:r>
              <a:rPr sz="1500">
                <a:solidFill>
                  <a:srgbClr val="D6E2FF"/>
                </a:solidFill>
                <a:latin typeface="Consolas"/>
              </a:rPr>
              <a:t>  3  Network                       &lt;- queueing, routing, hop count</a:t>
            </a:r>
          </a:p>
          <a:p>
            <a:pPr algn="l">
              <a:spcAft>
                <a:spcPts val="200"/>
              </a:spcAft>
            </a:pPr>
            <a:r>
              <a:rPr sz="1500">
                <a:solidFill>
                  <a:srgbClr val="D6E2FF"/>
                </a:solidFill>
                <a:latin typeface="Consolas"/>
              </a:rPr>
              <a:t>  2  PHC clock                     &lt;- offset, clock resolution</a:t>
            </a:r>
          </a:p>
          <a:p>
            <a:pPr algn="l">
              <a:spcAft>
                <a:spcPts val="200"/>
              </a:spcAft>
            </a:pPr>
            <a:r>
              <a:rPr sz="1500">
                <a:solidFill>
                  <a:srgbClr val="D6E2FF"/>
                </a:solidFill>
                <a:latin typeface="Consolas"/>
              </a:rPr>
              <a:t>  1  Oscillator                    &lt;- drift, temperature</a:t>
            </a:r>
          </a:p>
        </p:txBody>
      </p:sp>
      <p:sp>
        <p:nvSpPr>
          <p:cNvPr id="6" name="TextBox 5"/>
          <p:cNvSpPr txBox="1"/>
          <p:nvPr/>
        </p:nvSpPr>
        <p:spPr>
          <a:xfrm>
            <a:off x="658368" y="5824728"/>
            <a:ext cx="10881360" cy="457200"/>
          </a:xfrm>
          <a:prstGeom prst="rect">
            <a:avLst/>
          </a:prstGeom>
          <a:noFill/>
        </p:spPr>
        <p:txBody>
          <a:bodyPr wrap="square" anchor="t" lIns="0" rIns="0" tIns="0" bIns="0">
            <a:spAutoFit/>
          </a:bodyPr>
          <a:lstStyle/>
          <a:p>
            <a:pPr algn="l">
              <a:spcBef>
                <a:spcPts val="0"/>
              </a:spcBef>
              <a:spcAft>
                <a:spcPts val="600"/>
              </a:spcAft>
            </a:pPr>
            <a:r>
              <a:rPr sz="1500" b="0" i="1">
                <a:solidFill>
                  <a:srgbClr val="5B6172"/>
                </a:solidFill>
                <a:latin typeface="Calibri"/>
              </a:rPr>
              <a:t>Each layer adds error or delay. Only some layers expose metrics.</a:t>
            </a:r>
          </a:p>
        </p:txBody>
      </p:sp>
      <p:sp>
        <p:nvSpPr>
          <p:cNvPr id="7" name="Rectangle 6"/>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9" name="TextBox 8"/>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ANATOMY</a:t>
            </a:r>
          </a:p>
        </p:txBody>
      </p:sp>
      <p:sp>
        <p:nvSpPr>
          <p:cNvPr id="4" name="TextBox 3"/>
          <p:cNvSpPr txBox="1"/>
          <p:nvPr/>
        </p:nvSpPr>
        <p:spPr>
          <a:xfrm>
            <a:off x="502920" y="566928"/>
            <a:ext cx="11155680" cy="82296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The uncertainty budget: every source</a:t>
            </a:r>
          </a:p>
        </p:txBody>
      </p:sp>
      <p:graphicFrame>
        <p:nvGraphicFramePr>
          <p:cNvPr id="5" name="Table 4"/>
          <p:cNvGraphicFramePr>
            <a:graphicFrameLocks noGrp="1"/>
          </p:cNvGraphicFramePr>
          <p:nvPr/>
        </p:nvGraphicFramePr>
        <p:xfrm>
          <a:off x="640080" y="1645920"/>
          <a:ext cx="10881360" cy="4114800"/>
        </p:xfrm>
        <a:graphic>
          <a:graphicData uri="http://schemas.openxmlformats.org/drawingml/2006/table">
            <a:tbl>
              <a:tblPr firstRow="1" bandRow="1">
                <a:tableStyleId>{5C22544A-7EE6-4342-B048-85BDC9FD1C3A}</a:tableStyleId>
              </a:tblPr>
              <a:tblGrid>
                <a:gridCol w="3627120"/>
                <a:gridCol w="3627120"/>
                <a:gridCol w="3627120"/>
              </a:tblGrid>
              <a:tr h="457200">
                <a:tc>
                  <a:txBody>
                    <a:bodyPr/>
                    <a:lstStyle/>
                    <a:p>
                      <a:r>
                        <a:rPr b="1" sz="1500">
                          <a:solidFill>
                            <a:srgbClr val="FFFFFF"/>
                          </a:solidFill>
                          <a:latin typeface="Calibri"/>
                        </a:rPr>
                        <a:t>Source of error</a:t>
                      </a:r>
                    </a:p>
                  </a:txBody>
                  <a:tcPr marL="109728" marT="45720" marB="45720">
                    <a:solidFill>
                      <a:srgbClr val="2E6BE6"/>
                    </a:solidFill>
                  </a:tcPr>
                </a:tc>
                <a:tc>
                  <a:txBody>
                    <a:bodyPr/>
                    <a:lstStyle/>
                    <a:p>
                      <a:r>
                        <a:rPr b="1" sz="1500">
                          <a:solidFill>
                            <a:srgbClr val="FFFFFF"/>
                          </a:solidFill>
                          <a:latin typeface="Calibri"/>
                        </a:rPr>
                        <a:t>What it contributes</a:t>
                      </a:r>
                    </a:p>
                  </a:txBody>
                  <a:tcPr marL="109728" marT="45720" marB="45720">
                    <a:solidFill>
                      <a:srgbClr val="2E6BE6"/>
                    </a:solidFill>
                  </a:tcPr>
                </a:tc>
                <a:tc>
                  <a:txBody>
                    <a:bodyPr/>
                    <a:lstStyle/>
                    <a:p>
                      <a:r>
                        <a:rPr b="1" sz="1500">
                          <a:solidFill>
                            <a:srgbClr val="FFFFFF"/>
                          </a:solidFill>
                          <a:latin typeface="Calibri"/>
                        </a:rPr>
                        <a:t>In the bound?</a:t>
                      </a:r>
                    </a:p>
                  </a:txBody>
                  <a:tcPr marL="109728" marT="45720" marB="45720">
                    <a:solidFill>
                      <a:srgbClr val="2E6BE6"/>
                    </a:solidFill>
                  </a:tcPr>
                </a:tc>
              </a:tr>
              <a:tr h="457200">
                <a:tc>
                  <a:txBody>
                    <a:bodyPr/>
                    <a:lstStyle/>
                    <a:p>
                      <a:r>
                        <a:rPr sz="1200" b="1">
                          <a:solidFill>
                            <a:srgbClr val="1A1D29"/>
                          </a:solidFill>
                          <a:latin typeface="Calibri"/>
                        </a:rPr>
                        <a:t>Grandmaster class</a:t>
                      </a:r>
                    </a:p>
                  </a:txBody>
                  <a:tcPr marL="109728" marT="36576" marB="36576">
                    <a:solidFill>
                      <a:srgbClr val="FFFFFF"/>
                    </a:solidFill>
                  </a:tcPr>
                </a:tc>
                <a:tc>
                  <a:txBody>
                    <a:bodyPr/>
                    <a:lstStyle/>
                    <a:p>
                      <a:r>
                        <a:rPr sz="1200" b="0">
                          <a:solidFill>
                            <a:srgbClr val="5B6172"/>
                          </a:solidFill>
                          <a:latin typeface="Calibri"/>
                        </a:rPr>
                        <a:t>advertised GM quality (clockClass / accuracy)</a:t>
                      </a:r>
                    </a:p>
                  </a:txBody>
                  <a:tcPr marL="109728" marT="36576" marB="36576">
                    <a:solidFill>
                      <a:srgbClr val="FFFFFF"/>
                    </a:solidFill>
                  </a:tcPr>
                </a:tc>
                <a:tc>
                  <a:txBody>
                    <a:bodyPr/>
                    <a:lstStyle/>
                    <a:p>
                      <a:r>
                        <a:rPr sz="1200" b="0">
                          <a:solidFill>
                            <a:srgbClr val="5B6172"/>
                          </a:solidFill>
                          <a:latin typeface="Calibri"/>
                        </a:rPr>
                        <a:t>error bound we are told</a:t>
                      </a:r>
                    </a:p>
                  </a:txBody>
                  <a:tcPr marL="109728" marT="36576" marB="36576">
                    <a:solidFill>
                      <a:srgbClr val="FFFFFF"/>
                    </a:solidFill>
                  </a:tcPr>
                </a:tc>
              </a:tr>
              <a:tr h="457200">
                <a:tc>
                  <a:txBody>
                    <a:bodyPr/>
                    <a:lstStyle/>
                    <a:p>
                      <a:r>
                        <a:rPr sz="1200" b="1">
                          <a:solidFill>
                            <a:srgbClr val="1A1D29"/>
                          </a:solidFill>
                          <a:latin typeface="Calibri"/>
                        </a:rPr>
                        <a:t>Offset from grandmaster</a:t>
                      </a:r>
                    </a:p>
                  </a:txBody>
                  <a:tcPr marL="109728" marT="36576" marB="36576">
                    <a:solidFill>
                      <a:srgbClr val="EDF1FB"/>
                    </a:solidFill>
                  </a:tcPr>
                </a:tc>
                <a:tc>
                  <a:txBody>
                    <a:bodyPr/>
                    <a:lstStyle/>
                    <a:p>
                      <a:r>
                        <a:rPr sz="1200" b="0">
                          <a:solidFill>
                            <a:srgbClr val="5B6172"/>
                          </a:solidFill>
                          <a:latin typeface="Calibri"/>
                        </a:rPr>
                        <a:t>our offset, measured from the t1–t4 exchange</a:t>
                      </a:r>
                    </a:p>
                  </a:txBody>
                  <a:tcPr marL="109728" marT="36576" marB="36576">
                    <a:solidFill>
                      <a:srgbClr val="EDF1FB"/>
                    </a:solidFill>
                  </a:tcPr>
                </a:tc>
                <a:tc>
                  <a:txBody>
                    <a:bodyPr/>
                    <a:lstStyle/>
                    <a:p>
                      <a:r>
                        <a:rPr sz="1200" b="0">
                          <a:solidFill>
                            <a:srgbClr val="5B6172"/>
                          </a:solidFill>
                          <a:latin typeface="Calibri"/>
                        </a:rPr>
                        <a:t>yes — |offset| term</a:t>
                      </a:r>
                    </a:p>
                  </a:txBody>
                  <a:tcPr marL="109728" marT="36576" marB="36576">
                    <a:solidFill>
                      <a:srgbClr val="EDF1FB"/>
                    </a:solidFill>
                  </a:tcPr>
                </a:tc>
              </a:tr>
              <a:tr h="457200">
                <a:tc>
                  <a:txBody>
                    <a:bodyPr/>
                    <a:lstStyle/>
                    <a:p>
                      <a:r>
                        <a:rPr sz="1200" b="1">
                          <a:solidFill>
                            <a:srgbClr val="1A1D29"/>
                          </a:solidFill>
                          <a:latin typeface="Calibri"/>
                        </a:rPr>
                        <a:t>Local oscillator drift</a:t>
                      </a:r>
                    </a:p>
                  </a:txBody>
                  <a:tcPr marL="109728" marT="36576" marB="36576">
                    <a:solidFill>
                      <a:srgbClr val="FFFFFF"/>
                    </a:solidFill>
                  </a:tcPr>
                </a:tc>
                <a:tc>
                  <a:txBody>
                    <a:bodyPr/>
                    <a:lstStyle/>
                    <a:p>
                      <a:r>
                        <a:rPr sz="1200" b="0">
                          <a:solidFill>
                            <a:srgbClr val="5B6172"/>
                          </a:solidFill>
                          <a:latin typeface="Calibri"/>
                        </a:rPr>
                        <a:t>free-run drift between syncs (ppb–ppm)</a:t>
                      </a:r>
                    </a:p>
                  </a:txBody>
                  <a:tcPr marL="109728" marT="36576" marB="36576">
                    <a:solidFill>
                      <a:srgbClr val="FFFFFF"/>
                    </a:solidFill>
                  </a:tcPr>
                </a:tc>
                <a:tc>
                  <a:txBody>
                    <a:bodyPr/>
                    <a:lstStyle/>
                    <a:p>
                      <a:r>
                        <a:rPr sz="1200" b="0">
                          <a:solidFill>
                            <a:srgbClr val="5B6172"/>
                          </a:solidFill>
                          <a:latin typeface="Calibri"/>
                        </a:rPr>
                        <a:t>yes — drift term</a:t>
                      </a:r>
                    </a:p>
                  </a:txBody>
                  <a:tcPr marL="109728" marT="36576" marB="36576">
                    <a:solidFill>
                      <a:srgbClr val="FFFFFF"/>
                    </a:solidFill>
                  </a:tcPr>
                </a:tc>
              </a:tr>
              <a:tr h="457200">
                <a:tc>
                  <a:txBody>
                    <a:bodyPr/>
                    <a:lstStyle/>
                    <a:p>
                      <a:r>
                        <a:rPr sz="1200" b="1">
                          <a:solidFill>
                            <a:srgbClr val="1A1D29"/>
                          </a:solidFill>
                          <a:latin typeface="Calibri"/>
                        </a:rPr>
                        <a:t>Holdover</a:t>
                      </a:r>
                    </a:p>
                  </a:txBody>
                  <a:tcPr marL="109728" marT="36576" marB="36576">
                    <a:solidFill>
                      <a:srgbClr val="EDF1FB"/>
                    </a:solidFill>
                  </a:tcPr>
                </a:tc>
                <a:tc>
                  <a:txBody>
                    <a:bodyPr/>
                    <a:lstStyle/>
                    <a:p>
                      <a:r>
                        <a:rPr sz="1200" b="0">
                          <a:solidFill>
                            <a:srgbClr val="5B6172"/>
                          </a:solidFill>
                          <a:latin typeface="Calibri"/>
                        </a:rPr>
                        <a:t>drift with no discipline (ptp4l down)</a:t>
                      </a:r>
                    </a:p>
                  </a:txBody>
                  <a:tcPr marL="109728" marT="36576" marB="36576">
                    <a:solidFill>
                      <a:srgbClr val="EDF1FB"/>
                    </a:solidFill>
                  </a:tcPr>
                </a:tc>
                <a:tc>
                  <a:txBody>
                    <a:bodyPr/>
                    <a:lstStyle/>
                    <a:p>
                      <a:r>
                        <a:rPr sz="1200" b="0">
                          <a:solidFill>
                            <a:srgbClr val="5B6172"/>
                          </a:solidFill>
                          <a:latin typeface="Calibri"/>
                        </a:rPr>
                        <a:t>yes — anchor held, drift grows</a:t>
                      </a:r>
                    </a:p>
                  </a:txBody>
                  <a:tcPr marL="109728" marT="36576" marB="36576">
                    <a:solidFill>
                      <a:srgbClr val="EDF1FB"/>
                    </a:solidFill>
                  </a:tcPr>
                </a:tc>
              </a:tr>
              <a:tr h="457200">
                <a:tc>
                  <a:txBody>
                    <a:bodyPr/>
                    <a:lstStyle/>
                    <a:p>
                      <a:r>
                        <a:rPr sz="1200" b="1">
                          <a:solidFill>
                            <a:srgbClr val="1A1D29"/>
                          </a:solidFill>
                          <a:latin typeface="Calibri"/>
                        </a:rPr>
                        <a:t>Clock read delays</a:t>
                      </a:r>
                    </a:p>
                  </a:txBody>
                  <a:tcPr marL="109728" marT="36576" marB="36576">
                    <a:solidFill>
                      <a:srgbClr val="FFFFFF"/>
                    </a:solidFill>
                  </a:tcPr>
                </a:tc>
                <a:tc>
                  <a:txBody>
                    <a:bodyPr/>
                    <a:lstStyle/>
                    <a:p>
                      <a:r>
                        <a:rPr sz="1200" b="0">
                          <a:solidFill>
                            <a:srgbClr val="5B6172"/>
                          </a:solidFill>
                          <a:latin typeface="Calibri"/>
                        </a:rPr>
                        <a:t>latency to read the PHC / clock_gettime</a:t>
                      </a:r>
                    </a:p>
                  </a:txBody>
                  <a:tcPr marL="109728" marT="36576" marB="36576">
                    <a:solidFill>
                      <a:srgbClr val="FFFFFF"/>
                    </a:solidFill>
                  </a:tcPr>
                </a:tc>
                <a:tc>
                  <a:txBody>
                    <a:bodyPr/>
                    <a:lstStyle/>
                    <a:p>
                      <a:r>
                        <a:rPr sz="1200" b="0">
                          <a:solidFill>
                            <a:srgbClr val="5B6172"/>
                          </a:solidFill>
                          <a:latin typeface="Calibri"/>
                        </a:rPr>
                        <a:t>partial — capture-point dependent</a:t>
                      </a:r>
                    </a:p>
                  </a:txBody>
                  <a:tcPr marL="109728" marT="36576" marB="36576">
                    <a:solidFill>
                      <a:srgbClr val="FFFFFF"/>
                    </a:solidFill>
                  </a:tcPr>
                </a:tc>
              </a:tr>
              <a:tr h="457200">
                <a:tc>
                  <a:txBody>
                    <a:bodyPr/>
                    <a:lstStyle/>
                    <a:p>
                      <a:r>
                        <a:rPr sz="1200" b="1">
                          <a:solidFill>
                            <a:srgbClr val="1A1D29"/>
                          </a:solidFill>
                          <a:latin typeface="Calibri"/>
                        </a:rPr>
                        <a:t>Clock resolution</a:t>
                      </a:r>
                    </a:p>
                  </a:txBody>
                  <a:tcPr marL="109728" marT="36576" marB="36576">
                    <a:solidFill>
                      <a:srgbClr val="EDF1FB"/>
                    </a:solidFill>
                  </a:tcPr>
                </a:tc>
                <a:tc>
                  <a:txBody>
                    <a:bodyPr/>
                    <a:lstStyle/>
                    <a:p>
                      <a:r>
                        <a:rPr sz="1200" b="0">
                          <a:solidFill>
                            <a:srgbClr val="5B6172"/>
                          </a:solidFill>
                          <a:latin typeface="Calibri"/>
                        </a:rPr>
                        <a:t>granularity of the timestamp tick</a:t>
                      </a:r>
                    </a:p>
                  </a:txBody>
                  <a:tcPr marL="109728" marT="36576" marB="36576">
                    <a:solidFill>
                      <a:srgbClr val="EDF1FB"/>
                    </a:solidFill>
                  </a:tcPr>
                </a:tc>
                <a:tc>
                  <a:txBody>
                    <a:bodyPr/>
                    <a:lstStyle/>
                    <a:p>
                      <a:r>
                        <a:rPr sz="1200" b="0">
                          <a:solidFill>
                            <a:srgbClr val="5B6172"/>
                          </a:solidFill>
                          <a:latin typeface="Calibri"/>
                        </a:rPr>
                        <a:t>bounded by tick size</a:t>
                      </a:r>
                    </a:p>
                  </a:txBody>
                  <a:tcPr marL="109728" marT="36576" marB="36576">
                    <a:solidFill>
                      <a:srgbClr val="EDF1FB"/>
                    </a:solidFill>
                  </a:tcPr>
                </a:tc>
              </a:tr>
              <a:tr h="457200">
                <a:tc>
                  <a:txBody>
                    <a:bodyPr/>
                    <a:lstStyle/>
                    <a:p>
                      <a:r>
                        <a:rPr sz="1200" b="1">
                          <a:solidFill>
                            <a:srgbClr val="1A1D29"/>
                          </a:solidFill>
                          <a:latin typeface="Calibri"/>
                        </a:rPr>
                        <a:t>Accumulated path-element delays</a:t>
                      </a:r>
                    </a:p>
                  </a:txBody>
                  <a:tcPr marL="109728" marT="36576" marB="36576">
                    <a:solidFill>
                      <a:srgbClr val="FFFFFF"/>
                    </a:solidFill>
                  </a:tcPr>
                </a:tc>
                <a:tc>
                  <a:txBody>
                    <a:bodyPr/>
                    <a:lstStyle/>
                    <a:p>
                      <a:r>
                        <a:rPr sz="1200" b="0">
                          <a:solidFill>
                            <a:srgbClr val="5B6172"/>
                          </a:solidFill>
                          <a:latin typeface="Calibri"/>
                        </a:rPr>
                        <a:t>residence + queueing over each hop</a:t>
                      </a:r>
                    </a:p>
                  </a:txBody>
                  <a:tcPr marL="109728" marT="36576" marB="36576">
                    <a:solidFill>
                      <a:srgbClr val="FFFFFF"/>
                    </a:solidFill>
                  </a:tcPr>
                </a:tc>
                <a:tc>
                  <a:txBody>
                    <a:bodyPr/>
                    <a:lstStyle/>
                    <a:p>
                      <a:r>
                        <a:rPr sz="1200" b="0">
                          <a:solidFill>
                            <a:srgbClr val="5B6172"/>
                          </a:solidFill>
                          <a:latin typeface="Calibri"/>
                        </a:rPr>
                        <a:t>compensated by PTP (mean)</a:t>
                      </a:r>
                    </a:p>
                  </a:txBody>
                  <a:tcPr marL="109728" marT="36576" marB="36576">
                    <a:solidFill>
                      <a:srgbClr val="FFFFFF"/>
                    </a:solidFill>
                  </a:tcPr>
                </a:tc>
              </a:tr>
              <a:tr h="457200">
                <a:tc>
                  <a:txBody>
                    <a:bodyPr/>
                    <a:lstStyle/>
                    <a:p>
                      <a:r>
                        <a:rPr sz="1200" b="1">
                          <a:solidFill>
                            <a:srgbClr val="1A1D29"/>
                          </a:solidFill>
                          <a:latin typeface="Calibri"/>
                        </a:rPr>
                        <a:t>Link asymmetry</a:t>
                      </a:r>
                    </a:p>
                  </a:txBody>
                  <a:tcPr marL="109728" marT="36576" marB="36576">
                    <a:solidFill>
                      <a:srgbClr val="EDF1FB"/>
                    </a:solidFill>
                  </a:tcPr>
                </a:tc>
                <a:tc>
                  <a:txBody>
                    <a:bodyPr/>
                    <a:lstStyle/>
                    <a:p>
                      <a:r>
                        <a:rPr sz="1200" b="0">
                          <a:solidFill>
                            <a:srgbClr val="5B6172"/>
                          </a:solidFill>
                          <a:latin typeface="Calibri"/>
                        </a:rPr>
                        <a:t>up and down paths differ</a:t>
                      </a:r>
                    </a:p>
                  </a:txBody>
                  <a:tcPr marL="109728" marT="36576" marB="36576">
                    <a:solidFill>
                      <a:srgbClr val="EDF1FB"/>
                    </a:solidFill>
                  </a:tcPr>
                </a:tc>
                <a:tc>
                  <a:txBody>
                    <a:bodyPr/>
                    <a:lstStyle/>
                    <a:p>
                      <a:r>
                        <a:rPr sz="1200" b="0">
                          <a:solidFill>
                            <a:srgbClr val="5B6172"/>
                          </a:solidFill>
                          <a:latin typeface="Calibri"/>
                        </a:rPr>
                        <a:t>unmodeled — conservative gap</a:t>
                      </a:r>
                    </a:p>
                  </a:txBody>
                  <a:tcPr marL="109728" marT="36576" marB="36576">
                    <a:solidFill>
                      <a:srgbClr val="EDF1FB"/>
                    </a:solidFill>
                  </a:tcPr>
                </a:tc>
              </a:tr>
            </a:tbl>
          </a:graphicData>
        </a:graphic>
      </p:graphicFrame>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ANATOMY</a:t>
            </a:r>
          </a:p>
        </p:txBody>
      </p:sp>
      <p:sp>
        <p:nvSpPr>
          <p:cNvPr id="4" name="TextBox 3"/>
          <p:cNvSpPr txBox="1"/>
          <p:nvPr/>
        </p:nvSpPr>
        <p:spPr>
          <a:xfrm>
            <a:off x="502920" y="566928"/>
            <a:ext cx="11155680" cy="82296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Layers 1–2: oscillator &amp; PHC clock</a:t>
            </a:r>
          </a:p>
        </p:txBody>
      </p:sp>
      <p:sp>
        <p:nvSpPr>
          <p:cNvPr id="5" name="TextBox 4"/>
          <p:cNvSpPr txBox="1"/>
          <p:nvPr/>
        </p:nvSpPr>
        <p:spPr>
          <a:xfrm>
            <a:off x="640080" y="1554480"/>
            <a:ext cx="10972800" cy="4754880"/>
          </a:xfrm>
          <a:prstGeom prst="rect">
            <a:avLst/>
          </a:prstGeom>
          <a:noFill/>
        </p:spPr>
        <p:txBody>
          <a:bodyPr wrap="square" anchor="t" lIns="0" rIns="0" tIns="0" bIns="0">
            <a:spAutoFit/>
          </a:bodyPr>
          <a:lstStyle/>
          <a:p>
            <a:pPr algn="l">
              <a:spcBef>
                <a:spcPts val="0"/>
              </a:spcBef>
              <a:spcAft>
                <a:spcPts val="1000"/>
              </a:spcAft>
            </a:pPr>
            <a:r>
              <a:rPr sz="1800" b="1" i="0">
                <a:solidFill>
                  <a:srgbClr val="2E6BE6"/>
                </a:solidFill>
                <a:latin typeface="Calibri"/>
              </a:rPr>
              <a:t>▸  </a:t>
            </a:r>
            <a:r>
              <a:rPr sz="1800" b="0" i="0">
                <a:solidFill>
                  <a:srgbClr val="1A1D29"/>
                </a:solidFill>
                <a:latin typeface="Calibri"/>
              </a:rPr>
              <a:t>Oscillator (layer 1): TCXO/OCXO stability (ppb), temperature sensitivity, free-run drift</a:t>
            </a:r>
          </a:p>
          <a:p>
            <a:pPr algn="l">
              <a:spcBef>
                <a:spcPts val="0"/>
              </a:spcBef>
              <a:spcAft>
                <a:spcPts val="1000"/>
              </a:spcAft>
            </a:pPr>
            <a:r>
              <a:rPr sz="1800" b="1" i="0">
                <a:solidFill>
                  <a:srgbClr val="2E6BE6"/>
                </a:solidFill>
                <a:latin typeface="Calibri"/>
              </a:rPr>
              <a:t>▸  </a:t>
            </a:r>
            <a:r>
              <a:rPr sz="1800" b="0" i="0">
                <a:solidFill>
                  <a:srgbClr val="1A1D29"/>
                </a:solidFill>
                <a:latin typeface="Calibri"/>
              </a:rPr>
              <a:t>PHC clock (layer 2): the disciplined hardware clock we actually read</a:t>
            </a:r>
          </a:p>
          <a:p>
            <a:pPr algn="l">
              <a:spcBef>
                <a:spcPts val="0"/>
              </a:spcBef>
              <a:spcAft>
                <a:spcPts val="1000"/>
              </a:spcAft>
            </a:pPr>
            <a:r>
              <a:rPr sz="1600" b="0" i="0">
                <a:solidFill>
                  <a:srgbClr val="5B6172"/>
                </a:solidFill>
                <a:latin typeface="Calibri"/>
              </a:rPr>
              <a:t>        –  </a:t>
            </a:r>
            <a:r>
              <a:rPr sz="1600" b="0" i="0">
                <a:solidFill>
                  <a:srgbClr val="5B6172"/>
                </a:solidFill>
                <a:latin typeface="Calibri"/>
              </a:rPr>
              <a:t>offsetFromMaster — offset estimate</a:t>
            </a:r>
          </a:p>
          <a:p>
            <a:pPr algn="l">
              <a:spcBef>
                <a:spcPts val="0"/>
              </a:spcBef>
              <a:spcAft>
                <a:spcPts val="1000"/>
              </a:spcAft>
            </a:pPr>
            <a:r>
              <a:rPr sz="1600" b="0" i="0">
                <a:solidFill>
                  <a:srgbClr val="5B6172"/>
                </a:solidFill>
                <a:latin typeface="Calibri"/>
              </a:rPr>
              <a:t>        –  </a:t>
            </a:r>
            <a:r>
              <a:rPr sz="1600" b="0" i="0">
                <a:solidFill>
                  <a:srgbClr val="5B6172"/>
                </a:solidFill>
                <a:latin typeface="Calibri"/>
              </a:rPr>
              <a:t>clock resolution — granularity of a single tick</a:t>
            </a:r>
          </a:p>
          <a:p>
            <a:pPr algn="l">
              <a:spcBef>
                <a:spcPts val="0"/>
              </a:spcBef>
              <a:spcAft>
                <a:spcPts val="1000"/>
              </a:spcAft>
            </a:pPr>
            <a:r>
              <a:rPr sz="1600" b="0" i="0">
                <a:solidFill>
                  <a:srgbClr val="5B6172"/>
                </a:solidFill>
                <a:latin typeface="Calibri"/>
              </a:rPr>
              <a:t>        –  </a:t>
            </a:r>
            <a:r>
              <a:rPr sz="1600" b="0" i="0">
                <a:solidFill>
                  <a:srgbClr val="5B6172"/>
                </a:solidFill>
                <a:latin typeface="Calibri"/>
              </a:rPr>
              <a:t>PHC read latency — the cost of reading it</a:t>
            </a:r>
          </a:p>
          <a:p>
            <a:pPr algn="l">
              <a:spcBef>
                <a:spcPts val="0"/>
              </a:spcBef>
              <a:spcAft>
                <a:spcPts val="1000"/>
              </a:spcAft>
            </a:pPr>
            <a:r>
              <a:rPr sz="1800" b="1" i="0">
                <a:solidFill>
                  <a:srgbClr val="2E6BE6"/>
                </a:solidFill>
                <a:latin typeface="Calibri"/>
              </a:rPr>
              <a:t>▸  </a:t>
            </a:r>
            <a:r>
              <a:rPr sz="1800" b="0" i="0">
                <a:solidFill>
                  <a:srgbClr val="1A1D29"/>
                </a:solidFill>
                <a:latin typeface="Calibri"/>
              </a:rPr>
              <a:t>The servo converges toward zero offset; it never mathematically reaches it</a:t>
            </a:r>
          </a:p>
        </p:txBody>
      </p:sp>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ANATOMY</a:t>
            </a:r>
          </a:p>
        </p:txBody>
      </p:sp>
      <p:sp>
        <p:nvSpPr>
          <p:cNvPr id="4" name="TextBox 3"/>
          <p:cNvSpPr txBox="1"/>
          <p:nvPr/>
        </p:nvSpPr>
        <p:spPr>
          <a:xfrm>
            <a:off x="502920" y="566928"/>
            <a:ext cx="11155680" cy="82296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Layer 4: where was the timestamp taken?</a:t>
            </a:r>
          </a:p>
        </p:txBody>
      </p:sp>
      <p:graphicFrame>
        <p:nvGraphicFramePr>
          <p:cNvPr id="5" name="Table 4"/>
          <p:cNvGraphicFramePr>
            <a:graphicFrameLocks noGrp="1"/>
          </p:cNvGraphicFramePr>
          <p:nvPr/>
        </p:nvGraphicFramePr>
        <p:xfrm>
          <a:off x="640080" y="1645920"/>
          <a:ext cx="10881360" cy="1828800"/>
        </p:xfrm>
        <a:graphic>
          <a:graphicData uri="http://schemas.openxmlformats.org/drawingml/2006/table">
            <a:tbl>
              <a:tblPr firstRow="1" bandRow="1">
                <a:tableStyleId>{5C22544A-7EE6-4342-B048-85BDC9FD1C3A}</a:tableStyleId>
              </a:tblPr>
              <a:tblGrid>
                <a:gridCol w="3627120"/>
                <a:gridCol w="3627120"/>
                <a:gridCol w="3627120"/>
              </a:tblGrid>
              <a:tr h="457200">
                <a:tc>
                  <a:txBody>
                    <a:bodyPr/>
                    <a:lstStyle/>
                    <a:p>
                      <a:r>
                        <a:rPr b="1" sz="1500">
                          <a:solidFill>
                            <a:srgbClr val="FFFFFF"/>
                          </a:solidFill>
                          <a:latin typeface="Calibri"/>
                        </a:rPr>
                        <a:t>Method</a:t>
                      </a:r>
                    </a:p>
                  </a:txBody>
                  <a:tcPr marL="109728" marT="45720" marB="45720">
                    <a:solidFill>
                      <a:srgbClr val="2E6BE6"/>
                    </a:solidFill>
                  </a:tcPr>
                </a:tc>
                <a:tc>
                  <a:txBody>
                    <a:bodyPr/>
                    <a:lstStyle/>
                    <a:p>
                      <a:r>
                        <a:rPr b="1" sz="1500">
                          <a:solidFill>
                            <a:srgbClr val="FFFFFF"/>
                          </a:solidFill>
                          <a:latin typeface="Calibri"/>
                        </a:rPr>
                        <a:t>Typical error</a:t>
                      </a:r>
                    </a:p>
                  </a:txBody>
                  <a:tcPr marL="109728" marT="45720" marB="45720">
                    <a:solidFill>
                      <a:srgbClr val="2E6BE6"/>
                    </a:solidFill>
                  </a:tcPr>
                </a:tc>
                <a:tc>
                  <a:txBody>
                    <a:bodyPr/>
                    <a:lstStyle/>
                    <a:p>
                      <a:r>
                        <a:rPr b="1" sz="1500">
                          <a:solidFill>
                            <a:srgbClr val="FFFFFF"/>
                          </a:solidFill>
                          <a:latin typeface="Calibri"/>
                        </a:rPr>
                        <a:t>Notes</a:t>
                      </a:r>
                    </a:p>
                  </a:txBody>
                  <a:tcPr marL="109728" marT="45720" marB="45720">
                    <a:solidFill>
                      <a:srgbClr val="2E6BE6"/>
                    </a:solidFill>
                  </a:tcPr>
                </a:tc>
              </a:tr>
              <a:tr h="457200">
                <a:tc>
                  <a:txBody>
                    <a:bodyPr/>
                    <a:lstStyle/>
                    <a:p>
                      <a:r>
                        <a:rPr sz="1350" b="1">
                          <a:solidFill>
                            <a:srgbClr val="1A1D29"/>
                          </a:solidFill>
                          <a:latin typeface="Calibri"/>
                        </a:rPr>
                        <a:t>PHC hardware RX timestamp</a:t>
                      </a:r>
                    </a:p>
                  </a:txBody>
                  <a:tcPr marL="109728" marT="36576" marB="36576">
                    <a:solidFill>
                      <a:srgbClr val="FFFFFF"/>
                    </a:solidFill>
                  </a:tcPr>
                </a:tc>
                <a:tc>
                  <a:txBody>
                    <a:bodyPr/>
                    <a:lstStyle/>
                    <a:p>
                      <a:r>
                        <a:rPr sz="1350" b="0">
                          <a:solidFill>
                            <a:srgbClr val="5B6172"/>
                          </a:solidFill>
                          <a:latin typeface="Calibri"/>
                        </a:rPr>
                        <a:t>smallest</a:t>
                      </a:r>
                    </a:p>
                  </a:txBody>
                  <a:tcPr marL="109728" marT="36576" marB="36576">
                    <a:solidFill>
                      <a:srgbClr val="FFFFFF"/>
                    </a:solidFill>
                  </a:tcPr>
                </a:tc>
                <a:tc>
                  <a:txBody>
                    <a:bodyPr/>
                    <a:lstStyle/>
                    <a:p>
                      <a:r>
                        <a:rPr sz="1350" b="0">
                          <a:solidFill>
                            <a:srgbClr val="5B6172"/>
                          </a:solidFill>
                          <a:latin typeface="Calibri"/>
                        </a:rPr>
                        <a:t>needs NIC/driver support</a:t>
                      </a:r>
                    </a:p>
                  </a:txBody>
                  <a:tcPr marL="109728" marT="36576" marB="36576">
                    <a:solidFill>
                      <a:srgbClr val="FFFFFF"/>
                    </a:solidFill>
                  </a:tcPr>
                </a:tc>
              </a:tr>
              <a:tr h="457200">
                <a:tc>
                  <a:txBody>
                    <a:bodyPr/>
                    <a:lstStyle/>
                    <a:p>
                      <a:r>
                        <a:rPr sz="1350" b="1">
                          <a:solidFill>
                            <a:srgbClr val="1A1D29"/>
                          </a:solidFill>
                          <a:latin typeface="Calibri"/>
                        </a:rPr>
                        <a:t>SO_TIMESTAMPING (software)</a:t>
                      </a:r>
                    </a:p>
                  </a:txBody>
                  <a:tcPr marL="109728" marT="36576" marB="36576">
                    <a:solidFill>
                      <a:srgbClr val="EDF1FB"/>
                    </a:solidFill>
                  </a:tcPr>
                </a:tc>
                <a:tc>
                  <a:txBody>
                    <a:bodyPr/>
                    <a:lstStyle/>
                    <a:p>
                      <a:r>
                        <a:rPr sz="1350" b="0">
                          <a:solidFill>
                            <a:srgbClr val="5B6172"/>
                          </a:solidFill>
                          <a:latin typeface="Calibri"/>
                        </a:rPr>
                        <a:t>larger</a:t>
                      </a:r>
                    </a:p>
                  </a:txBody>
                  <a:tcPr marL="109728" marT="36576" marB="36576">
                    <a:solidFill>
                      <a:srgbClr val="EDF1FB"/>
                    </a:solidFill>
                  </a:tcPr>
                </a:tc>
                <a:tc>
                  <a:txBody>
                    <a:bodyPr/>
                    <a:lstStyle/>
                    <a:p>
                      <a:r>
                        <a:rPr sz="1350" b="0">
                          <a:solidFill>
                            <a:srgbClr val="5B6172"/>
                          </a:solidFill>
                          <a:latin typeface="Calibri"/>
                        </a:rPr>
                        <a:t>IRQ + softirq delay</a:t>
                      </a:r>
                    </a:p>
                  </a:txBody>
                  <a:tcPr marL="109728" marT="36576" marB="36576">
                    <a:solidFill>
                      <a:srgbClr val="EDF1FB"/>
                    </a:solidFill>
                  </a:tcPr>
                </a:tc>
              </a:tr>
              <a:tr h="457200">
                <a:tc>
                  <a:txBody>
                    <a:bodyPr/>
                    <a:lstStyle/>
                    <a:p>
                      <a:r>
                        <a:rPr sz="1350" b="1">
                          <a:solidFill>
                            <a:srgbClr val="1A1D29"/>
                          </a:solidFill>
                          <a:latin typeface="Calibri"/>
                        </a:rPr>
                        <a:t>clock_gettime() in app</a:t>
                      </a:r>
                    </a:p>
                  </a:txBody>
                  <a:tcPr marL="109728" marT="36576" marB="36576">
                    <a:solidFill>
                      <a:srgbClr val="FFFFFF"/>
                    </a:solidFill>
                  </a:tcPr>
                </a:tc>
                <a:tc>
                  <a:txBody>
                    <a:bodyPr/>
                    <a:lstStyle/>
                    <a:p>
                      <a:r>
                        <a:rPr sz="1350" b="0">
                          <a:solidFill>
                            <a:srgbClr val="5B6172"/>
                          </a:solidFill>
                          <a:latin typeface="Calibri"/>
                        </a:rPr>
                        <a:t>largest</a:t>
                      </a:r>
                    </a:p>
                  </a:txBody>
                  <a:tcPr marL="109728" marT="36576" marB="36576">
                    <a:solidFill>
                      <a:srgbClr val="FFFFFF"/>
                    </a:solidFill>
                  </a:tcPr>
                </a:tc>
                <a:tc>
                  <a:txBody>
                    <a:bodyPr/>
                    <a:lstStyle/>
                    <a:p>
                      <a:r>
                        <a:rPr sz="1350" b="0">
                          <a:solidFill>
                            <a:srgbClr val="5B6172"/>
                          </a:solidFill>
                          <a:latin typeface="Calibri"/>
                        </a:rPr>
                        <a:t>syscall + scheduling jitter</a:t>
                      </a:r>
                    </a:p>
                  </a:txBody>
                  <a:tcPr marL="109728" marT="36576" marB="36576">
                    <a:solidFill>
                      <a:srgbClr val="FFFFFF"/>
                    </a:solidFill>
                  </a:tcPr>
                </a:tc>
              </a:tr>
            </a:tbl>
          </a:graphicData>
        </a:graphic>
      </p:graphicFrame>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ANATOMY</a:t>
            </a:r>
          </a:p>
        </p:txBody>
      </p:sp>
      <p:sp>
        <p:nvSpPr>
          <p:cNvPr id="4" name="TextBox 3"/>
          <p:cNvSpPr txBox="1"/>
          <p:nvPr/>
        </p:nvSpPr>
        <p:spPr>
          <a:xfrm>
            <a:off x="502920" y="566928"/>
            <a:ext cx="11155680" cy="82296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Layers 3 &amp; 5: network and kernel path</a:t>
            </a:r>
          </a:p>
        </p:txBody>
      </p:sp>
      <p:sp>
        <p:nvSpPr>
          <p:cNvPr id="5" name="TextBox 4"/>
          <p:cNvSpPr txBox="1"/>
          <p:nvPr/>
        </p:nvSpPr>
        <p:spPr>
          <a:xfrm>
            <a:off x="640080" y="1554480"/>
            <a:ext cx="10972800" cy="4754880"/>
          </a:xfrm>
          <a:prstGeom prst="rect">
            <a:avLst/>
          </a:prstGeom>
          <a:noFill/>
        </p:spPr>
        <p:txBody>
          <a:bodyPr wrap="square" anchor="t" lIns="0" rIns="0" tIns="0" bIns="0">
            <a:spAutoFit/>
          </a:bodyPr>
          <a:lstStyle/>
          <a:p>
            <a:pPr algn="l">
              <a:spcBef>
                <a:spcPts val="0"/>
              </a:spcBef>
              <a:spcAft>
                <a:spcPts val="1000"/>
              </a:spcAft>
            </a:pPr>
            <a:r>
              <a:rPr sz="1800" b="1" i="0">
                <a:solidFill>
                  <a:srgbClr val="2E6BE6"/>
                </a:solidFill>
                <a:latin typeface="Calibri"/>
              </a:rPr>
              <a:t>▸  </a:t>
            </a:r>
            <a:r>
              <a:rPr sz="1800" b="0" i="0">
                <a:solidFill>
                  <a:srgbClr val="1A1D29"/>
                </a:solidFill>
                <a:latin typeface="Calibri"/>
              </a:rPr>
              <a:t>Network (layer 3): each hop adds queueing + routing delay</a:t>
            </a:r>
          </a:p>
          <a:p>
            <a:pPr algn="l">
              <a:spcBef>
                <a:spcPts val="0"/>
              </a:spcBef>
              <a:spcAft>
                <a:spcPts val="1000"/>
              </a:spcAft>
            </a:pPr>
            <a:r>
              <a:rPr sz="1600" b="0" i="0">
                <a:solidFill>
                  <a:srgbClr val="5B6172"/>
                </a:solidFill>
                <a:latin typeface="Calibri"/>
              </a:rPr>
              <a:t>        –  </a:t>
            </a:r>
            <a:r>
              <a:rPr sz="1600" b="0" i="0">
                <a:solidFill>
                  <a:srgbClr val="5B6172"/>
                </a:solidFill>
                <a:latin typeface="Calibri"/>
              </a:rPr>
              <a:t>PTP compensates the mean path delay — so it is not in the bound</a:t>
            </a:r>
          </a:p>
          <a:p>
            <a:pPr algn="l">
              <a:spcBef>
                <a:spcPts val="0"/>
              </a:spcBef>
              <a:spcAft>
                <a:spcPts val="1000"/>
              </a:spcAft>
            </a:pPr>
            <a:r>
              <a:rPr sz="1600" b="0" i="0">
                <a:solidFill>
                  <a:srgbClr val="5B6172"/>
                </a:solidFill>
                <a:latin typeface="Calibri"/>
              </a:rPr>
              <a:t>        –  </a:t>
            </a:r>
            <a:r>
              <a:rPr sz="1600" b="0" i="0">
                <a:solidFill>
                  <a:srgbClr val="5B6172"/>
                </a:solidFill>
                <a:latin typeface="Calibri"/>
              </a:rPr>
              <a:t>Residual is link asymmetry (up/down differ), accumulating with hop count — unmodeled</a:t>
            </a:r>
          </a:p>
          <a:p>
            <a:pPr algn="l">
              <a:spcBef>
                <a:spcPts val="0"/>
              </a:spcBef>
              <a:spcAft>
                <a:spcPts val="1000"/>
              </a:spcAft>
            </a:pPr>
            <a:r>
              <a:rPr sz="1800" b="1" i="0">
                <a:solidFill>
                  <a:srgbClr val="2E6BE6"/>
                </a:solidFill>
                <a:latin typeface="Calibri"/>
              </a:rPr>
              <a:t>▸  </a:t>
            </a:r>
            <a:r>
              <a:rPr sz="1800" b="0" i="0">
                <a:solidFill>
                  <a:srgbClr val="1A1D29"/>
                </a:solidFill>
                <a:latin typeface="Calibri"/>
              </a:rPr>
              <a:t>Kernel path (layer 5): Linux exposes useful data — but not as one package:</a:t>
            </a:r>
          </a:p>
          <a:p>
            <a:pPr algn="l">
              <a:spcBef>
                <a:spcPts val="0"/>
              </a:spcBef>
              <a:spcAft>
                <a:spcPts val="1000"/>
              </a:spcAft>
            </a:pPr>
            <a:r>
              <a:rPr sz="1600" b="0" i="0">
                <a:solidFill>
                  <a:srgbClr val="5B6172"/>
                </a:solidFill>
                <a:latin typeface="Calibri"/>
              </a:rPr>
              <a:t>        –  </a:t>
            </a:r>
            <a:r>
              <a:rPr sz="1600" b="0" i="0">
                <a:solidFill>
                  <a:srgbClr val="5B6172"/>
                </a:solidFill>
                <a:latin typeface="Calibri"/>
              </a:rPr>
              <a:t>PTP_SYS_OFFSET / _EXTENDED — PHC vs system clock</a:t>
            </a:r>
          </a:p>
          <a:p>
            <a:pPr algn="l">
              <a:spcBef>
                <a:spcPts val="0"/>
              </a:spcBef>
              <a:spcAft>
                <a:spcPts val="1000"/>
              </a:spcAft>
            </a:pPr>
            <a:r>
              <a:rPr sz="1600" b="0" i="0">
                <a:solidFill>
                  <a:srgbClr val="5B6172"/>
                </a:solidFill>
                <a:latin typeface="Calibri"/>
              </a:rPr>
              <a:t>        –  </a:t>
            </a:r>
            <a:r>
              <a:rPr sz="1600" b="0" i="0">
                <a:solidFill>
                  <a:srgbClr val="5B6172"/>
                </a:solidFill>
                <a:latin typeface="Calibri"/>
              </a:rPr>
              <a:t>SO_TIMESTAMPING — ingress / egress timestamps</a:t>
            </a:r>
          </a:p>
          <a:p>
            <a:pPr algn="l">
              <a:spcBef>
                <a:spcPts val="0"/>
              </a:spcBef>
              <a:spcAft>
                <a:spcPts val="1000"/>
              </a:spcAft>
            </a:pPr>
            <a:r>
              <a:rPr sz="1600" b="0" i="0">
                <a:solidFill>
                  <a:srgbClr val="5B6172"/>
                </a:solidFill>
                <a:latin typeface="Calibri"/>
              </a:rPr>
              <a:t>        –  </a:t>
            </a:r>
            <a:r>
              <a:rPr sz="1600" b="0" i="0">
                <a:solidFill>
                  <a:srgbClr val="5B6172"/>
                </a:solidFill>
                <a:latin typeface="Calibri"/>
              </a:rPr>
              <a:t>ptp4l management API — offset, delay, ingress time</a:t>
            </a:r>
          </a:p>
        </p:txBody>
      </p:sp>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ANATOMY</a:t>
            </a:r>
          </a:p>
        </p:txBody>
      </p:sp>
      <p:sp>
        <p:nvSpPr>
          <p:cNvPr id="4" name="TextBox 3"/>
          <p:cNvSpPr txBox="1"/>
          <p:nvPr/>
        </p:nvSpPr>
        <p:spPr>
          <a:xfrm>
            <a:off x="502920" y="566928"/>
            <a:ext cx="11155680" cy="82296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Layer that everyone forgets: staleness</a:t>
            </a:r>
          </a:p>
        </p:txBody>
      </p:sp>
      <p:sp>
        <p:nvSpPr>
          <p:cNvPr id="5" name="Rectangle 4"/>
          <p:cNvSpPr/>
          <p:nvPr/>
        </p:nvSpPr>
        <p:spPr>
          <a:xfrm>
            <a:off x="640080" y="1600200"/>
            <a:ext cx="10881360" cy="4114800"/>
          </a:xfrm>
          <a:prstGeom prst="rect">
            <a:avLst/>
          </a:prstGeom>
          <a:solidFill>
            <a:srgbClr val="11162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0" rIns="182880" tIns="182880" bIns="182880"/>
          <a:lstStyle/>
          <a:p>
            <a:pPr algn="l">
              <a:spcAft>
                <a:spcPts val="200"/>
              </a:spcAft>
            </a:pPr>
            <a:r>
              <a:rPr sz="1500">
                <a:solidFill>
                  <a:srgbClr val="D6E2FF"/>
                </a:solidFill>
                <a:latin typeface="Consolas"/>
              </a:rPr>
              <a:t>  Between PTP updates, the clock drifts.</a:t>
            </a:r>
          </a:p>
          <a:p>
            <a:pPr algn="l">
              <a:spcAft>
                <a:spcPts val="200"/>
              </a:spcAft>
            </a:pPr>
            <a:r>
              <a:rPr sz="1500">
                <a:solidFill>
                  <a:srgbClr val="D6E2FF"/>
                </a:solidFill>
                <a:latin typeface="Consolas"/>
              </a:rPr>
              <a:t> </a:t>
            </a:r>
          </a:p>
          <a:p>
            <a:pPr algn="l">
              <a:spcAft>
                <a:spcPts val="200"/>
              </a:spcAft>
            </a:pPr>
            <a:r>
              <a:rPr sz="1500">
                <a:solidFill>
                  <a:srgbClr val="D6E2FF"/>
                </a:solidFill>
                <a:latin typeface="Consolas"/>
              </a:rPr>
              <a:t>  U_drift  =  elapsed_time  x  max_drift_rate</a:t>
            </a:r>
          </a:p>
          <a:p>
            <a:pPr algn="l">
              <a:spcAft>
                <a:spcPts val="200"/>
              </a:spcAft>
            </a:pPr>
            <a:r>
              <a:rPr sz="1500">
                <a:solidFill>
                  <a:srgbClr val="D6E2FF"/>
                </a:solidFill>
                <a:latin typeface="Consolas"/>
              </a:rPr>
              <a:t> </a:t>
            </a:r>
          </a:p>
          <a:p>
            <a:pPr algn="l">
              <a:spcAft>
                <a:spcPts val="200"/>
              </a:spcAft>
            </a:pPr>
            <a:r>
              <a:rPr sz="1500">
                <a:solidFill>
                  <a:srgbClr val="D6E2FF"/>
                </a:solidFill>
                <a:latin typeface="Consolas"/>
              </a:rPr>
              <a:t>  Example:  100 ppm  x  1 s   =   100 microseconds</a:t>
            </a:r>
          </a:p>
          <a:p>
            <a:pPr algn="l">
              <a:spcAft>
                <a:spcPts val="200"/>
              </a:spcAft>
            </a:pPr>
            <a:r>
              <a:rPr sz="1500">
                <a:solidFill>
                  <a:srgbClr val="D6E2FF"/>
                </a:solidFill>
                <a:latin typeface="Consolas"/>
              </a:rPr>
              <a:t> </a:t>
            </a:r>
          </a:p>
          <a:p>
            <a:pPr algn="l">
              <a:spcAft>
                <a:spcPts val="200"/>
              </a:spcAft>
            </a:pPr>
            <a:r>
              <a:rPr sz="1500">
                <a:solidFill>
                  <a:srgbClr val="D6E2FF"/>
                </a:solidFill>
                <a:latin typeface="Consolas"/>
              </a:rPr>
              <a:t>  A perfect offset at sync ingress still becomes</a:t>
            </a:r>
          </a:p>
          <a:p>
            <a:pPr algn="l">
              <a:spcAft>
                <a:spcPts val="200"/>
              </a:spcAft>
            </a:pPr>
            <a:r>
              <a:rPr sz="1500">
                <a:solidFill>
                  <a:srgbClr val="D6E2FF"/>
                </a:solidFill>
                <a:latin typeface="Consolas"/>
              </a:rPr>
              <a:t>  a GROWING interval a moment later.</a:t>
            </a:r>
          </a:p>
        </p:txBody>
      </p:sp>
      <p:sp>
        <p:nvSpPr>
          <p:cNvPr id="6" name="TextBox 5"/>
          <p:cNvSpPr txBox="1"/>
          <p:nvPr/>
        </p:nvSpPr>
        <p:spPr>
          <a:xfrm>
            <a:off x="658368" y="5824728"/>
            <a:ext cx="10881360" cy="457200"/>
          </a:xfrm>
          <a:prstGeom prst="rect">
            <a:avLst/>
          </a:prstGeom>
          <a:noFill/>
        </p:spPr>
        <p:txBody>
          <a:bodyPr wrap="square" anchor="t" lIns="0" rIns="0" tIns="0" bIns="0">
            <a:spAutoFit/>
          </a:bodyPr>
          <a:lstStyle/>
          <a:p>
            <a:pPr algn="l">
              <a:spcBef>
                <a:spcPts val="0"/>
              </a:spcBef>
              <a:spcAft>
                <a:spcPts val="600"/>
              </a:spcAft>
            </a:pPr>
            <a:r>
              <a:rPr sz="1500" b="0" i="1">
                <a:solidFill>
                  <a:srgbClr val="5B6172"/>
                </a:solidFill>
                <a:latin typeface="Calibri"/>
              </a:rPr>
              <a:t>Staleness turns a point sync measurement into a growing interval — this is what the model daemon implements.</a:t>
            </a:r>
          </a:p>
        </p:txBody>
      </p:sp>
      <p:sp>
        <p:nvSpPr>
          <p:cNvPr id="7" name="Rectangle 6"/>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9" name="TextBox 8"/>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E6BE6"/>
        </a:solidFill>
        <a:effectLst/>
      </p:bgPr>
    </p:bg>
    <p:spTree>
      <p:nvGrpSpPr>
        <p:cNvPr id="1" name=""/>
        <p:cNvGrpSpPr/>
        <p:nvPr/>
      </p:nvGrpSpPr>
      <p:grpSpPr/>
      <p:sp>
        <p:nvSpPr>
          <p:cNvPr id="2" name="Rectangle 1"/>
          <p:cNvSpPr/>
          <p:nvPr/>
        </p:nvSpPr>
        <p:spPr>
          <a:xfrm>
            <a:off x="0" y="2468880"/>
            <a:ext cx="3200400" cy="914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058400" cy="548640"/>
          </a:xfrm>
          <a:prstGeom prst="rect">
            <a:avLst/>
          </a:prstGeom>
          <a:noFill/>
        </p:spPr>
        <p:txBody>
          <a:bodyPr wrap="square" anchor="t" lIns="0" rIns="0" tIns="0" bIns="0">
            <a:spAutoFit/>
          </a:bodyPr>
          <a:lstStyle/>
          <a:p>
            <a:pPr algn="l">
              <a:spcBef>
                <a:spcPts val="0"/>
              </a:spcBef>
              <a:spcAft>
                <a:spcPts val="600"/>
              </a:spcAft>
            </a:pPr>
            <a:r>
              <a:rPr sz="2000" b="1" i="0">
                <a:solidFill>
                  <a:srgbClr val="C7D2F0"/>
                </a:solidFill>
                <a:latin typeface="Calibri"/>
              </a:rPr>
              <a:t>PART 4</a:t>
            </a:r>
          </a:p>
        </p:txBody>
      </p:sp>
      <p:sp>
        <p:nvSpPr>
          <p:cNvPr id="4" name="TextBox 3"/>
          <p:cNvSpPr txBox="1"/>
          <p:nvPr/>
        </p:nvSpPr>
        <p:spPr>
          <a:xfrm>
            <a:off x="804672" y="2697480"/>
            <a:ext cx="10515600" cy="1828800"/>
          </a:xfrm>
          <a:prstGeom prst="rect">
            <a:avLst/>
          </a:prstGeom>
          <a:noFill/>
        </p:spPr>
        <p:txBody>
          <a:bodyPr wrap="square" anchor="t" lIns="0" rIns="0" tIns="0" bIns="0">
            <a:spAutoFit/>
          </a:bodyPr>
          <a:lstStyle/>
          <a:p>
            <a:pPr algn="l">
              <a:spcBef>
                <a:spcPts val="0"/>
              </a:spcBef>
              <a:spcAft>
                <a:spcPts val="600"/>
              </a:spcAft>
            </a:pPr>
            <a:r>
              <a:rPr sz="4000" b="1" i="0">
                <a:solidFill>
                  <a:srgbClr val="FFFFFF"/>
                </a:solidFill>
                <a:latin typeface="Calibri"/>
              </a:rPr>
              <a:t>Turning PTP state into a bound</a:t>
            </a:r>
          </a:p>
        </p:txBody>
      </p:sp>
      <p:sp>
        <p:nvSpPr>
          <p:cNvPr id="5" name="TextBox 4"/>
          <p:cNvSpPr txBox="1"/>
          <p:nvPr/>
        </p:nvSpPr>
        <p:spPr>
          <a:xfrm>
            <a:off x="11002975" y="6263640"/>
            <a:ext cx="822960" cy="365760"/>
          </a:xfrm>
          <a:prstGeom prst="rect">
            <a:avLst/>
          </a:prstGeom>
          <a:noFill/>
        </p:spPr>
        <p:txBody>
          <a:bodyPr wrap="square" anchor="t" lIns="0" rIns="0" tIns="0" bIns="0">
            <a:spAutoFit/>
          </a:bodyPr>
          <a:lstStyle/>
          <a:p>
            <a:pPr algn="r">
              <a:spcBef>
                <a:spcPts val="0"/>
              </a:spcBef>
              <a:spcAft>
                <a:spcPts val="600"/>
              </a:spcAft>
            </a:pPr>
            <a:r>
              <a:rPr sz="1200" b="1" i="0">
                <a:solidFill>
                  <a:srgbClr val="FFFFFF"/>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PTP → BOUND</a:t>
            </a:r>
          </a:p>
        </p:txBody>
      </p:sp>
      <p:sp>
        <p:nvSpPr>
          <p:cNvPr id="4" name="TextBox 3"/>
          <p:cNvSpPr txBox="1"/>
          <p:nvPr/>
        </p:nvSpPr>
        <p:spPr>
          <a:xfrm>
            <a:off x="502920" y="566928"/>
            <a:ext cx="11155680" cy="82296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PTP answers: what does the protocol believe?</a:t>
            </a:r>
          </a:p>
        </p:txBody>
      </p:sp>
      <p:graphicFrame>
        <p:nvGraphicFramePr>
          <p:cNvPr id="5" name="Table 4"/>
          <p:cNvGraphicFramePr>
            <a:graphicFrameLocks noGrp="1"/>
          </p:cNvGraphicFramePr>
          <p:nvPr/>
        </p:nvGraphicFramePr>
        <p:xfrm>
          <a:off x="640080" y="1645920"/>
          <a:ext cx="10881360" cy="2286000"/>
        </p:xfrm>
        <a:graphic>
          <a:graphicData uri="http://schemas.openxmlformats.org/drawingml/2006/table">
            <a:tbl>
              <a:tblPr firstRow="1" bandRow="1">
                <a:tableStyleId>{5C22544A-7EE6-4342-B048-85BDC9FD1C3A}</a:tableStyleId>
              </a:tblPr>
              <a:tblGrid>
                <a:gridCol w="5440680"/>
                <a:gridCol w="5440680"/>
              </a:tblGrid>
              <a:tr h="457200">
                <a:tc>
                  <a:txBody>
                    <a:bodyPr/>
                    <a:lstStyle/>
                    <a:p>
                      <a:r>
                        <a:rPr b="1" sz="1500">
                          <a:solidFill>
                            <a:srgbClr val="FFFFFF"/>
                          </a:solidFill>
                          <a:latin typeface="Calibri"/>
                        </a:rPr>
                        <a:t>Dataset (via ptp4l)</a:t>
                      </a:r>
                    </a:p>
                  </a:txBody>
                  <a:tcPr marL="109728" marT="45720" marB="45720">
                    <a:solidFill>
                      <a:srgbClr val="2E6BE6"/>
                    </a:solidFill>
                  </a:tcPr>
                </a:tc>
                <a:tc>
                  <a:txBody>
                    <a:bodyPr/>
                    <a:lstStyle/>
                    <a:p>
                      <a:r>
                        <a:rPr b="1" sz="1500">
                          <a:solidFill>
                            <a:srgbClr val="FFFFFF"/>
                          </a:solidFill>
                          <a:latin typeface="Calibri"/>
                        </a:rPr>
                        <a:t>Provides</a:t>
                      </a:r>
                    </a:p>
                  </a:txBody>
                  <a:tcPr marL="109728" marT="45720" marB="45720">
                    <a:solidFill>
                      <a:srgbClr val="2E6BE6"/>
                    </a:solidFill>
                  </a:tcPr>
                </a:tc>
              </a:tr>
              <a:tr h="457200">
                <a:tc>
                  <a:txBody>
                    <a:bodyPr/>
                    <a:lstStyle/>
                    <a:p>
                      <a:r>
                        <a:rPr sz="1350" b="1">
                          <a:solidFill>
                            <a:srgbClr val="1A1D29"/>
                          </a:solidFill>
                          <a:latin typeface="Calibri"/>
                        </a:rPr>
                        <a:t>CURRENT_DATA_SET</a:t>
                      </a:r>
                    </a:p>
                  </a:txBody>
                  <a:tcPr marL="109728" marT="36576" marB="36576">
                    <a:solidFill>
                      <a:srgbClr val="FFFFFF"/>
                    </a:solidFill>
                  </a:tcPr>
                </a:tc>
                <a:tc>
                  <a:txBody>
                    <a:bodyPr/>
                    <a:lstStyle/>
                    <a:p>
                      <a:r>
                        <a:rPr sz="1350" b="0">
                          <a:solidFill>
                            <a:srgbClr val="5B6172"/>
                          </a:solidFill>
                          <a:latin typeface="Calibri"/>
                        </a:rPr>
                        <a:t>offsetFromMaster, meanPathDelay, stepsRemoved</a:t>
                      </a:r>
                    </a:p>
                  </a:txBody>
                  <a:tcPr marL="109728" marT="36576" marB="36576">
                    <a:solidFill>
                      <a:srgbClr val="FFFFFF"/>
                    </a:solidFill>
                  </a:tcPr>
                </a:tc>
              </a:tr>
              <a:tr h="457200">
                <a:tc>
                  <a:txBody>
                    <a:bodyPr/>
                    <a:lstStyle/>
                    <a:p>
                      <a:r>
                        <a:rPr sz="1350" b="1">
                          <a:solidFill>
                            <a:srgbClr val="1A1D29"/>
                          </a:solidFill>
                          <a:latin typeface="Calibri"/>
                        </a:rPr>
                        <a:t>PORT_DATA_SET</a:t>
                      </a:r>
                    </a:p>
                  </a:txBody>
                  <a:tcPr marL="109728" marT="36576" marB="36576">
                    <a:solidFill>
                      <a:srgbClr val="EDF1FB"/>
                    </a:solidFill>
                  </a:tcPr>
                </a:tc>
                <a:tc>
                  <a:txBody>
                    <a:bodyPr/>
                    <a:lstStyle/>
                    <a:p>
                      <a:r>
                        <a:rPr sz="1350" b="0">
                          <a:solidFill>
                            <a:srgbClr val="5B6172"/>
                          </a:solidFill>
                          <a:latin typeface="Calibri"/>
                        </a:rPr>
                        <a:t>port state, logSyncInterval</a:t>
                      </a:r>
                    </a:p>
                  </a:txBody>
                  <a:tcPr marL="109728" marT="36576" marB="36576">
                    <a:solidFill>
                      <a:srgbClr val="EDF1FB"/>
                    </a:solidFill>
                  </a:tcPr>
                </a:tc>
              </a:tr>
              <a:tr h="457200">
                <a:tc>
                  <a:txBody>
                    <a:bodyPr/>
                    <a:lstStyle/>
                    <a:p>
                      <a:r>
                        <a:rPr sz="1350" b="1">
                          <a:solidFill>
                            <a:srgbClr val="1A1D29"/>
                          </a:solidFill>
                          <a:latin typeface="Calibri"/>
                        </a:rPr>
                        <a:t>TIME_STATUS_NP</a:t>
                      </a:r>
                    </a:p>
                  </a:txBody>
                  <a:tcPr marL="109728" marT="36576" marB="36576">
                    <a:solidFill>
                      <a:srgbClr val="FFFFFF"/>
                    </a:solidFill>
                  </a:tcPr>
                </a:tc>
                <a:tc>
                  <a:txBody>
                    <a:bodyPr/>
                    <a:lstStyle/>
                    <a:p>
                      <a:r>
                        <a:rPr sz="1350" b="0">
                          <a:solidFill>
                            <a:srgbClr val="5B6172"/>
                          </a:solidFill>
                          <a:latin typeface="Calibri"/>
                        </a:rPr>
                        <a:t>sync ingress time, grandmaster identity</a:t>
                      </a:r>
                    </a:p>
                  </a:txBody>
                  <a:tcPr marL="109728" marT="36576" marB="36576">
                    <a:solidFill>
                      <a:srgbClr val="FFFFFF"/>
                    </a:solidFill>
                  </a:tcPr>
                </a:tc>
              </a:tr>
              <a:tr h="457200">
                <a:tc>
                  <a:txBody>
                    <a:bodyPr/>
                    <a:lstStyle/>
                    <a:p>
                      <a:r>
                        <a:rPr sz="1350" b="1">
                          <a:solidFill>
                            <a:srgbClr val="1A1D29"/>
                          </a:solidFill>
                          <a:latin typeface="Calibri"/>
                        </a:rPr>
                        <a:t>PORT_HWCLOCK_NP</a:t>
                      </a:r>
                    </a:p>
                  </a:txBody>
                  <a:tcPr marL="109728" marT="36576" marB="36576">
                    <a:solidFill>
                      <a:srgbClr val="EDF1FB"/>
                    </a:solidFill>
                  </a:tcPr>
                </a:tc>
                <a:tc>
                  <a:txBody>
                    <a:bodyPr/>
                    <a:lstStyle/>
                    <a:p>
                      <a:r>
                        <a:rPr sz="1350" b="0">
                          <a:solidFill>
                            <a:srgbClr val="5B6172"/>
                          </a:solidFill>
                          <a:latin typeface="Calibri"/>
                        </a:rPr>
                        <a:t>PHC index (optional)</a:t>
                      </a:r>
                    </a:p>
                  </a:txBody>
                  <a:tcPr marL="109728" marT="36576" marB="36576">
                    <a:solidFill>
                      <a:srgbClr val="EDF1FB"/>
                    </a:solidFill>
                  </a:tcPr>
                </a:tc>
              </a:tr>
            </a:tbl>
          </a:graphicData>
        </a:graphic>
      </p:graphicFrame>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PTP → BOUND</a:t>
            </a:r>
          </a:p>
        </p:txBody>
      </p:sp>
      <p:sp>
        <p:nvSpPr>
          <p:cNvPr id="4" name="TextBox 3"/>
          <p:cNvSpPr txBox="1"/>
          <p:nvPr/>
        </p:nvSpPr>
        <p:spPr>
          <a:xfrm>
            <a:off x="502920" y="566928"/>
            <a:ext cx="11155680" cy="82296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Ingress time is the drift anchor</a:t>
            </a:r>
          </a:p>
        </p:txBody>
      </p:sp>
      <p:sp>
        <p:nvSpPr>
          <p:cNvPr id="5" name="Rectangle 4"/>
          <p:cNvSpPr/>
          <p:nvPr/>
        </p:nvSpPr>
        <p:spPr>
          <a:xfrm>
            <a:off x="640080" y="1600200"/>
            <a:ext cx="10881360" cy="4480560"/>
          </a:xfrm>
          <a:prstGeom prst="rect">
            <a:avLst/>
          </a:prstGeom>
          <a:solidFill>
            <a:srgbClr val="11162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0" rIns="182880" tIns="182880" bIns="182880"/>
          <a:lstStyle/>
          <a:p>
            <a:pPr algn="l">
              <a:spcAft>
                <a:spcPts val="200"/>
              </a:spcAft>
            </a:pPr>
            <a:r>
              <a:rPr sz="1500">
                <a:solidFill>
                  <a:srgbClr val="D6E2FF"/>
                </a:solidFill>
                <a:latin typeface="Consolas"/>
              </a:rPr>
              <a:t>  TIME_STATUS_NP.ingress_time</a:t>
            </a:r>
          </a:p>
          <a:p>
            <a:pPr algn="l">
              <a:spcAft>
                <a:spcPts val="200"/>
              </a:spcAft>
            </a:pPr>
            <a:r>
              <a:rPr sz="1500">
                <a:solidFill>
                  <a:srgbClr val="D6E2FF"/>
                </a:solidFill>
                <a:latin typeface="Consolas"/>
              </a:rPr>
              <a:t>     = when the last sync event arrived (PHC time)</a:t>
            </a:r>
          </a:p>
          <a:p>
            <a:pPr algn="l">
              <a:spcAft>
                <a:spcPts val="200"/>
              </a:spcAft>
            </a:pPr>
            <a:r>
              <a:rPr sz="1500">
                <a:solidFill>
                  <a:srgbClr val="D6E2FF"/>
                </a:solidFill>
                <a:latin typeface="Consolas"/>
              </a:rPr>
              <a:t> </a:t>
            </a:r>
          </a:p>
          <a:p>
            <a:pPr algn="l">
              <a:spcAft>
                <a:spcPts val="200"/>
              </a:spcAft>
            </a:pPr>
            <a:r>
              <a:rPr sz="1500">
                <a:solidFill>
                  <a:srgbClr val="D6E2FF"/>
                </a:solidFill>
                <a:latin typeface="Consolas"/>
              </a:rPr>
              <a:t>  drift_ns = (time_now - ingress_time)</a:t>
            </a:r>
          </a:p>
          <a:p>
            <a:pPr algn="l">
              <a:spcAft>
                <a:spcPts val="200"/>
              </a:spcAft>
            </a:pPr>
            <a:r>
              <a:rPr sz="1500">
                <a:solidFill>
                  <a:srgbClr val="D6E2FF"/>
                </a:solidFill>
                <a:latin typeface="Consolas"/>
              </a:rPr>
              <a:t>                 * max_drift_ppb / 1e9</a:t>
            </a:r>
          </a:p>
          <a:p>
            <a:pPr algn="l">
              <a:spcAft>
                <a:spcPts val="200"/>
              </a:spcAft>
            </a:pPr>
            <a:r>
              <a:rPr sz="1500">
                <a:solidFill>
                  <a:srgbClr val="D6E2FF"/>
                </a:solidFill>
                <a:latin typeface="Consolas"/>
              </a:rPr>
              <a:t> </a:t>
            </a:r>
          </a:p>
          <a:p>
            <a:pPr algn="l">
              <a:spcAft>
                <a:spcPts val="200"/>
              </a:spcAft>
            </a:pPr>
            <a:r>
              <a:rPr sz="1500">
                <a:solidFill>
                  <a:srgbClr val="D6E2FF"/>
                </a:solidFill>
                <a:latin typeface="Consolas"/>
              </a:rPr>
              <a:t>  Uncertainty grows between sync messages</a:t>
            </a:r>
          </a:p>
          <a:p>
            <a:pPr algn="l">
              <a:spcAft>
                <a:spcPts val="200"/>
              </a:spcAft>
            </a:pPr>
            <a:r>
              <a:rPr sz="1500">
                <a:solidFill>
                  <a:srgbClr val="D6E2FF"/>
                </a:solidFill>
                <a:latin typeface="Consolas"/>
              </a:rPr>
              <a:t>  even when the offset display looks flat.</a:t>
            </a:r>
          </a:p>
        </p:txBody>
      </p:sp>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F1FB"/>
        </a:solidFill>
        <a:effectLst/>
      </p:bgPr>
    </p:bg>
    <p:spTree>
      <p:nvGrpSpPr>
        <p:cNvPr id="1" name=""/>
        <p:cNvGrpSpPr/>
        <p:nvPr/>
      </p:nvGrpSpPr>
      <p:grpSpPr/>
      <p:sp>
        <p:nvSpPr>
          <p:cNvPr id="2" name="Rectangle 1"/>
          <p:cNvSpPr/>
          <p:nvPr/>
        </p:nvSpPr>
        <p:spPr>
          <a:xfrm>
            <a:off x="822960" y="2331720"/>
            <a:ext cx="2377440" cy="9144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514600"/>
            <a:ext cx="10515600" cy="1828800"/>
          </a:xfrm>
          <a:prstGeom prst="rect">
            <a:avLst/>
          </a:prstGeom>
          <a:noFill/>
        </p:spPr>
        <p:txBody>
          <a:bodyPr wrap="square" anchor="t" lIns="0" rIns="0" tIns="0" bIns="0">
            <a:spAutoFit/>
          </a:bodyPr>
          <a:lstStyle/>
          <a:p>
            <a:pPr algn="l">
              <a:spcBef>
                <a:spcPts val="0"/>
              </a:spcBef>
              <a:spcAft>
                <a:spcPts val="600"/>
              </a:spcAft>
            </a:pPr>
            <a:r>
              <a:rPr sz="3400" b="1" i="0">
                <a:solidFill>
                  <a:srgbClr val="1A1D29"/>
                </a:solidFill>
                <a:latin typeface="Calibri"/>
              </a:rPr>
              <a:t>total_uncertainty_ns = |offset| + drift + clock_resolution + capture_point_error</a:t>
            </a:r>
          </a:p>
        </p:txBody>
      </p:sp>
      <p:sp>
        <p:nvSpPr>
          <p:cNvPr id="4" name="TextBox 3"/>
          <p:cNvSpPr txBox="1"/>
          <p:nvPr/>
        </p:nvSpPr>
        <p:spPr>
          <a:xfrm>
            <a:off x="841248" y="4206240"/>
            <a:ext cx="10515600" cy="1097280"/>
          </a:xfrm>
          <a:prstGeom prst="rect">
            <a:avLst/>
          </a:prstGeom>
          <a:noFill/>
        </p:spPr>
        <p:txBody>
          <a:bodyPr wrap="square" anchor="t" lIns="0" rIns="0" tIns="0" bIns="0">
            <a:spAutoFit/>
          </a:bodyPr>
          <a:lstStyle/>
          <a:p>
            <a:pPr algn="l">
              <a:spcBef>
                <a:spcPts val="0"/>
              </a:spcBef>
              <a:spcAft>
                <a:spcPts val="600"/>
              </a:spcAft>
            </a:pPr>
            <a:r>
              <a:rPr sz="2000" b="0" i="1">
                <a:solidFill>
                  <a:srgbClr val="5B6172"/>
                </a:solidFill>
                <a:latin typeface="Calibri"/>
              </a:rPr>
              <a:t>Example: 12 ns offset + 50 ns drift + 8 ns resolution + 40 ns capture ≈ 110 ns bound.</a:t>
            </a:r>
          </a:p>
        </p:txBody>
      </p:sp>
      <p:sp>
        <p:nvSpPr>
          <p:cNvPr id="5" name="Rectangle 4"/>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7" name="TextBox 6"/>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PTP → BOUND</a:t>
            </a:r>
          </a:p>
        </p:txBody>
      </p:sp>
      <p:sp>
        <p:nvSpPr>
          <p:cNvPr id="4" name="TextBox 3"/>
          <p:cNvSpPr txBox="1"/>
          <p:nvPr/>
        </p:nvSpPr>
        <p:spPr>
          <a:xfrm>
            <a:off x="502920" y="566928"/>
            <a:ext cx="11155680" cy="82296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Sync status is a prerequisite, not a proof</a:t>
            </a:r>
          </a:p>
        </p:txBody>
      </p:sp>
      <p:graphicFrame>
        <p:nvGraphicFramePr>
          <p:cNvPr id="5" name="Table 4"/>
          <p:cNvGraphicFramePr>
            <a:graphicFrameLocks noGrp="1"/>
          </p:cNvGraphicFramePr>
          <p:nvPr/>
        </p:nvGraphicFramePr>
        <p:xfrm>
          <a:off x="640080" y="1645920"/>
          <a:ext cx="10881360" cy="2286000"/>
        </p:xfrm>
        <a:graphic>
          <a:graphicData uri="http://schemas.openxmlformats.org/drawingml/2006/table">
            <a:tbl>
              <a:tblPr firstRow="1" bandRow="1">
                <a:tableStyleId>{5C22544A-7EE6-4342-B048-85BDC9FD1C3A}</a:tableStyleId>
              </a:tblPr>
              <a:tblGrid>
                <a:gridCol w="5440680"/>
                <a:gridCol w="5440680"/>
              </a:tblGrid>
              <a:tr h="457200">
                <a:tc>
                  <a:txBody>
                    <a:bodyPr/>
                    <a:lstStyle/>
                    <a:p>
                      <a:r>
                        <a:rPr b="1" sz="1500">
                          <a:solidFill>
                            <a:srgbClr val="FFFFFF"/>
                          </a:solidFill>
                          <a:latin typeface="Calibri"/>
                        </a:rPr>
                        <a:t>Port state</a:t>
                      </a:r>
                    </a:p>
                  </a:txBody>
                  <a:tcPr marL="109728" marT="45720" marB="45720">
                    <a:solidFill>
                      <a:srgbClr val="2E6BE6"/>
                    </a:solidFill>
                  </a:tcPr>
                </a:tc>
                <a:tc>
                  <a:txBody>
                    <a:bodyPr/>
                    <a:lstStyle/>
                    <a:p>
                      <a:r>
                        <a:rPr b="1" sz="1500">
                          <a:solidFill>
                            <a:srgbClr val="FFFFFF"/>
                          </a:solidFill>
                          <a:latin typeface="Calibri"/>
                        </a:rPr>
                        <a:t>Meaning for uncertainty</a:t>
                      </a:r>
                    </a:p>
                  </a:txBody>
                  <a:tcPr marL="109728" marT="45720" marB="45720">
                    <a:solidFill>
                      <a:srgbClr val="2E6BE6"/>
                    </a:solidFill>
                  </a:tcPr>
                </a:tc>
              </a:tr>
              <a:tr h="457200">
                <a:tc>
                  <a:txBody>
                    <a:bodyPr/>
                    <a:lstStyle/>
                    <a:p>
                      <a:r>
                        <a:rPr sz="1350" b="1">
                          <a:solidFill>
                            <a:srgbClr val="1A1D29"/>
                          </a:solidFill>
                          <a:latin typeface="Calibri"/>
                        </a:rPr>
                        <a:t>SLAVE</a:t>
                      </a:r>
                    </a:p>
                  </a:txBody>
                  <a:tcPr marL="109728" marT="36576" marB="36576">
                    <a:solidFill>
                      <a:srgbClr val="FFFFFF"/>
                    </a:solidFill>
                  </a:tcPr>
                </a:tc>
                <a:tc>
                  <a:txBody>
                    <a:bodyPr/>
                    <a:lstStyle/>
                    <a:p>
                      <a:r>
                        <a:rPr sz="1350" b="0">
                          <a:solidFill>
                            <a:srgbClr val="5B6172"/>
                          </a:solidFill>
                          <a:latin typeface="Calibri"/>
                        </a:rPr>
                        <a:t>actively disciplining — bounds meaningful</a:t>
                      </a:r>
                    </a:p>
                  </a:txBody>
                  <a:tcPr marL="109728" marT="36576" marB="36576">
                    <a:solidFill>
                      <a:srgbClr val="FFFFFF"/>
                    </a:solidFill>
                  </a:tcPr>
                </a:tc>
              </a:tr>
              <a:tr h="457200">
                <a:tc>
                  <a:txBody>
                    <a:bodyPr/>
                    <a:lstStyle/>
                    <a:p>
                      <a:r>
                        <a:rPr sz="1350" b="1">
                          <a:solidFill>
                            <a:srgbClr val="1A1D29"/>
                          </a:solidFill>
                          <a:latin typeface="Calibri"/>
                        </a:rPr>
                        <a:t>UNCALIBRATED</a:t>
                      </a:r>
                    </a:p>
                  </a:txBody>
                  <a:tcPr marL="109728" marT="36576" marB="36576">
                    <a:solidFill>
                      <a:srgbClr val="EDF1FB"/>
                    </a:solidFill>
                  </a:tcPr>
                </a:tc>
                <a:tc>
                  <a:txBody>
                    <a:bodyPr/>
                    <a:lstStyle/>
                    <a:p>
                      <a:r>
                        <a:rPr sz="1350" b="0">
                          <a:solidFill>
                            <a:srgbClr val="5B6172"/>
                          </a:solidFill>
                          <a:latin typeface="Calibri"/>
                        </a:rPr>
                        <a:t>converging — bounds unstable</a:t>
                      </a:r>
                    </a:p>
                  </a:txBody>
                  <a:tcPr marL="109728" marT="36576" marB="36576">
                    <a:solidFill>
                      <a:srgbClr val="EDF1FB"/>
                    </a:solidFill>
                  </a:tcPr>
                </a:tc>
              </a:tr>
              <a:tr h="457200">
                <a:tc>
                  <a:txBody>
                    <a:bodyPr/>
                    <a:lstStyle/>
                    <a:p>
                      <a:r>
                        <a:rPr sz="1350" b="1">
                          <a:solidFill>
                            <a:srgbClr val="1A1D29"/>
                          </a:solidFill>
                          <a:latin typeface="Calibri"/>
                        </a:rPr>
                        <a:t>LISTENING / FAULTY</a:t>
                      </a:r>
                    </a:p>
                  </a:txBody>
                  <a:tcPr marL="109728" marT="36576" marB="36576">
                    <a:solidFill>
                      <a:srgbClr val="FFFFFF"/>
                    </a:solidFill>
                  </a:tcPr>
                </a:tc>
                <a:tc>
                  <a:txBody>
                    <a:bodyPr/>
                    <a:lstStyle/>
                    <a:p>
                      <a:r>
                        <a:rPr sz="1350" b="0">
                          <a:solidFill>
                            <a:srgbClr val="5B6172"/>
                          </a:solidFill>
                          <a:latin typeface="Calibri"/>
                        </a:rPr>
                        <a:t>do not trust ordering claims</a:t>
                      </a:r>
                    </a:p>
                  </a:txBody>
                  <a:tcPr marL="109728" marT="36576" marB="36576">
                    <a:solidFill>
                      <a:srgbClr val="FFFFFF"/>
                    </a:solidFill>
                  </a:tcPr>
                </a:tc>
              </a:tr>
              <a:tr h="457200">
                <a:tc>
                  <a:txBody>
                    <a:bodyPr/>
                    <a:lstStyle/>
                    <a:p>
                      <a:r>
                        <a:rPr sz="1350" b="1">
                          <a:solidFill>
                            <a:srgbClr val="1A1D29"/>
                          </a:solidFill>
                          <a:latin typeface="Calibri"/>
                        </a:rPr>
                        <a:t>ptp4l disconnected</a:t>
                      </a:r>
                    </a:p>
                  </a:txBody>
                  <a:tcPr marL="109728" marT="36576" marB="36576">
                    <a:solidFill>
                      <a:srgbClr val="EDF1FB"/>
                    </a:solidFill>
                  </a:tcPr>
                </a:tc>
                <a:tc>
                  <a:txBody>
                    <a:bodyPr/>
                    <a:lstStyle/>
                    <a:p>
                      <a:r>
                        <a:rPr sz="1350" b="0">
                          <a:solidFill>
                            <a:srgbClr val="5B6172"/>
                          </a:solidFill>
                          <a:latin typeface="Calibri"/>
                        </a:rPr>
                        <a:t>hold last anchor + drift keeps growing</a:t>
                      </a:r>
                    </a:p>
                  </a:txBody>
                  <a:tcPr marL="109728" marT="36576" marB="36576">
                    <a:solidFill>
                      <a:srgbClr val="EDF1FB"/>
                    </a:solidFill>
                  </a:tcPr>
                </a:tc>
              </a:tr>
            </a:tbl>
          </a:graphicData>
        </a:graphic>
      </p:graphicFrame>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E6BE6"/>
        </a:solidFill>
        <a:effectLst/>
      </p:bgPr>
    </p:bg>
    <p:spTree>
      <p:nvGrpSpPr>
        <p:cNvPr id="1" name=""/>
        <p:cNvGrpSpPr/>
        <p:nvPr/>
      </p:nvGrpSpPr>
      <p:grpSpPr/>
      <p:sp>
        <p:nvSpPr>
          <p:cNvPr id="2" name="Rectangle 1"/>
          <p:cNvSpPr/>
          <p:nvPr/>
        </p:nvSpPr>
        <p:spPr>
          <a:xfrm>
            <a:off x="0" y="2468880"/>
            <a:ext cx="3200400" cy="914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058400" cy="548640"/>
          </a:xfrm>
          <a:prstGeom prst="rect">
            <a:avLst/>
          </a:prstGeom>
          <a:noFill/>
        </p:spPr>
        <p:txBody>
          <a:bodyPr wrap="square" anchor="t" lIns="0" rIns="0" tIns="0" bIns="0">
            <a:spAutoFit/>
          </a:bodyPr>
          <a:lstStyle/>
          <a:p>
            <a:pPr algn="l">
              <a:spcBef>
                <a:spcPts val="0"/>
              </a:spcBef>
              <a:spcAft>
                <a:spcPts val="600"/>
              </a:spcAft>
            </a:pPr>
            <a:r>
              <a:rPr sz="2000" b="1" i="0">
                <a:solidFill>
                  <a:srgbClr val="C7D2F0"/>
                </a:solidFill>
                <a:latin typeface="Calibri"/>
              </a:rPr>
              <a:t>PART 5</a:t>
            </a:r>
          </a:p>
        </p:txBody>
      </p:sp>
      <p:sp>
        <p:nvSpPr>
          <p:cNvPr id="4" name="TextBox 3"/>
          <p:cNvSpPr txBox="1"/>
          <p:nvPr/>
        </p:nvSpPr>
        <p:spPr>
          <a:xfrm>
            <a:off x="804672" y="2697480"/>
            <a:ext cx="10515600" cy="1828800"/>
          </a:xfrm>
          <a:prstGeom prst="rect">
            <a:avLst/>
          </a:prstGeom>
          <a:noFill/>
        </p:spPr>
        <p:txBody>
          <a:bodyPr wrap="square" anchor="t" lIns="0" rIns="0" tIns="0" bIns="0">
            <a:spAutoFit/>
          </a:bodyPr>
          <a:lstStyle/>
          <a:p>
            <a:pPr algn="l">
              <a:spcBef>
                <a:spcPts val="0"/>
              </a:spcBef>
              <a:spcAft>
                <a:spcPts val="600"/>
              </a:spcAft>
            </a:pPr>
            <a:r>
              <a:rPr sz="4000" b="1" i="0">
                <a:solidFill>
                  <a:srgbClr val="FFFFFF"/>
                </a:solidFill>
                <a:latin typeface="Calibri"/>
              </a:rPr>
              <a:t>A model implementation: ptp-uncertainty</a:t>
            </a:r>
          </a:p>
        </p:txBody>
      </p:sp>
      <p:sp>
        <p:nvSpPr>
          <p:cNvPr id="5" name="TextBox 4"/>
          <p:cNvSpPr txBox="1"/>
          <p:nvPr/>
        </p:nvSpPr>
        <p:spPr>
          <a:xfrm>
            <a:off x="11002975" y="6263640"/>
            <a:ext cx="822960" cy="365760"/>
          </a:xfrm>
          <a:prstGeom prst="rect">
            <a:avLst/>
          </a:prstGeom>
          <a:noFill/>
        </p:spPr>
        <p:txBody>
          <a:bodyPr wrap="square" anchor="t" lIns="0" rIns="0" tIns="0" bIns="0">
            <a:spAutoFit/>
          </a:bodyPr>
          <a:lstStyle/>
          <a:p>
            <a:pPr algn="r">
              <a:spcBef>
                <a:spcPts val="0"/>
              </a:spcBef>
              <a:spcAft>
                <a:spcPts val="600"/>
              </a:spcAft>
            </a:pPr>
            <a:r>
              <a:rPr sz="1200" b="1" i="0">
                <a:solidFill>
                  <a:srgbClr val="FFFFFF"/>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IMPLEMENTATION</a:t>
            </a:r>
          </a:p>
        </p:txBody>
      </p:sp>
      <p:sp>
        <p:nvSpPr>
          <p:cNvPr id="4" name="TextBox 3"/>
          <p:cNvSpPr txBox="1"/>
          <p:nvPr/>
        </p:nvSpPr>
        <p:spPr>
          <a:xfrm>
            <a:off x="502920" y="566928"/>
            <a:ext cx="11155680" cy="82296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Architecture</a:t>
            </a:r>
          </a:p>
        </p:txBody>
      </p:sp>
      <p:sp>
        <p:nvSpPr>
          <p:cNvPr id="5" name="Rectangle 4"/>
          <p:cNvSpPr/>
          <p:nvPr/>
        </p:nvSpPr>
        <p:spPr>
          <a:xfrm>
            <a:off x="640080" y="1600200"/>
            <a:ext cx="10881360" cy="4114800"/>
          </a:xfrm>
          <a:prstGeom prst="rect">
            <a:avLst/>
          </a:prstGeom>
          <a:solidFill>
            <a:srgbClr val="11162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0" rIns="182880" tIns="182880" bIns="182880"/>
          <a:lstStyle/>
          <a:p>
            <a:pPr algn="l">
              <a:spcAft>
                <a:spcPts val="200"/>
              </a:spcAft>
            </a:pPr>
            <a:r>
              <a:rPr sz="1500">
                <a:solidFill>
                  <a:srgbClr val="D6E2FF"/>
                </a:solidFill>
                <a:latin typeface="Consolas"/>
              </a:rPr>
              <a:t>  ptp4l</a:t>
            </a:r>
          </a:p>
          <a:p>
            <a:pPr algn="l">
              <a:spcAft>
                <a:spcPts val="200"/>
              </a:spcAft>
            </a:pPr>
            <a:r>
              <a:rPr sz="1500">
                <a:solidFill>
                  <a:srgbClr val="D6E2FF"/>
                </a:solidFill>
                <a:latin typeface="Consolas"/>
              </a:rPr>
              <a:t>    |  Unix management socket (poll offset/delay/ingress)</a:t>
            </a:r>
          </a:p>
          <a:p>
            <a:pPr algn="l">
              <a:spcAft>
                <a:spcPts val="200"/>
              </a:spcAft>
            </a:pPr>
            <a:r>
              <a:rPr sz="1500">
                <a:solidFill>
                  <a:srgbClr val="D6E2FF"/>
                </a:solidFill>
                <a:latin typeface="Consolas"/>
              </a:rPr>
              <a:t>    v</a:t>
            </a:r>
          </a:p>
          <a:p>
            <a:pPr algn="l">
              <a:spcAft>
                <a:spcPts val="200"/>
              </a:spcAft>
            </a:pPr>
            <a:r>
              <a:rPr sz="1500">
                <a:solidFill>
                  <a:srgbClr val="D6E2FF"/>
                </a:solidFill>
                <a:latin typeface="Consolas"/>
              </a:rPr>
              <a:t>  ptp_unc_dmn        &lt;- daemon: collects + anchors</a:t>
            </a:r>
          </a:p>
          <a:p>
            <a:pPr algn="l">
              <a:spcAft>
                <a:spcPts val="200"/>
              </a:spcAft>
            </a:pPr>
            <a:r>
              <a:rPr sz="1500">
                <a:solidFill>
                  <a:srgbClr val="D6E2FF"/>
                </a:solidFill>
                <a:latin typeface="Consolas"/>
              </a:rPr>
              <a:t>    |  /ptp_uncertainty (POSIX shared memory)</a:t>
            </a:r>
          </a:p>
          <a:p>
            <a:pPr algn="l">
              <a:spcAft>
                <a:spcPts val="200"/>
              </a:spcAft>
            </a:pPr>
            <a:r>
              <a:rPr sz="1500">
                <a:solidFill>
                  <a:srgbClr val="D6E2FF"/>
                </a:solidFill>
                <a:latin typeface="Consolas"/>
              </a:rPr>
              <a:t>    v</a:t>
            </a:r>
          </a:p>
          <a:p>
            <a:pPr algn="l">
              <a:spcAft>
                <a:spcPts val="200"/>
              </a:spcAft>
            </a:pPr>
            <a:r>
              <a:rPr sz="1500">
                <a:solidFill>
                  <a:srgbClr val="D6E2FF"/>
                </a:solidFill>
                <a:latin typeface="Consolas"/>
              </a:rPr>
              <a:t>  libptp_unc.so      &lt;- client lib: extrapolates at read time</a:t>
            </a:r>
          </a:p>
          <a:p>
            <a:pPr algn="l">
              <a:spcAft>
                <a:spcPts val="200"/>
              </a:spcAft>
            </a:pPr>
            <a:r>
              <a:rPr sz="1500">
                <a:solidFill>
                  <a:srgbClr val="D6E2FF"/>
                </a:solidFill>
                <a:latin typeface="Consolas"/>
              </a:rPr>
              <a:t>    |</a:t>
            </a:r>
          </a:p>
          <a:p>
            <a:pPr algn="l">
              <a:spcAft>
                <a:spcPts val="200"/>
              </a:spcAft>
            </a:pPr>
            <a:r>
              <a:rPr sz="1500">
                <a:solidFill>
                  <a:srgbClr val="D6E2FF"/>
                </a:solidFill>
                <a:latin typeface="Consolas"/>
              </a:rPr>
              <a:t>    v</a:t>
            </a:r>
          </a:p>
          <a:p>
            <a:pPr algn="l">
              <a:spcAft>
                <a:spcPts val="200"/>
              </a:spcAft>
            </a:pPr>
            <a:r>
              <a:rPr sz="1500">
                <a:solidFill>
                  <a:srgbClr val="D6E2FF"/>
                </a:solidFill>
                <a:latin typeface="Consolas"/>
              </a:rPr>
              <a:t>  applications       &lt;- get a live bound, no PTP code needed</a:t>
            </a:r>
          </a:p>
        </p:txBody>
      </p:sp>
      <p:sp>
        <p:nvSpPr>
          <p:cNvPr id="6" name="TextBox 5"/>
          <p:cNvSpPr txBox="1"/>
          <p:nvPr/>
        </p:nvSpPr>
        <p:spPr>
          <a:xfrm>
            <a:off x="658368" y="5824728"/>
            <a:ext cx="10881360" cy="457200"/>
          </a:xfrm>
          <a:prstGeom prst="rect">
            <a:avLst/>
          </a:prstGeom>
          <a:noFill/>
        </p:spPr>
        <p:txBody>
          <a:bodyPr wrap="square" anchor="t" lIns="0" rIns="0" tIns="0" bIns="0">
            <a:spAutoFit/>
          </a:bodyPr>
          <a:lstStyle/>
          <a:p>
            <a:pPr algn="l">
              <a:spcBef>
                <a:spcPts val="0"/>
              </a:spcBef>
              <a:spcAft>
                <a:spcPts val="600"/>
              </a:spcAft>
            </a:pPr>
            <a:r>
              <a:rPr sz="1500" b="0" i="1">
                <a:solidFill>
                  <a:srgbClr val="5B6172"/>
                </a:solidFill>
                <a:latin typeface="Calibri"/>
              </a:rPr>
              <a:t>No direct PHC access required. A live bound, not just the last offset snapshot.</a:t>
            </a:r>
          </a:p>
        </p:txBody>
      </p:sp>
      <p:sp>
        <p:nvSpPr>
          <p:cNvPr id="7" name="Rectangle 6"/>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9" name="TextBox 8"/>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IMPLEMENTATION</a:t>
            </a:r>
          </a:p>
        </p:txBody>
      </p:sp>
      <p:sp>
        <p:nvSpPr>
          <p:cNvPr id="4" name="TextBox 3"/>
          <p:cNvSpPr txBox="1"/>
          <p:nvPr/>
        </p:nvSpPr>
        <p:spPr>
          <a:xfrm>
            <a:off x="502920" y="566928"/>
            <a:ext cx="11155680" cy="82296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What the daemon collects</a:t>
            </a:r>
          </a:p>
        </p:txBody>
      </p:sp>
      <p:graphicFrame>
        <p:nvGraphicFramePr>
          <p:cNvPr id="5" name="Table 4"/>
          <p:cNvGraphicFramePr>
            <a:graphicFrameLocks noGrp="1"/>
          </p:cNvGraphicFramePr>
          <p:nvPr/>
        </p:nvGraphicFramePr>
        <p:xfrm>
          <a:off x="640080" y="1645920"/>
          <a:ext cx="10881360" cy="2286000"/>
        </p:xfrm>
        <a:graphic>
          <a:graphicData uri="http://schemas.openxmlformats.org/drawingml/2006/table">
            <a:tbl>
              <a:tblPr firstRow="1" bandRow="1">
                <a:tableStyleId>{5C22544A-7EE6-4342-B048-85BDC9FD1C3A}</a:tableStyleId>
              </a:tblPr>
              <a:tblGrid>
                <a:gridCol w="5440680"/>
                <a:gridCol w="5440680"/>
              </a:tblGrid>
              <a:tr h="457200">
                <a:tc>
                  <a:txBody>
                    <a:bodyPr/>
                    <a:lstStyle/>
                    <a:p>
                      <a:r>
                        <a:rPr b="1" sz="1500">
                          <a:solidFill>
                            <a:srgbClr val="FFFFFF"/>
                          </a:solidFill>
                          <a:latin typeface="Calibri"/>
                        </a:rPr>
                        <a:t>Field</a:t>
                      </a:r>
                    </a:p>
                  </a:txBody>
                  <a:tcPr marL="109728" marT="45720" marB="45720">
                    <a:solidFill>
                      <a:srgbClr val="2E6BE6"/>
                    </a:solidFill>
                  </a:tcPr>
                </a:tc>
                <a:tc>
                  <a:txBody>
                    <a:bodyPr/>
                    <a:lstStyle/>
                    <a:p>
                      <a:r>
                        <a:rPr b="1" sz="1500">
                          <a:solidFill>
                            <a:srgbClr val="FFFFFF"/>
                          </a:solidFill>
                          <a:latin typeface="Calibri"/>
                        </a:rPr>
                        <a:t>Source</a:t>
                      </a:r>
                    </a:p>
                  </a:txBody>
                  <a:tcPr marL="109728" marT="45720" marB="45720">
                    <a:solidFill>
                      <a:srgbClr val="2E6BE6"/>
                    </a:solidFill>
                  </a:tcPr>
                </a:tc>
              </a:tr>
              <a:tr h="457200">
                <a:tc>
                  <a:txBody>
                    <a:bodyPr/>
                    <a:lstStyle/>
                    <a:p>
                      <a:r>
                        <a:rPr sz="1350" b="1">
                          <a:solidFill>
                            <a:srgbClr val="1A1D29"/>
                          </a:solidFill>
                          <a:latin typeface="Calibri"/>
                        </a:rPr>
                        <a:t>offset, delay, steps removed</a:t>
                      </a:r>
                    </a:p>
                  </a:txBody>
                  <a:tcPr marL="109728" marT="36576" marB="36576">
                    <a:solidFill>
                      <a:srgbClr val="FFFFFF"/>
                    </a:solidFill>
                  </a:tcPr>
                </a:tc>
                <a:tc>
                  <a:txBody>
                    <a:bodyPr/>
                    <a:lstStyle/>
                    <a:p>
                      <a:r>
                        <a:rPr sz="1350" b="0">
                          <a:solidFill>
                            <a:srgbClr val="5B6172"/>
                          </a:solidFill>
                          <a:latin typeface="Calibri"/>
                        </a:rPr>
                        <a:t>CURRENT_DATA_SET</a:t>
                      </a:r>
                    </a:p>
                  </a:txBody>
                  <a:tcPr marL="109728" marT="36576" marB="36576">
                    <a:solidFill>
                      <a:srgbClr val="FFFFFF"/>
                    </a:solidFill>
                  </a:tcPr>
                </a:tc>
              </a:tr>
              <a:tr h="457200">
                <a:tc>
                  <a:txBody>
                    <a:bodyPr/>
                    <a:lstStyle/>
                    <a:p>
                      <a:r>
                        <a:rPr sz="1350" b="1">
                          <a:solidFill>
                            <a:srgbClr val="1A1D29"/>
                          </a:solidFill>
                          <a:latin typeface="Calibri"/>
                        </a:rPr>
                        <a:t>port state, sync interval</a:t>
                      </a:r>
                    </a:p>
                  </a:txBody>
                  <a:tcPr marL="109728" marT="36576" marB="36576">
                    <a:solidFill>
                      <a:srgbClr val="EDF1FB"/>
                    </a:solidFill>
                  </a:tcPr>
                </a:tc>
                <a:tc>
                  <a:txBody>
                    <a:bodyPr/>
                    <a:lstStyle/>
                    <a:p>
                      <a:r>
                        <a:rPr sz="1350" b="0">
                          <a:solidFill>
                            <a:srgbClr val="5B6172"/>
                          </a:solidFill>
                          <a:latin typeface="Calibri"/>
                        </a:rPr>
                        <a:t>PORT_DATA_SET</a:t>
                      </a:r>
                    </a:p>
                  </a:txBody>
                  <a:tcPr marL="109728" marT="36576" marB="36576">
                    <a:solidFill>
                      <a:srgbClr val="EDF1FB"/>
                    </a:solidFill>
                  </a:tcPr>
                </a:tc>
              </a:tr>
              <a:tr h="457200">
                <a:tc>
                  <a:txBody>
                    <a:bodyPr/>
                    <a:lstStyle/>
                    <a:p>
                      <a:r>
                        <a:rPr sz="1350" b="1">
                          <a:solidFill>
                            <a:srgbClr val="1A1D29"/>
                          </a:solidFill>
                          <a:latin typeface="Calibri"/>
                        </a:rPr>
                        <a:t>ingress time, grandmaster id</a:t>
                      </a:r>
                    </a:p>
                  </a:txBody>
                  <a:tcPr marL="109728" marT="36576" marB="36576">
                    <a:solidFill>
                      <a:srgbClr val="FFFFFF"/>
                    </a:solidFill>
                  </a:tcPr>
                </a:tc>
                <a:tc>
                  <a:txBody>
                    <a:bodyPr/>
                    <a:lstStyle/>
                    <a:p>
                      <a:r>
                        <a:rPr sz="1350" b="0">
                          <a:solidFill>
                            <a:srgbClr val="5B6172"/>
                          </a:solidFill>
                          <a:latin typeface="Calibri"/>
                        </a:rPr>
                        <a:t>TIME_STATUS_NP</a:t>
                      </a:r>
                    </a:p>
                  </a:txBody>
                  <a:tcPr marL="109728" marT="36576" marB="36576">
                    <a:solidFill>
                      <a:srgbClr val="FFFFFF"/>
                    </a:solidFill>
                  </a:tcPr>
                </a:tc>
              </a:tr>
              <a:tr h="457200">
                <a:tc>
                  <a:txBody>
                    <a:bodyPr/>
                    <a:lstStyle/>
                    <a:p>
                      <a:r>
                        <a:rPr sz="1350" b="1">
                          <a:solidFill>
                            <a:srgbClr val="1A1D29"/>
                          </a:solidFill>
                          <a:latin typeface="Calibri"/>
                        </a:rPr>
                        <a:t>PHC index</a:t>
                      </a:r>
                    </a:p>
                  </a:txBody>
                  <a:tcPr marL="109728" marT="36576" marB="36576">
                    <a:solidFill>
                      <a:srgbClr val="EDF1FB"/>
                    </a:solidFill>
                  </a:tcPr>
                </a:tc>
                <a:tc>
                  <a:txBody>
                    <a:bodyPr/>
                    <a:lstStyle/>
                    <a:p>
                      <a:r>
                        <a:rPr sz="1350" b="0">
                          <a:solidFill>
                            <a:srgbClr val="5B6172"/>
                          </a:solidFill>
                          <a:latin typeface="Calibri"/>
                        </a:rPr>
                        <a:t>PORT_HWCLOCK_NP</a:t>
                      </a:r>
                    </a:p>
                  </a:txBody>
                  <a:tcPr marL="109728" marT="36576" marB="36576">
                    <a:solidFill>
                      <a:srgbClr val="EDF1FB"/>
                    </a:solidFill>
                  </a:tcPr>
                </a:tc>
              </a:tr>
            </a:tbl>
          </a:graphicData>
        </a:graphic>
      </p:graphicFrame>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IMPLEMENTATION</a:t>
            </a:r>
          </a:p>
        </p:txBody>
      </p:sp>
      <p:sp>
        <p:nvSpPr>
          <p:cNvPr id="4" name="TextBox 3"/>
          <p:cNvSpPr txBox="1"/>
          <p:nvPr/>
        </p:nvSpPr>
        <p:spPr>
          <a:xfrm>
            <a:off x="502920" y="566928"/>
            <a:ext cx="11155680" cy="82296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Client API</a:t>
            </a:r>
          </a:p>
        </p:txBody>
      </p:sp>
      <p:sp>
        <p:nvSpPr>
          <p:cNvPr id="5" name="Rectangle 4"/>
          <p:cNvSpPr/>
          <p:nvPr/>
        </p:nvSpPr>
        <p:spPr>
          <a:xfrm>
            <a:off x="640080" y="1600200"/>
            <a:ext cx="10881360" cy="4114800"/>
          </a:xfrm>
          <a:prstGeom prst="rect">
            <a:avLst/>
          </a:prstGeom>
          <a:solidFill>
            <a:srgbClr val="11162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0" rIns="182880" tIns="182880" bIns="182880"/>
          <a:lstStyle/>
          <a:p>
            <a:pPr algn="l">
              <a:spcAft>
                <a:spcPts val="200"/>
              </a:spcAft>
            </a:pPr>
            <a:r>
              <a:rPr sz="1500">
                <a:solidFill>
                  <a:srgbClr val="D6E2FF"/>
                </a:solidFill>
                <a:latin typeface="Consolas"/>
              </a:rPr>
              <a:t>  struct ptp_unc_handle *h = ptp_unc_open();</a:t>
            </a:r>
          </a:p>
          <a:p>
            <a:pPr algn="l">
              <a:spcAft>
                <a:spcPts val="200"/>
              </a:spcAft>
            </a:pPr>
            <a:r>
              <a:rPr sz="1500">
                <a:solidFill>
                  <a:srgbClr val="D6E2FF"/>
                </a:solidFill>
                <a:latin typeface="Consolas"/>
              </a:rPr>
              <a:t>  struct ptp_uncertainty u;</a:t>
            </a:r>
          </a:p>
          <a:p>
            <a:pPr algn="l">
              <a:spcAft>
                <a:spcPts val="200"/>
              </a:spcAft>
            </a:pPr>
            <a:r>
              <a:rPr sz="1500">
                <a:solidFill>
                  <a:srgbClr val="D6E2FF"/>
                </a:solidFill>
                <a:latin typeface="Consolas"/>
              </a:rPr>
              <a:t> </a:t>
            </a:r>
          </a:p>
          <a:p>
            <a:pPr algn="l">
              <a:spcAft>
                <a:spcPts val="200"/>
              </a:spcAft>
            </a:pPr>
            <a:r>
              <a:rPr sz="1500">
                <a:solidFill>
                  <a:srgbClr val="D6E2FF"/>
                </a:solidFill>
                <a:latin typeface="Consolas"/>
              </a:rPr>
              <a:t>  ptp_unc_get(h, &amp;u);            // uncertainty at now</a:t>
            </a:r>
          </a:p>
          <a:p>
            <a:pPr algn="l">
              <a:spcAft>
                <a:spcPts val="200"/>
              </a:spcAft>
            </a:pPr>
            <a:r>
              <a:rPr sz="1500">
                <a:solidFill>
                  <a:srgbClr val="D6E2FF"/>
                </a:solidFill>
                <a:latin typeface="Consolas"/>
              </a:rPr>
              <a:t> </a:t>
            </a:r>
          </a:p>
          <a:p>
            <a:pPr algn="l">
              <a:spcAft>
                <a:spcPts val="200"/>
              </a:spcAft>
            </a:pPr>
            <a:r>
              <a:rPr sz="1500">
                <a:solidFill>
                  <a:srgbClr val="D6E2FF"/>
                </a:solidFill>
                <a:latin typeface="Consolas"/>
              </a:rPr>
              <a:t>  // u.total_uncertainty_ns, u.drift_ns</a:t>
            </a:r>
          </a:p>
          <a:p>
            <a:pPr algn="l">
              <a:spcAft>
                <a:spcPts val="200"/>
              </a:spcAft>
            </a:pPr>
            <a:r>
              <a:rPr sz="1500">
                <a:solidFill>
                  <a:srgbClr val="D6E2FF"/>
                </a:solidFill>
                <a:latin typeface="Consolas"/>
              </a:rPr>
              <a:t>  // u.is_synchronized, u.ptp4l_connected</a:t>
            </a:r>
          </a:p>
          <a:p>
            <a:pPr algn="l">
              <a:spcAft>
                <a:spcPts val="200"/>
              </a:spcAft>
            </a:pPr>
            <a:r>
              <a:rPr sz="1500">
                <a:solidFill>
                  <a:srgbClr val="D6E2FF"/>
                </a:solidFill>
                <a:latin typeface="Consolas"/>
              </a:rPr>
              <a:t>  // u.age_ns  (snapshot freshness != drift anchor)</a:t>
            </a:r>
          </a:p>
          <a:p>
            <a:pPr algn="l">
              <a:spcAft>
                <a:spcPts val="200"/>
              </a:spcAft>
            </a:pPr>
            <a:r>
              <a:rPr sz="1500">
                <a:solidFill>
                  <a:srgbClr val="D6E2FF"/>
                </a:solidFill>
                <a:latin typeface="Consolas"/>
              </a:rPr>
              <a:t> </a:t>
            </a:r>
          </a:p>
          <a:p>
            <a:pPr algn="l">
              <a:spcAft>
                <a:spcPts val="200"/>
              </a:spcAft>
            </a:pPr>
            <a:r>
              <a:rPr sz="1500">
                <a:solidFill>
                  <a:srgbClr val="D6E2FF"/>
                </a:solidFill>
                <a:latin typeface="Consolas"/>
              </a:rPr>
              <a:t>  ptp_unc_close(h);</a:t>
            </a:r>
          </a:p>
        </p:txBody>
      </p:sp>
      <p:sp>
        <p:nvSpPr>
          <p:cNvPr id="6" name="TextBox 5"/>
          <p:cNvSpPr txBox="1"/>
          <p:nvPr/>
        </p:nvSpPr>
        <p:spPr>
          <a:xfrm>
            <a:off x="658368" y="5824728"/>
            <a:ext cx="10881360" cy="457200"/>
          </a:xfrm>
          <a:prstGeom prst="rect">
            <a:avLst/>
          </a:prstGeom>
          <a:noFill/>
        </p:spPr>
        <p:txBody>
          <a:bodyPr wrap="square" anchor="t" lIns="0" rIns="0" tIns="0" bIns="0">
            <a:spAutoFit/>
          </a:bodyPr>
          <a:lstStyle/>
          <a:p>
            <a:pPr algn="l">
              <a:spcBef>
                <a:spcPts val="0"/>
              </a:spcBef>
              <a:spcAft>
                <a:spcPts val="600"/>
              </a:spcAft>
            </a:pPr>
            <a:r>
              <a:rPr sz="1500" b="0" i="1">
                <a:solidFill>
                  <a:srgbClr val="5B6172"/>
                </a:solidFill>
                <a:latin typeface="Calibri"/>
              </a:rPr>
              <a:t>Clients extrapolate at read time; age_ns (snapshot freshness) is distinct from the drift term.</a:t>
            </a:r>
          </a:p>
        </p:txBody>
      </p:sp>
      <p:sp>
        <p:nvSpPr>
          <p:cNvPr id="7" name="Rectangle 6"/>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9" name="TextBox 8"/>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IMPLEMENTATION</a:t>
            </a:r>
          </a:p>
        </p:txBody>
      </p:sp>
      <p:sp>
        <p:nvSpPr>
          <p:cNvPr id="4" name="TextBox 3"/>
          <p:cNvSpPr txBox="1"/>
          <p:nvPr/>
        </p:nvSpPr>
        <p:spPr>
          <a:xfrm>
            <a:off x="502920" y="566928"/>
            <a:ext cx="11155680" cy="82296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Behavior under failure = explicit correctness</a:t>
            </a:r>
          </a:p>
        </p:txBody>
      </p:sp>
      <p:sp>
        <p:nvSpPr>
          <p:cNvPr id="5" name="Rectangle 4"/>
          <p:cNvSpPr/>
          <p:nvPr/>
        </p:nvSpPr>
        <p:spPr>
          <a:xfrm>
            <a:off x="640080" y="1600200"/>
            <a:ext cx="10881360" cy="4114800"/>
          </a:xfrm>
          <a:prstGeom prst="rect">
            <a:avLst/>
          </a:prstGeom>
          <a:solidFill>
            <a:srgbClr val="11162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0" rIns="182880" tIns="182880" bIns="182880"/>
          <a:lstStyle/>
          <a:p>
            <a:pPr algn="l">
              <a:spcAft>
                <a:spcPts val="200"/>
              </a:spcAft>
            </a:pPr>
            <a:r>
              <a:rPr sz="1500">
                <a:solidFill>
                  <a:srgbClr val="D6E2FF"/>
                </a:solidFill>
                <a:latin typeface="Consolas"/>
              </a:rPr>
              <a:t>  // ptp4l restarts or disconnects:</a:t>
            </a:r>
          </a:p>
          <a:p>
            <a:pPr algn="l">
              <a:spcAft>
                <a:spcPts val="200"/>
              </a:spcAft>
            </a:pPr>
            <a:r>
              <a:rPr sz="1500">
                <a:solidFill>
                  <a:srgbClr val="D6E2FF"/>
                </a:solidFill>
                <a:latin typeface="Consolas"/>
              </a:rPr>
              <a:t>  //   - preserve last valid sync anchor</a:t>
            </a:r>
          </a:p>
          <a:p>
            <a:pPr algn="l">
              <a:spcAft>
                <a:spcPts val="200"/>
              </a:spcAft>
            </a:pPr>
            <a:r>
              <a:rPr sz="1500">
                <a:solidFill>
                  <a:srgbClr val="D6E2FF"/>
                </a:solidFill>
                <a:latin typeface="Consolas"/>
              </a:rPr>
              <a:t>  //   - set ptp4l_connected = 0</a:t>
            </a:r>
          </a:p>
          <a:p>
            <a:pPr algn="l">
              <a:spcAft>
                <a:spcPts val="200"/>
              </a:spcAft>
            </a:pPr>
            <a:r>
              <a:rPr sz="1500">
                <a:solidFill>
                  <a:srgbClr val="D6E2FF"/>
                </a:solidFill>
                <a:latin typeface="Consolas"/>
              </a:rPr>
              <a:t>  //   - drift KEEPS growing from the held anchor</a:t>
            </a:r>
          </a:p>
          <a:p>
            <a:pPr algn="l">
              <a:spcAft>
                <a:spcPts val="200"/>
              </a:spcAft>
            </a:pPr>
            <a:r>
              <a:rPr sz="1500">
                <a:solidFill>
                  <a:srgbClr val="D6E2FF"/>
                </a:solidFill>
                <a:latin typeface="Consolas"/>
              </a:rPr>
              <a:t> </a:t>
            </a:r>
          </a:p>
          <a:p>
            <a:pPr algn="l">
              <a:spcAft>
                <a:spcPts val="200"/>
              </a:spcAft>
            </a:pPr>
            <a:r>
              <a:rPr sz="1500">
                <a:solidFill>
                  <a:srgbClr val="D6E2FF"/>
                </a:solidFill>
                <a:latin typeface="Consolas"/>
              </a:rPr>
              <a:t>  if (!u.ptp4l_connected ||</a:t>
            </a:r>
          </a:p>
          <a:p>
            <a:pPr algn="l">
              <a:spcAft>
                <a:spcPts val="200"/>
              </a:spcAft>
            </a:pPr>
            <a:r>
              <a:rPr sz="1500">
                <a:solidFill>
                  <a:srgbClr val="D6E2FF"/>
                </a:solidFill>
                <a:latin typeface="Consolas"/>
              </a:rPr>
              <a:t>      u.total_uncertainty_ns &gt; threshold)</a:t>
            </a:r>
          </a:p>
          <a:p>
            <a:pPr algn="l">
              <a:spcAft>
                <a:spcPts val="200"/>
              </a:spcAft>
            </a:pPr>
            <a:r>
              <a:rPr sz="1500">
                <a:solidFill>
                  <a:srgbClr val="D6E2FF"/>
                </a:solidFill>
                <a:latin typeface="Consolas"/>
              </a:rPr>
              <a:t>      mark_event_ordering_untrusted();</a:t>
            </a:r>
          </a:p>
        </p:txBody>
      </p:sp>
      <p:sp>
        <p:nvSpPr>
          <p:cNvPr id="6" name="TextBox 5"/>
          <p:cNvSpPr txBox="1"/>
          <p:nvPr/>
        </p:nvSpPr>
        <p:spPr>
          <a:xfrm>
            <a:off x="658368" y="5824728"/>
            <a:ext cx="10881360" cy="457200"/>
          </a:xfrm>
          <a:prstGeom prst="rect">
            <a:avLst/>
          </a:prstGeom>
          <a:noFill/>
        </p:spPr>
        <p:txBody>
          <a:bodyPr wrap="square" anchor="t" lIns="0" rIns="0" tIns="0" bIns="0">
            <a:spAutoFit/>
          </a:bodyPr>
          <a:lstStyle/>
          <a:p>
            <a:pPr algn="l">
              <a:spcBef>
                <a:spcPts val="0"/>
              </a:spcBef>
              <a:spcAft>
                <a:spcPts val="600"/>
              </a:spcAft>
            </a:pPr>
            <a:r>
              <a:rPr sz="1500" b="0" i="1">
                <a:solidFill>
                  <a:srgbClr val="5B6172"/>
                </a:solidFill>
                <a:latin typeface="Calibri"/>
              </a:rPr>
              <a:t>The application decides what 'trustworthy enough' means — the daemon just keeps the bound honest.</a:t>
            </a:r>
          </a:p>
        </p:txBody>
      </p:sp>
      <p:sp>
        <p:nvSpPr>
          <p:cNvPr id="7" name="Rectangle 6"/>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9" name="TextBox 8"/>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INDUSTRY VALIDATION</a:t>
            </a:r>
          </a:p>
        </p:txBody>
      </p:sp>
      <p:sp>
        <p:nvSpPr>
          <p:cNvPr id="4" name="TextBox 3"/>
          <p:cNvSpPr txBox="1"/>
          <p:nvPr/>
        </p:nvSpPr>
        <p:spPr>
          <a:xfrm>
            <a:off x="502920" y="566928"/>
            <a:ext cx="11155680" cy="82296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You don’t have to take my word for it: Meta’s fbclock</a:t>
            </a:r>
          </a:p>
        </p:txBody>
      </p:sp>
      <p:sp>
        <p:nvSpPr>
          <p:cNvPr id="5" name="Rectangle 4"/>
          <p:cNvSpPr/>
          <p:nvPr/>
        </p:nvSpPr>
        <p:spPr>
          <a:xfrm>
            <a:off x="640080" y="1691640"/>
            <a:ext cx="5349240" cy="4297680"/>
          </a:xfrm>
          <a:prstGeom prst="rect">
            <a:avLst/>
          </a:prstGeom>
          <a:solidFill>
            <a:srgbClr val="ED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56232"/>
            <a:ext cx="4892040" cy="457200"/>
          </a:xfrm>
          <a:prstGeom prst="rect">
            <a:avLst/>
          </a:prstGeom>
          <a:noFill/>
        </p:spPr>
        <p:txBody>
          <a:bodyPr wrap="square" anchor="t" lIns="0" rIns="0" tIns="0" bIns="0">
            <a:spAutoFit/>
          </a:bodyPr>
          <a:lstStyle/>
          <a:p>
            <a:pPr algn="l">
              <a:spcBef>
                <a:spcPts val="0"/>
              </a:spcBef>
              <a:spcAft>
                <a:spcPts val="600"/>
              </a:spcAft>
            </a:pPr>
            <a:r>
              <a:rPr sz="1800" b="1" i="0">
                <a:solidFill>
                  <a:srgbClr val="2E6BE6"/>
                </a:solidFill>
                <a:latin typeface="Calibri"/>
              </a:rPr>
              <a:t>Meta fbclock  (deployed at scale, 2022)</a:t>
            </a:r>
          </a:p>
        </p:txBody>
      </p:sp>
      <p:sp>
        <p:nvSpPr>
          <p:cNvPr id="7" name="TextBox 6"/>
          <p:cNvSpPr txBox="1"/>
          <p:nvPr/>
        </p:nvSpPr>
        <p:spPr>
          <a:xfrm>
            <a:off x="868680" y="2468880"/>
            <a:ext cx="4892040" cy="3291840"/>
          </a:xfrm>
          <a:prstGeom prst="rect">
            <a:avLst/>
          </a:prstGeom>
          <a:noFill/>
        </p:spPr>
        <p:txBody>
          <a:bodyPr wrap="square" anchor="t" lIns="0" rIns="0" tIns="0" bIns="0">
            <a:spAutoFit/>
          </a:bodyPr>
          <a:lstStyle/>
          <a:p>
            <a:pPr algn="l">
              <a:spcBef>
                <a:spcPts val="0"/>
              </a:spcBef>
              <a:spcAft>
                <a:spcPts val="900"/>
              </a:spcAft>
            </a:pPr>
            <a:r>
              <a:rPr sz="1500" b="1" i="0">
                <a:solidFill>
                  <a:srgbClr val="2E6BE6"/>
                </a:solidFill>
                <a:latin typeface="Calibri"/>
              </a:rPr>
              <a:t>•  </a:t>
            </a:r>
            <a:r>
              <a:rPr sz="1500" b="0" i="0">
                <a:solidFill>
                  <a:srgbClr val="1A1D29"/>
                </a:solidFill>
                <a:latin typeface="Calibri"/>
              </a:rPr>
              <a:t>Returns a Window of Uncertainty: [earliest_ns, latest_ns]</a:t>
            </a:r>
          </a:p>
          <a:p>
            <a:pPr algn="l">
              <a:spcBef>
                <a:spcPts val="0"/>
              </a:spcBef>
              <a:spcAft>
                <a:spcPts val="900"/>
              </a:spcAft>
            </a:pPr>
            <a:r>
              <a:rPr sz="1500" b="1" i="0">
                <a:solidFill>
                  <a:srgbClr val="2E6BE6"/>
                </a:solidFill>
                <a:latin typeface="Calibri"/>
              </a:rPr>
              <a:t>•  </a:t>
            </a:r>
            <a:r>
              <a:rPr sz="1500" b="0" i="0">
                <a:solidFill>
                  <a:srgbClr val="1A1D29"/>
                </a:solidFill>
                <a:latin typeface="Calibri"/>
              </a:rPr>
              <a:t>Go daemon reads ptp4l + PHC → shared memory → C library</a:t>
            </a:r>
          </a:p>
          <a:p>
            <a:pPr algn="l">
              <a:spcBef>
                <a:spcPts val="0"/>
              </a:spcBef>
              <a:spcAft>
                <a:spcPts val="900"/>
              </a:spcAft>
            </a:pPr>
            <a:r>
              <a:rPr sz="1500" b="1" i="0">
                <a:solidFill>
                  <a:srgbClr val="2E6BE6"/>
                </a:solidFill>
                <a:latin typeface="Calibri"/>
              </a:rPr>
              <a:t>•  </a:t>
            </a:r>
            <a:r>
              <a:rPr sz="1500" b="0" i="0">
                <a:solidFill>
                  <a:srgbClr val="1A1D29"/>
                </a:solidFill>
                <a:latin typeface="Calibri"/>
              </a:rPr>
              <a:t>Statistical k·σ window (Meta targets 6-nines certainty)</a:t>
            </a:r>
          </a:p>
          <a:p>
            <a:pPr algn="l">
              <a:spcBef>
                <a:spcPts val="0"/>
              </a:spcBef>
              <a:spcAft>
                <a:spcPts val="900"/>
              </a:spcAft>
            </a:pPr>
            <a:r>
              <a:rPr sz="1500" b="1" i="0">
                <a:solidFill>
                  <a:srgbClr val="2E6BE6"/>
                </a:solidFill>
                <a:latin typeface="Calibri"/>
              </a:rPr>
              <a:t>•  </a:t>
            </a:r>
            <a:r>
              <a:rPr sz="1500" b="0" i="0">
                <a:solidFill>
                  <a:srgbClr val="1A1D29"/>
                </a:solidFill>
                <a:latin typeface="Calibri"/>
              </a:rPr>
              <a:t>Holdover: drift from PHC freq-adjust history + temp/vibration telemetry</a:t>
            </a:r>
          </a:p>
        </p:txBody>
      </p:sp>
      <p:sp>
        <p:nvSpPr>
          <p:cNvPr id="8" name="Rectangle 7"/>
          <p:cNvSpPr/>
          <p:nvPr/>
        </p:nvSpPr>
        <p:spPr>
          <a:xfrm>
            <a:off x="6355080" y="1691640"/>
            <a:ext cx="5349240" cy="4297680"/>
          </a:xfrm>
          <a:prstGeom prst="rect">
            <a:avLst/>
          </a:prstGeom>
          <a:solidFill>
            <a:srgbClr val="EA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856232"/>
            <a:ext cx="4892040" cy="457200"/>
          </a:xfrm>
          <a:prstGeom prst="rect">
            <a:avLst/>
          </a:prstGeom>
          <a:noFill/>
        </p:spPr>
        <p:txBody>
          <a:bodyPr wrap="square" anchor="t" lIns="0" rIns="0" tIns="0" bIns="0">
            <a:spAutoFit/>
          </a:bodyPr>
          <a:lstStyle/>
          <a:p>
            <a:pPr algn="l">
              <a:spcBef>
                <a:spcPts val="0"/>
              </a:spcBef>
              <a:spcAft>
                <a:spcPts val="600"/>
              </a:spcAft>
            </a:pPr>
            <a:r>
              <a:rPr sz="1800" b="1" i="0">
                <a:solidFill>
                  <a:srgbClr val="14B8A6"/>
                </a:solidFill>
                <a:latin typeface="Calibri"/>
              </a:rPr>
              <a:t>ptp-uncertainty  (this talk)</a:t>
            </a:r>
          </a:p>
        </p:txBody>
      </p:sp>
      <p:sp>
        <p:nvSpPr>
          <p:cNvPr id="10" name="TextBox 9"/>
          <p:cNvSpPr txBox="1"/>
          <p:nvPr/>
        </p:nvSpPr>
        <p:spPr>
          <a:xfrm>
            <a:off x="6583680" y="2468880"/>
            <a:ext cx="4892040" cy="3291840"/>
          </a:xfrm>
          <a:prstGeom prst="rect">
            <a:avLst/>
          </a:prstGeom>
          <a:noFill/>
        </p:spPr>
        <p:txBody>
          <a:bodyPr wrap="square" anchor="t" lIns="0" rIns="0" tIns="0" bIns="0">
            <a:spAutoFit/>
          </a:bodyPr>
          <a:lstStyle/>
          <a:p>
            <a:pPr algn="l">
              <a:spcBef>
                <a:spcPts val="0"/>
              </a:spcBef>
              <a:spcAft>
                <a:spcPts val="900"/>
              </a:spcAft>
            </a:pPr>
            <a:r>
              <a:rPr sz="1500" b="1" i="0">
                <a:solidFill>
                  <a:srgbClr val="14B8A6"/>
                </a:solidFill>
                <a:latin typeface="Calibri"/>
              </a:rPr>
              <a:t>•  </a:t>
            </a:r>
            <a:r>
              <a:rPr sz="1500" b="0" i="0">
                <a:solidFill>
                  <a:srgbClr val="1A1D29"/>
                </a:solidFill>
                <a:latin typeface="Calibri"/>
              </a:rPr>
              <a:t>Returns total_uncertainty_ns → [t−U, t+U]</a:t>
            </a:r>
          </a:p>
          <a:p>
            <a:pPr algn="l">
              <a:spcBef>
                <a:spcPts val="0"/>
              </a:spcBef>
              <a:spcAft>
                <a:spcPts val="900"/>
              </a:spcAft>
            </a:pPr>
            <a:r>
              <a:rPr sz="1500" b="1" i="0">
                <a:solidFill>
                  <a:srgbClr val="14B8A6"/>
                </a:solidFill>
                <a:latin typeface="Calibri"/>
              </a:rPr>
              <a:t>•  </a:t>
            </a:r>
            <a:r>
              <a:rPr sz="1500" b="0" i="0">
                <a:solidFill>
                  <a:srgbClr val="1A1D29"/>
                </a:solidFill>
                <a:latin typeface="Calibri"/>
              </a:rPr>
              <a:t>ptp_unc_dmn reads ptp4l → /ptp_uncertainty SHM → libptp_unc.so</a:t>
            </a:r>
          </a:p>
          <a:p>
            <a:pPr algn="l">
              <a:spcBef>
                <a:spcPts val="0"/>
              </a:spcBef>
              <a:spcAft>
                <a:spcPts val="900"/>
              </a:spcAft>
            </a:pPr>
            <a:r>
              <a:rPr sz="1500" b="1" i="0">
                <a:solidFill>
                  <a:srgbClr val="14B8A6"/>
                </a:solidFill>
                <a:latin typeface="Calibri"/>
              </a:rPr>
              <a:t>•  </a:t>
            </a:r>
            <a:r>
              <a:rPr sz="1500" b="0" i="0">
                <a:solidFill>
                  <a:srgbClr val="1A1D29"/>
                </a:solidFill>
                <a:latin typeface="Calibri"/>
              </a:rPr>
              <a:t>Conservative worst-case bound (layer stats on top if wanted)</a:t>
            </a:r>
          </a:p>
          <a:p>
            <a:pPr algn="l">
              <a:spcBef>
                <a:spcPts val="0"/>
              </a:spcBef>
              <a:spcAft>
                <a:spcPts val="900"/>
              </a:spcAft>
            </a:pPr>
            <a:r>
              <a:rPr sz="1500" b="1" i="0">
                <a:solidFill>
                  <a:srgbClr val="14B8A6"/>
                </a:solidFill>
                <a:latin typeface="Calibri"/>
              </a:rPr>
              <a:t>•  </a:t>
            </a:r>
            <a:r>
              <a:rPr sz="1500" b="0" i="0">
                <a:solidFill>
                  <a:srgbClr val="1A1D29"/>
                </a:solidFill>
                <a:latin typeface="Calibri"/>
              </a:rPr>
              <a:t>Holdover: hold last anchor, drift grows at max_drift_ppb</a:t>
            </a:r>
          </a:p>
        </p:txBody>
      </p:sp>
      <p:sp>
        <p:nvSpPr>
          <p:cNvPr id="11" name="Rectangle 10"/>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13" name="TextBox 12"/>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E6BE6"/>
        </a:solidFill>
        <a:effectLst/>
      </p:bgPr>
    </p:bg>
    <p:spTree>
      <p:nvGrpSpPr>
        <p:cNvPr id="1" name=""/>
        <p:cNvGrpSpPr/>
        <p:nvPr/>
      </p:nvGrpSpPr>
      <p:grpSpPr/>
      <p:sp>
        <p:nvSpPr>
          <p:cNvPr id="2" name="Rectangle 1"/>
          <p:cNvSpPr/>
          <p:nvPr/>
        </p:nvSpPr>
        <p:spPr>
          <a:xfrm>
            <a:off x="0" y="2468880"/>
            <a:ext cx="3200400" cy="914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058400" cy="548640"/>
          </a:xfrm>
          <a:prstGeom prst="rect">
            <a:avLst/>
          </a:prstGeom>
          <a:noFill/>
        </p:spPr>
        <p:txBody>
          <a:bodyPr wrap="square" anchor="t" lIns="0" rIns="0" tIns="0" bIns="0">
            <a:spAutoFit/>
          </a:bodyPr>
          <a:lstStyle/>
          <a:p>
            <a:pPr algn="l">
              <a:spcBef>
                <a:spcPts val="0"/>
              </a:spcBef>
              <a:spcAft>
                <a:spcPts val="600"/>
              </a:spcAft>
            </a:pPr>
            <a:r>
              <a:rPr sz="2000" b="1" i="0">
                <a:solidFill>
                  <a:srgbClr val="C7D2F0"/>
                </a:solidFill>
                <a:latin typeface="Calibri"/>
              </a:rPr>
              <a:t>PART 6</a:t>
            </a:r>
          </a:p>
        </p:txBody>
      </p:sp>
      <p:sp>
        <p:nvSpPr>
          <p:cNvPr id="4" name="TextBox 3"/>
          <p:cNvSpPr txBox="1"/>
          <p:nvPr/>
        </p:nvSpPr>
        <p:spPr>
          <a:xfrm>
            <a:off x="804672" y="2697480"/>
            <a:ext cx="10515600" cy="1828800"/>
          </a:xfrm>
          <a:prstGeom prst="rect">
            <a:avLst/>
          </a:prstGeom>
          <a:noFill/>
        </p:spPr>
        <p:txBody>
          <a:bodyPr wrap="square" anchor="t" lIns="0" rIns="0" tIns="0" bIns="0">
            <a:spAutoFit/>
          </a:bodyPr>
          <a:lstStyle/>
          <a:p>
            <a:pPr algn="l">
              <a:spcBef>
                <a:spcPts val="0"/>
              </a:spcBef>
              <a:spcAft>
                <a:spcPts val="600"/>
              </a:spcAft>
            </a:pPr>
            <a:r>
              <a:rPr sz="4000" b="1" i="0">
                <a:solidFill>
                  <a:srgbClr val="FFFFFF"/>
                </a:solidFill>
                <a:latin typeface="Calibri"/>
              </a:rPr>
              <a:t>Measured on real oscillators</a:t>
            </a:r>
          </a:p>
        </p:txBody>
      </p:sp>
      <p:sp>
        <p:nvSpPr>
          <p:cNvPr id="5" name="TextBox 4"/>
          <p:cNvSpPr txBox="1"/>
          <p:nvPr/>
        </p:nvSpPr>
        <p:spPr>
          <a:xfrm>
            <a:off x="11002975" y="6263640"/>
            <a:ext cx="822960" cy="365760"/>
          </a:xfrm>
          <a:prstGeom prst="rect">
            <a:avLst/>
          </a:prstGeom>
          <a:noFill/>
        </p:spPr>
        <p:txBody>
          <a:bodyPr wrap="square" anchor="t" lIns="0" rIns="0" tIns="0" bIns="0">
            <a:spAutoFit/>
          </a:bodyPr>
          <a:lstStyle/>
          <a:p>
            <a:pPr algn="r">
              <a:spcBef>
                <a:spcPts val="0"/>
              </a:spcBef>
              <a:spcAft>
                <a:spcPts val="600"/>
              </a:spcAft>
            </a:pPr>
            <a:r>
              <a:rPr sz="1200" b="1" i="0">
                <a:solidFill>
                  <a:srgbClr val="FFFFFF"/>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164592"/>
            <a:ext cx="164592" cy="50292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19456"/>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MEASURED</a:t>
            </a:r>
          </a:p>
        </p:txBody>
      </p:sp>
      <p:pic>
        <p:nvPicPr>
          <p:cNvPr id="4" name="Picture 3" descr="fig_sawtooth.png"/>
          <p:cNvPicPr>
            <a:picLocks noChangeAspect="1"/>
          </p:cNvPicPr>
          <p:nvPr/>
        </p:nvPicPr>
        <p:blipFill>
          <a:blip r:embed="rId2"/>
          <a:stretch>
            <a:fillRect/>
          </a:stretch>
        </p:blipFill>
        <p:spPr>
          <a:xfrm>
            <a:off x="746607" y="749808"/>
            <a:ext cx="10698480" cy="5176683"/>
          </a:xfrm>
          <a:prstGeom prst="rect">
            <a:avLst/>
          </a:prstGeom>
        </p:spPr>
      </p:pic>
      <p:sp>
        <p:nvSpPr>
          <p:cNvPr id="5" name="TextBox 4"/>
          <p:cNvSpPr txBox="1"/>
          <p:nvPr/>
        </p:nvSpPr>
        <p:spPr>
          <a:xfrm>
            <a:off x="640080" y="5981355"/>
            <a:ext cx="10881360" cy="457200"/>
          </a:xfrm>
          <a:prstGeom prst="rect">
            <a:avLst/>
          </a:prstGeom>
          <a:noFill/>
        </p:spPr>
        <p:txBody>
          <a:bodyPr wrap="square" anchor="t" lIns="0" rIns="0" tIns="0" bIns="0">
            <a:spAutoFit/>
          </a:bodyPr>
          <a:lstStyle/>
          <a:p>
            <a:pPr algn="ctr">
              <a:spcBef>
                <a:spcPts val="0"/>
              </a:spcBef>
              <a:spcAft>
                <a:spcPts val="600"/>
              </a:spcAft>
            </a:pPr>
            <a:r>
              <a:rPr sz="1500" b="1" i="0">
                <a:solidFill>
                  <a:srgbClr val="1A1D29"/>
                </a:solidFill>
                <a:latin typeface="Calibri"/>
              </a:rPr>
              <a:t>A perfect sync becomes a growing interval within one second — this is the drift term, captured live.</a:t>
            </a:r>
          </a:p>
        </p:txBody>
      </p:sp>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164592"/>
            <a:ext cx="164592" cy="50292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19456"/>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MEASURED</a:t>
            </a:r>
          </a:p>
        </p:txBody>
      </p:sp>
      <p:pic>
        <p:nvPicPr>
          <p:cNvPr id="4" name="Picture 3" descr="fig_compare.png"/>
          <p:cNvPicPr>
            <a:picLocks noChangeAspect="1"/>
          </p:cNvPicPr>
          <p:nvPr/>
        </p:nvPicPr>
        <p:blipFill>
          <a:blip r:embed="rId2"/>
          <a:stretch>
            <a:fillRect/>
          </a:stretch>
        </p:blipFill>
        <p:spPr>
          <a:xfrm>
            <a:off x="746607" y="749808"/>
            <a:ext cx="10698480" cy="5176683"/>
          </a:xfrm>
          <a:prstGeom prst="rect">
            <a:avLst/>
          </a:prstGeom>
        </p:spPr>
      </p:pic>
      <p:sp>
        <p:nvSpPr>
          <p:cNvPr id="5" name="TextBox 4"/>
          <p:cNvSpPr txBox="1"/>
          <p:nvPr/>
        </p:nvSpPr>
        <p:spPr>
          <a:xfrm>
            <a:off x="640080" y="5981355"/>
            <a:ext cx="10881360" cy="457200"/>
          </a:xfrm>
          <a:prstGeom prst="rect">
            <a:avLst/>
          </a:prstGeom>
          <a:noFill/>
        </p:spPr>
        <p:txBody>
          <a:bodyPr wrap="square" anchor="t" lIns="0" rIns="0" tIns="0" bIns="0">
            <a:spAutoFit/>
          </a:bodyPr>
          <a:lstStyle/>
          <a:p>
            <a:pPr algn="ctr">
              <a:spcBef>
                <a:spcPts val="0"/>
              </a:spcBef>
              <a:spcAft>
                <a:spcPts val="600"/>
              </a:spcAft>
            </a:pPr>
            <a:r>
              <a:rPr sz="1500" b="1" i="0">
                <a:solidFill>
                  <a:srgbClr val="1A1D29"/>
                </a:solidFill>
                <a:latin typeface="Calibri"/>
              </a:rPr>
              <a:t>Same PTP quality, four oscillator classes — the drift bound alone spans two orders of magnitude.</a:t>
            </a:r>
          </a:p>
        </p:txBody>
      </p:sp>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164592"/>
            <a:ext cx="164592" cy="50292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19456"/>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MEASURED</a:t>
            </a:r>
          </a:p>
        </p:txBody>
      </p:sp>
      <p:pic>
        <p:nvPicPr>
          <p:cNvPr id="4" name="Picture 3" descr="fig_budget.png"/>
          <p:cNvPicPr>
            <a:picLocks noChangeAspect="1"/>
          </p:cNvPicPr>
          <p:nvPr/>
        </p:nvPicPr>
        <p:blipFill>
          <a:blip r:embed="rId2"/>
          <a:stretch>
            <a:fillRect/>
          </a:stretch>
        </p:blipFill>
        <p:spPr>
          <a:xfrm>
            <a:off x="746607" y="749808"/>
            <a:ext cx="10698480" cy="5176683"/>
          </a:xfrm>
          <a:prstGeom prst="rect">
            <a:avLst/>
          </a:prstGeom>
        </p:spPr>
      </p:pic>
      <p:sp>
        <p:nvSpPr>
          <p:cNvPr id="5" name="TextBox 4"/>
          <p:cNvSpPr txBox="1"/>
          <p:nvPr/>
        </p:nvSpPr>
        <p:spPr>
          <a:xfrm>
            <a:off x="640080" y="5981355"/>
            <a:ext cx="10881360" cy="457200"/>
          </a:xfrm>
          <a:prstGeom prst="rect">
            <a:avLst/>
          </a:prstGeom>
          <a:noFill/>
        </p:spPr>
        <p:txBody>
          <a:bodyPr wrap="square" anchor="t" lIns="0" rIns="0" tIns="0" bIns="0">
            <a:spAutoFit/>
          </a:bodyPr>
          <a:lstStyle/>
          <a:p>
            <a:pPr algn="ctr">
              <a:spcBef>
                <a:spcPts val="0"/>
              </a:spcBef>
              <a:spcAft>
                <a:spcPts val="600"/>
              </a:spcAft>
            </a:pPr>
            <a:r>
              <a:rPr sz="1500" b="1" i="0">
                <a:solidFill>
                  <a:srgbClr val="1A1D29"/>
                </a:solidFill>
                <a:latin typeface="Calibri"/>
              </a:rPr>
              <a:t>Between sync messages, oscillator holdover — not PTP — decides whether your bound is 0.3 µs or 120 µs.</a:t>
            </a:r>
          </a:p>
        </p:txBody>
      </p:sp>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E6BE6"/>
        </a:solidFill>
        <a:effectLst/>
      </p:bgPr>
    </p:bg>
    <p:spTree>
      <p:nvGrpSpPr>
        <p:cNvPr id="1" name=""/>
        <p:cNvGrpSpPr/>
        <p:nvPr/>
      </p:nvGrpSpPr>
      <p:grpSpPr/>
      <p:sp>
        <p:nvSpPr>
          <p:cNvPr id="2" name="Rectangle 1"/>
          <p:cNvSpPr/>
          <p:nvPr/>
        </p:nvSpPr>
        <p:spPr>
          <a:xfrm>
            <a:off x="0" y="2468880"/>
            <a:ext cx="3200400" cy="914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058400" cy="548640"/>
          </a:xfrm>
          <a:prstGeom prst="rect">
            <a:avLst/>
          </a:prstGeom>
          <a:noFill/>
        </p:spPr>
        <p:txBody>
          <a:bodyPr wrap="square" anchor="t" lIns="0" rIns="0" tIns="0" bIns="0">
            <a:spAutoFit/>
          </a:bodyPr>
          <a:lstStyle/>
          <a:p>
            <a:pPr algn="l">
              <a:spcBef>
                <a:spcPts val="0"/>
              </a:spcBef>
              <a:spcAft>
                <a:spcPts val="600"/>
              </a:spcAft>
            </a:pPr>
            <a:r>
              <a:rPr sz="2000" b="1" i="0">
                <a:solidFill>
                  <a:srgbClr val="C7D2F0"/>
                </a:solidFill>
                <a:latin typeface="Calibri"/>
              </a:rPr>
              <a:t>PART 7</a:t>
            </a:r>
          </a:p>
        </p:txBody>
      </p:sp>
      <p:sp>
        <p:nvSpPr>
          <p:cNvPr id="4" name="TextBox 3"/>
          <p:cNvSpPr txBox="1"/>
          <p:nvPr/>
        </p:nvSpPr>
        <p:spPr>
          <a:xfrm>
            <a:off x="804672" y="2697480"/>
            <a:ext cx="10515600" cy="1828800"/>
          </a:xfrm>
          <a:prstGeom prst="rect">
            <a:avLst/>
          </a:prstGeom>
          <a:noFill/>
        </p:spPr>
        <p:txBody>
          <a:bodyPr wrap="square" anchor="t" lIns="0" rIns="0" tIns="0" bIns="0">
            <a:spAutoFit/>
          </a:bodyPr>
          <a:lstStyle/>
          <a:p>
            <a:pPr algn="l">
              <a:spcBef>
                <a:spcPts val="0"/>
              </a:spcBef>
              <a:spcAft>
                <a:spcPts val="600"/>
              </a:spcAft>
            </a:pPr>
            <a:r>
              <a:rPr sz="4000" b="1" i="0">
                <a:solidFill>
                  <a:srgbClr val="FFFFFF"/>
                </a:solidFill>
                <a:latin typeface="Calibri"/>
              </a:rPr>
              <a:t>The full story: fast time + its uncertainty</a:t>
            </a:r>
          </a:p>
        </p:txBody>
      </p:sp>
      <p:sp>
        <p:nvSpPr>
          <p:cNvPr id="5" name="TextBox 4"/>
          <p:cNvSpPr txBox="1"/>
          <p:nvPr/>
        </p:nvSpPr>
        <p:spPr>
          <a:xfrm>
            <a:off x="11002975" y="6263640"/>
            <a:ext cx="822960" cy="365760"/>
          </a:xfrm>
          <a:prstGeom prst="rect">
            <a:avLst/>
          </a:prstGeom>
          <a:noFill/>
        </p:spPr>
        <p:txBody>
          <a:bodyPr wrap="square" anchor="t" lIns="0" rIns="0" tIns="0" bIns="0">
            <a:spAutoFit/>
          </a:bodyPr>
          <a:lstStyle/>
          <a:p>
            <a:pPr algn="r">
              <a:spcBef>
                <a:spcPts val="0"/>
              </a:spcBef>
              <a:spcAft>
                <a:spcPts val="600"/>
              </a:spcAft>
            </a:pPr>
            <a:r>
              <a:rPr sz="1200" b="1" i="0">
                <a:solidFill>
                  <a:srgbClr val="FFFFFF"/>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F1FB"/>
        </a:solidFill>
        <a:effectLst/>
      </p:bgPr>
    </p:bg>
    <p:spTree>
      <p:nvGrpSpPr>
        <p:cNvPr id="1" name=""/>
        <p:cNvGrpSpPr/>
        <p:nvPr/>
      </p:nvGrpSpPr>
      <p:grpSpPr/>
      <p:sp>
        <p:nvSpPr>
          <p:cNvPr id="2" name="Rectangle 1"/>
          <p:cNvSpPr/>
          <p:nvPr/>
        </p:nvSpPr>
        <p:spPr>
          <a:xfrm>
            <a:off x="822960" y="2331720"/>
            <a:ext cx="2377440" cy="9144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514600"/>
            <a:ext cx="10515600" cy="1828800"/>
          </a:xfrm>
          <a:prstGeom prst="rect">
            <a:avLst/>
          </a:prstGeom>
          <a:noFill/>
        </p:spPr>
        <p:txBody>
          <a:bodyPr wrap="square" anchor="t" lIns="0" rIns="0" tIns="0" bIns="0">
            <a:spAutoFit/>
          </a:bodyPr>
          <a:lstStyle/>
          <a:p>
            <a:pPr algn="l">
              <a:spcBef>
                <a:spcPts val="0"/>
              </a:spcBef>
              <a:spcAft>
                <a:spcPts val="600"/>
              </a:spcAft>
            </a:pPr>
            <a:r>
              <a:rPr sz="3400" b="1" i="0">
                <a:solidFill>
                  <a:srgbClr val="1A1D29"/>
                </a:solidFill>
                <a:latin typeface="Calibri"/>
              </a:rPr>
              <a:t>Fast access gives you the time cheaply. Uncertainty tells you how far to trust it.</a:t>
            </a:r>
          </a:p>
        </p:txBody>
      </p:sp>
      <p:sp>
        <p:nvSpPr>
          <p:cNvPr id="4" name="TextBox 3"/>
          <p:cNvSpPr txBox="1"/>
          <p:nvPr/>
        </p:nvSpPr>
        <p:spPr>
          <a:xfrm>
            <a:off x="841248" y="4206240"/>
            <a:ext cx="10515600" cy="1097280"/>
          </a:xfrm>
          <a:prstGeom prst="rect">
            <a:avLst/>
          </a:prstGeom>
          <a:noFill/>
        </p:spPr>
        <p:txBody>
          <a:bodyPr wrap="square" anchor="t" lIns="0" rIns="0" tIns="0" bIns="0">
            <a:spAutoFit/>
          </a:bodyPr>
          <a:lstStyle/>
          <a:p>
            <a:pPr algn="l">
              <a:spcBef>
                <a:spcPts val="0"/>
              </a:spcBef>
              <a:spcAft>
                <a:spcPts val="600"/>
              </a:spcAft>
            </a:pPr>
            <a:r>
              <a:rPr sz="2000" b="0" i="1">
                <a:solidFill>
                  <a:srgbClr val="5B6172"/>
                </a:solidFill>
                <a:latin typeface="Calibri"/>
              </a:rPr>
              <a:t>The prior talk made the read fast; this one puts an error bar on it — fast time and its uncertainty, together.</a:t>
            </a:r>
          </a:p>
        </p:txBody>
      </p:sp>
      <p:sp>
        <p:nvSpPr>
          <p:cNvPr id="5" name="Rectangle 4"/>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7" name="TextBox 6"/>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THE FULL STORY</a:t>
            </a:r>
          </a:p>
        </p:txBody>
      </p:sp>
      <p:sp>
        <p:nvSpPr>
          <p:cNvPr id="4" name="TextBox 3"/>
          <p:cNvSpPr txBox="1"/>
          <p:nvPr/>
        </p:nvSpPr>
        <p:spPr>
          <a:xfrm>
            <a:off x="502920" y="566928"/>
            <a:ext cx="11155680" cy="82296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Fast time + its uncertainty compose</a:t>
            </a:r>
          </a:p>
        </p:txBody>
      </p:sp>
      <p:graphicFrame>
        <p:nvGraphicFramePr>
          <p:cNvPr id="5" name="Table 4"/>
          <p:cNvGraphicFramePr>
            <a:graphicFrameLocks noGrp="1"/>
          </p:cNvGraphicFramePr>
          <p:nvPr/>
        </p:nvGraphicFramePr>
        <p:xfrm>
          <a:off x="640080" y="1645920"/>
          <a:ext cx="10881360" cy="2743200"/>
        </p:xfrm>
        <a:graphic>
          <a:graphicData uri="http://schemas.openxmlformats.org/drawingml/2006/table">
            <a:tbl>
              <a:tblPr firstRow="1" bandRow="1">
                <a:tableStyleId>{5C22544A-7EE6-4342-B048-85BDC9FD1C3A}</a:tableStyleId>
              </a:tblPr>
              <a:tblGrid>
                <a:gridCol w="3627120"/>
                <a:gridCol w="3627120"/>
                <a:gridCol w="3627120"/>
              </a:tblGrid>
              <a:tr h="457200">
                <a:tc>
                  <a:txBody>
                    <a:bodyPr/>
                    <a:lstStyle/>
                    <a:p>
                      <a:r>
                        <a:rPr b="1" sz="1500">
                          <a:solidFill>
                            <a:srgbClr val="FFFFFF"/>
                          </a:solidFill>
                          <a:latin typeface="Calibri"/>
                        </a:rPr>
                        <a:t>Capability</a:t>
                      </a:r>
                    </a:p>
                  </a:txBody>
                  <a:tcPr marL="109728" marT="45720" marB="45720">
                    <a:solidFill>
                      <a:srgbClr val="2E6BE6"/>
                    </a:solidFill>
                  </a:tcPr>
                </a:tc>
                <a:tc>
                  <a:txBody>
                    <a:bodyPr/>
                    <a:lstStyle/>
                    <a:p>
                      <a:r>
                        <a:rPr b="1" sz="1500">
                          <a:solidFill>
                            <a:srgbClr val="FFFFFF"/>
                          </a:solidFill>
                          <a:latin typeface="Calibri"/>
                        </a:rPr>
                        <a:t>Fast read alone</a:t>
                      </a:r>
                    </a:p>
                  </a:txBody>
                  <a:tcPr marL="109728" marT="45720" marB="45720">
                    <a:solidFill>
                      <a:srgbClr val="2E6BE6"/>
                    </a:solidFill>
                  </a:tcPr>
                </a:tc>
                <a:tc>
                  <a:txBody>
                    <a:bodyPr/>
                    <a:lstStyle/>
                    <a:p>
                      <a:r>
                        <a:rPr b="1" sz="1500">
                          <a:solidFill>
                            <a:srgbClr val="FFFFFF"/>
                          </a:solidFill>
                          <a:latin typeface="Calibri"/>
                        </a:rPr>
                        <a:t>+ uncertainty</a:t>
                      </a:r>
                    </a:p>
                  </a:txBody>
                  <a:tcPr marL="109728" marT="45720" marB="45720">
                    <a:solidFill>
                      <a:srgbClr val="2E6BE6"/>
                    </a:solidFill>
                  </a:tcPr>
                </a:tc>
              </a:tr>
              <a:tr h="457200">
                <a:tc>
                  <a:txBody>
                    <a:bodyPr/>
                    <a:lstStyle/>
                    <a:p>
                      <a:r>
                        <a:rPr sz="1350" b="1">
                          <a:solidFill>
                            <a:srgbClr val="1A1D29"/>
                          </a:solidFill>
                          <a:latin typeface="Calibri"/>
                        </a:rPr>
                        <a:t>Low-overhead timestamp</a:t>
                      </a:r>
                    </a:p>
                  </a:txBody>
                  <a:tcPr marL="109728" marT="36576" marB="36576">
                    <a:solidFill>
                      <a:srgbClr val="FFFFFF"/>
                    </a:solidFill>
                  </a:tcPr>
                </a:tc>
                <a:tc>
                  <a:txBody>
                    <a:bodyPr/>
                    <a:lstStyle/>
                    <a:p>
                      <a:r>
                        <a:rPr sz="1350" b="0">
                          <a:solidFill>
                            <a:srgbClr val="5B6172"/>
                          </a:solidFill>
                          <a:latin typeface="Calibri"/>
                        </a:rPr>
                        <a:t>yes</a:t>
                      </a:r>
                    </a:p>
                  </a:txBody>
                  <a:tcPr marL="109728" marT="36576" marB="36576">
                    <a:solidFill>
                      <a:srgbClr val="FFFFFF"/>
                    </a:solidFill>
                  </a:tcPr>
                </a:tc>
                <a:tc>
                  <a:txBody>
                    <a:bodyPr/>
                    <a:lstStyle/>
                    <a:p>
                      <a:r>
                        <a:rPr sz="1350" b="0">
                          <a:solidFill>
                            <a:srgbClr val="5B6172"/>
                          </a:solidFill>
                          <a:latin typeface="Calibri"/>
                        </a:rPr>
                        <a:t>yes</a:t>
                      </a:r>
                    </a:p>
                  </a:txBody>
                  <a:tcPr marL="109728" marT="36576" marB="36576">
                    <a:solidFill>
                      <a:srgbClr val="FFFFFF"/>
                    </a:solidFill>
                  </a:tcPr>
                </a:tc>
              </a:tr>
              <a:tr h="457200">
                <a:tc>
                  <a:txBody>
                    <a:bodyPr/>
                    <a:lstStyle/>
                    <a:p>
                      <a:r>
                        <a:rPr sz="1350" b="1">
                          <a:solidFill>
                            <a:srgbClr val="1A1D29"/>
                          </a:solidFill>
                          <a:latin typeface="Calibri"/>
                        </a:rPr>
                        <a:t>Compare two events</a:t>
                      </a:r>
                    </a:p>
                  </a:txBody>
                  <a:tcPr marL="109728" marT="36576" marB="36576">
                    <a:solidFill>
                      <a:srgbClr val="EDF1FB"/>
                    </a:solidFill>
                  </a:tcPr>
                </a:tc>
                <a:tc>
                  <a:txBody>
                    <a:bodyPr/>
                    <a:lstStyle/>
                    <a:p>
                      <a:r>
                        <a:rPr sz="1350" b="0">
                          <a:solidFill>
                            <a:srgbClr val="5B6172"/>
                          </a:solidFill>
                          <a:latin typeface="Calibri"/>
                        </a:rPr>
                        <a:t>point compare</a:t>
                      </a:r>
                    </a:p>
                  </a:txBody>
                  <a:tcPr marL="109728" marT="36576" marB="36576">
                    <a:solidFill>
                      <a:srgbClr val="EDF1FB"/>
                    </a:solidFill>
                  </a:tcPr>
                </a:tc>
                <a:tc>
                  <a:txBody>
                    <a:bodyPr/>
                    <a:lstStyle/>
                    <a:p>
                      <a:r>
                        <a:rPr sz="1350" b="0">
                          <a:solidFill>
                            <a:srgbClr val="5B6172"/>
                          </a:solidFill>
                          <a:latin typeface="Calibri"/>
                        </a:rPr>
                        <a:t>interval compare</a:t>
                      </a:r>
                    </a:p>
                  </a:txBody>
                  <a:tcPr marL="109728" marT="36576" marB="36576">
                    <a:solidFill>
                      <a:srgbClr val="EDF1FB"/>
                    </a:solidFill>
                  </a:tcPr>
                </a:tc>
              </a:tr>
              <a:tr h="457200">
                <a:tc>
                  <a:txBody>
                    <a:bodyPr/>
                    <a:lstStyle/>
                    <a:p>
                      <a:r>
                        <a:rPr sz="1350" b="1">
                          <a:solidFill>
                            <a:srgbClr val="1A1D29"/>
                          </a:solidFill>
                          <a:latin typeface="Calibri"/>
                        </a:rPr>
                        <a:t>Know when order is ambiguous</a:t>
                      </a:r>
                    </a:p>
                  </a:txBody>
                  <a:tcPr marL="109728" marT="36576" marB="36576">
                    <a:solidFill>
                      <a:srgbClr val="FFFFFF"/>
                    </a:solidFill>
                  </a:tcPr>
                </a:tc>
                <a:tc>
                  <a:txBody>
                    <a:bodyPr/>
                    <a:lstStyle/>
                    <a:p>
                      <a:r>
                        <a:rPr sz="1350" b="0">
                          <a:solidFill>
                            <a:srgbClr val="5B6172"/>
                          </a:solidFill>
                          <a:latin typeface="Calibri"/>
                        </a:rPr>
                        <a:t>no</a:t>
                      </a:r>
                    </a:p>
                  </a:txBody>
                  <a:tcPr marL="109728" marT="36576" marB="36576">
                    <a:solidFill>
                      <a:srgbClr val="FFFFFF"/>
                    </a:solidFill>
                  </a:tcPr>
                </a:tc>
                <a:tc>
                  <a:txBody>
                    <a:bodyPr/>
                    <a:lstStyle/>
                    <a:p>
                      <a:r>
                        <a:rPr sz="1350" b="0">
                          <a:solidFill>
                            <a:srgbClr val="5B6172"/>
                          </a:solidFill>
                          <a:latin typeface="Calibri"/>
                        </a:rPr>
                        <a:t>explicit</a:t>
                      </a:r>
                    </a:p>
                  </a:txBody>
                  <a:tcPr marL="109728" marT="36576" marB="36576">
                    <a:solidFill>
                      <a:srgbClr val="FFFFFF"/>
                    </a:solidFill>
                  </a:tcPr>
                </a:tc>
              </a:tr>
              <a:tr h="457200">
                <a:tc>
                  <a:txBody>
                    <a:bodyPr/>
                    <a:lstStyle/>
                    <a:p>
                      <a:r>
                        <a:rPr sz="1350" b="1">
                          <a:solidFill>
                            <a:srgbClr val="1A1D29"/>
                          </a:solidFill>
                          <a:latin typeface="Calibri"/>
                        </a:rPr>
                        <a:t>Gate decisions on trust</a:t>
                      </a:r>
                    </a:p>
                  </a:txBody>
                  <a:tcPr marL="109728" marT="36576" marB="36576">
                    <a:solidFill>
                      <a:srgbClr val="EDF1FB"/>
                    </a:solidFill>
                  </a:tcPr>
                </a:tc>
                <a:tc>
                  <a:txBody>
                    <a:bodyPr/>
                    <a:lstStyle/>
                    <a:p>
                      <a:r>
                        <a:rPr sz="1350" b="0">
                          <a:solidFill>
                            <a:srgbClr val="5B6172"/>
                          </a:solidFill>
                          <a:latin typeface="Calibri"/>
                        </a:rPr>
                        <a:t>no</a:t>
                      </a:r>
                    </a:p>
                  </a:txBody>
                  <a:tcPr marL="109728" marT="36576" marB="36576">
                    <a:solidFill>
                      <a:srgbClr val="EDF1FB"/>
                    </a:solidFill>
                  </a:tcPr>
                </a:tc>
                <a:tc>
                  <a:txBody>
                    <a:bodyPr/>
                    <a:lstStyle/>
                    <a:p>
                      <a:r>
                        <a:rPr sz="1350" b="0">
                          <a:solidFill>
                            <a:srgbClr val="5B6172"/>
                          </a:solidFill>
                          <a:latin typeface="Calibri"/>
                        </a:rPr>
                        <a:t>threshold on U</a:t>
                      </a:r>
                    </a:p>
                  </a:txBody>
                  <a:tcPr marL="109728" marT="36576" marB="36576">
                    <a:solidFill>
                      <a:srgbClr val="EDF1FB"/>
                    </a:solidFill>
                  </a:tcPr>
                </a:tc>
              </a:tr>
              <a:tr h="457200">
                <a:tc>
                  <a:txBody>
                    <a:bodyPr/>
                    <a:lstStyle/>
                    <a:p>
                      <a:r>
                        <a:rPr sz="1350" b="1">
                          <a:solidFill>
                            <a:srgbClr val="1A1D29"/>
                          </a:solidFill>
                          <a:latin typeface="Calibri"/>
                        </a:rPr>
                        <a:t>Merge / correlation window</a:t>
                      </a:r>
                    </a:p>
                  </a:txBody>
                  <a:tcPr marL="109728" marT="36576" marB="36576">
                    <a:solidFill>
                      <a:srgbClr val="FFFFFF"/>
                    </a:solidFill>
                  </a:tcPr>
                </a:tc>
                <a:tc>
                  <a:txBody>
                    <a:bodyPr/>
                    <a:lstStyle/>
                    <a:p>
                      <a:r>
                        <a:rPr sz="1350" b="0">
                          <a:solidFill>
                            <a:srgbClr val="5B6172"/>
                          </a:solidFill>
                          <a:latin typeface="Calibri"/>
                        </a:rPr>
                        <a:t>fixed</a:t>
                      </a:r>
                    </a:p>
                  </a:txBody>
                  <a:tcPr marL="109728" marT="36576" marB="36576">
                    <a:solidFill>
                      <a:srgbClr val="FFFFFF"/>
                    </a:solidFill>
                  </a:tcPr>
                </a:tc>
                <a:tc>
                  <a:txBody>
                    <a:bodyPr/>
                    <a:lstStyle/>
                    <a:p>
                      <a:r>
                        <a:rPr sz="1350" b="0">
                          <a:solidFill>
                            <a:srgbClr val="5B6172"/>
                          </a:solidFill>
                          <a:latin typeface="Calibri"/>
                        </a:rPr>
                        <a:t>adapts to live U</a:t>
                      </a:r>
                    </a:p>
                  </a:txBody>
                  <a:tcPr marL="109728" marT="36576" marB="36576">
                    <a:solidFill>
                      <a:srgbClr val="FFFFFF"/>
                    </a:solidFill>
                  </a:tcPr>
                </a:tc>
              </a:tr>
            </a:tbl>
          </a:graphicData>
        </a:graphic>
      </p:graphicFrame>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E6BE6"/>
        </a:solidFill>
        <a:effectLst/>
      </p:bgPr>
    </p:bg>
    <p:spTree>
      <p:nvGrpSpPr>
        <p:cNvPr id="1" name=""/>
        <p:cNvGrpSpPr/>
        <p:nvPr/>
      </p:nvGrpSpPr>
      <p:grpSpPr/>
      <p:sp>
        <p:nvSpPr>
          <p:cNvPr id="2" name="Rectangle 1"/>
          <p:cNvSpPr/>
          <p:nvPr/>
        </p:nvSpPr>
        <p:spPr>
          <a:xfrm>
            <a:off x="0" y="2468880"/>
            <a:ext cx="3200400" cy="914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058400" cy="548640"/>
          </a:xfrm>
          <a:prstGeom prst="rect">
            <a:avLst/>
          </a:prstGeom>
          <a:noFill/>
        </p:spPr>
        <p:txBody>
          <a:bodyPr wrap="square" anchor="t" lIns="0" rIns="0" tIns="0" bIns="0">
            <a:spAutoFit/>
          </a:bodyPr>
          <a:lstStyle/>
          <a:p>
            <a:pPr algn="l">
              <a:spcBef>
                <a:spcPts val="0"/>
              </a:spcBef>
              <a:spcAft>
                <a:spcPts val="600"/>
              </a:spcAft>
            </a:pPr>
            <a:r>
              <a:rPr sz="2000" b="1" i="0">
                <a:solidFill>
                  <a:srgbClr val="C7D2F0"/>
                </a:solidFill>
                <a:latin typeface="Calibri"/>
              </a:rPr>
              <a:t>PART 8</a:t>
            </a:r>
          </a:p>
        </p:txBody>
      </p:sp>
      <p:sp>
        <p:nvSpPr>
          <p:cNvPr id="4" name="TextBox 3"/>
          <p:cNvSpPr txBox="1"/>
          <p:nvPr/>
        </p:nvSpPr>
        <p:spPr>
          <a:xfrm>
            <a:off x="804672" y="2697480"/>
            <a:ext cx="10515600" cy="1828800"/>
          </a:xfrm>
          <a:prstGeom prst="rect">
            <a:avLst/>
          </a:prstGeom>
          <a:noFill/>
        </p:spPr>
        <p:txBody>
          <a:bodyPr wrap="square" anchor="t" lIns="0" rIns="0" tIns="0" bIns="0">
            <a:spAutoFit/>
          </a:bodyPr>
          <a:lstStyle/>
          <a:p>
            <a:pPr algn="l">
              <a:spcBef>
                <a:spcPts val="0"/>
              </a:spcBef>
              <a:spcAft>
                <a:spcPts val="600"/>
              </a:spcAft>
            </a:pPr>
            <a:r>
              <a:rPr sz="4000" b="1" i="0">
                <a:solidFill>
                  <a:srgbClr val="FFFFFF"/>
                </a:solidFill>
                <a:latin typeface="Calibri"/>
              </a:rPr>
              <a:t>Linux APIs: what we have, what we lack</a:t>
            </a:r>
          </a:p>
        </p:txBody>
      </p:sp>
      <p:sp>
        <p:nvSpPr>
          <p:cNvPr id="5" name="TextBox 4"/>
          <p:cNvSpPr txBox="1"/>
          <p:nvPr/>
        </p:nvSpPr>
        <p:spPr>
          <a:xfrm>
            <a:off x="11002975" y="6263640"/>
            <a:ext cx="822960" cy="365760"/>
          </a:xfrm>
          <a:prstGeom prst="rect">
            <a:avLst/>
          </a:prstGeom>
          <a:noFill/>
        </p:spPr>
        <p:txBody>
          <a:bodyPr wrap="square" anchor="t" lIns="0" rIns="0" tIns="0" bIns="0">
            <a:spAutoFit/>
          </a:bodyPr>
          <a:lstStyle/>
          <a:p>
            <a:pPr algn="r">
              <a:spcBef>
                <a:spcPts val="0"/>
              </a:spcBef>
              <a:spcAft>
                <a:spcPts val="600"/>
              </a:spcAft>
            </a:pPr>
            <a:r>
              <a:rPr sz="1200" b="1" i="0">
                <a:solidFill>
                  <a:srgbClr val="FFFFFF"/>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KERNEL LIMITS</a:t>
            </a:r>
          </a:p>
        </p:txBody>
      </p:sp>
      <p:sp>
        <p:nvSpPr>
          <p:cNvPr id="4" name="TextBox 3"/>
          <p:cNvSpPr txBox="1"/>
          <p:nvPr/>
        </p:nvSpPr>
        <p:spPr>
          <a:xfrm>
            <a:off x="502920" y="566928"/>
            <a:ext cx="11155680" cy="82296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The kernel gives ingredients, not the recipe</a:t>
            </a:r>
          </a:p>
        </p:txBody>
      </p:sp>
      <p:sp>
        <p:nvSpPr>
          <p:cNvPr id="5" name="Rectangle 4"/>
          <p:cNvSpPr/>
          <p:nvPr/>
        </p:nvSpPr>
        <p:spPr>
          <a:xfrm>
            <a:off x="640080" y="1691640"/>
            <a:ext cx="5349240" cy="4297680"/>
          </a:xfrm>
          <a:prstGeom prst="rect">
            <a:avLst/>
          </a:prstGeom>
          <a:solidFill>
            <a:srgbClr val="ED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56232"/>
            <a:ext cx="4892040" cy="457200"/>
          </a:xfrm>
          <a:prstGeom prst="rect">
            <a:avLst/>
          </a:prstGeom>
          <a:noFill/>
        </p:spPr>
        <p:txBody>
          <a:bodyPr wrap="square" anchor="t" lIns="0" rIns="0" tIns="0" bIns="0">
            <a:spAutoFit/>
          </a:bodyPr>
          <a:lstStyle/>
          <a:p>
            <a:pPr algn="l">
              <a:spcBef>
                <a:spcPts val="0"/>
              </a:spcBef>
              <a:spcAft>
                <a:spcPts val="600"/>
              </a:spcAft>
            </a:pPr>
            <a:r>
              <a:rPr sz="1800" b="1" i="0">
                <a:solidFill>
                  <a:srgbClr val="2E6BE6"/>
                </a:solidFill>
                <a:latin typeface="Calibri"/>
              </a:rPr>
              <a:t>Kernel today: raw ingredients</a:t>
            </a:r>
          </a:p>
        </p:txBody>
      </p:sp>
      <p:sp>
        <p:nvSpPr>
          <p:cNvPr id="7" name="TextBox 6"/>
          <p:cNvSpPr txBox="1"/>
          <p:nvPr/>
        </p:nvSpPr>
        <p:spPr>
          <a:xfrm>
            <a:off x="868680" y="2468880"/>
            <a:ext cx="4892040" cy="3291840"/>
          </a:xfrm>
          <a:prstGeom prst="rect">
            <a:avLst/>
          </a:prstGeom>
          <a:noFill/>
        </p:spPr>
        <p:txBody>
          <a:bodyPr wrap="square" anchor="t" lIns="0" rIns="0" tIns="0" bIns="0">
            <a:spAutoFit/>
          </a:bodyPr>
          <a:lstStyle/>
          <a:p>
            <a:pPr algn="l">
              <a:spcBef>
                <a:spcPts val="0"/>
              </a:spcBef>
              <a:spcAft>
                <a:spcPts val="900"/>
              </a:spcAft>
            </a:pPr>
            <a:r>
              <a:rPr sz="1500" b="1" i="0">
                <a:solidFill>
                  <a:srgbClr val="2E6BE6"/>
                </a:solidFill>
                <a:latin typeface="Calibri"/>
              </a:rPr>
              <a:t>•  </a:t>
            </a:r>
            <a:r>
              <a:rPr sz="1500" b="0" i="0">
                <a:solidFill>
                  <a:srgbClr val="1A1D29"/>
                </a:solidFill>
                <a:latin typeface="Calibri"/>
              </a:rPr>
              <a:t>SO_TIMESTAMPING — HW/SW RX/TX timestamps</a:t>
            </a:r>
          </a:p>
          <a:p>
            <a:pPr algn="l">
              <a:spcBef>
                <a:spcPts val="0"/>
              </a:spcBef>
              <a:spcAft>
                <a:spcPts val="900"/>
              </a:spcAft>
            </a:pPr>
            <a:r>
              <a:rPr sz="1500" b="1" i="0">
                <a:solidFill>
                  <a:srgbClr val="2E6BE6"/>
                </a:solidFill>
                <a:latin typeface="Calibri"/>
              </a:rPr>
              <a:t>•  </a:t>
            </a:r>
            <a:r>
              <a:rPr sz="1500" b="0" i="0">
                <a:solidFill>
                  <a:srgbClr val="1A1D29"/>
                </a:solidFill>
                <a:latin typeface="Calibri"/>
              </a:rPr>
              <a:t>PTP_SYS_OFFSET(_EXTENDED) — PHC ↔ system</a:t>
            </a:r>
          </a:p>
          <a:p>
            <a:pPr algn="l">
              <a:spcBef>
                <a:spcPts val="0"/>
              </a:spcBef>
              <a:spcAft>
                <a:spcPts val="900"/>
              </a:spcAft>
            </a:pPr>
            <a:r>
              <a:rPr sz="1500" b="1" i="0">
                <a:solidFill>
                  <a:srgbClr val="2E6BE6"/>
                </a:solidFill>
                <a:latin typeface="Calibri"/>
              </a:rPr>
              <a:t>•  </a:t>
            </a:r>
            <a:r>
              <a:rPr sz="1500" b="0" i="0">
                <a:solidFill>
                  <a:srgbClr val="1A1D29"/>
                </a:solidFill>
                <a:latin typeface="Calibri"/>
              </a:rPr>
              <a:t>/dev/ptpN — freq adjust, ext timestamps</a:t>
            </a:r>
          </a:p>
          <a:p>
            <a:pPr algn="l">
              <a:spcBef>
                <a:spcPts val="0"/>
              </a:spcBef>
              <a:spcAft>
                <a:spcPts val="900"/>
              </a:spcAft>
            </a:pPr>
            <a:r>
              <a:rPr sz="1500" b="1" i="0">
                <a:solidFill>
                  <a:srgbClr val="2E6BE6"/>
                </a:solidFill>
                <a:latin typeface="Calibri"/>
              </a:rPr>
              <a:t>•  </a:t>
            </a:r>
            <a:r>
              <a:rPr sz="1500" b="0" i="0">
                <a:solidFill>
                  <a:srgbClr val="1A1D29"/>
                </a:solidFill>
                <a:latin typeface="Calibri"/>
              </a:rPr>
              <a:t>sync state lives only in ptp4l userspace</a:t>
            </a:r>
          </a:p>
        </p:txBody>
      </p:sp>
      <p:sp>
        <p:nvSpPr>
          <p:cNvPr id="8" name="Rectangle 7"/>
          <p:cNvSpPr/>
          <p:nvPr/>
        </p:nvSpPr>
        <p:spPr>
          <a:xfrm>
            <a:off x="6355080" y="1691640"/>
            <a:ext cx="5349240" cy="4297680"/>
          </a:xfrm>
          <a:prstGeom prst="rect">
            <a:avLst/>
          </a:prstGeom>
          <a:solidFill>
            <a:srgbClr val="EA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856232"/>
            <a:ext cx="4892040" cy="457200"/>
          </a:xfrm>
          <a:prstGeom prst="rect">
            <a:avLst/>
          </a:prstGeom>
          <a:noFill/>
        </p:spPr>
        <p:txBody>
          <a:bodyPr wrap="square" anchor="t" lIns="0" rIns="0" tIns="0" bIns="0">
            <a:spAutoFit/>
          </a:bodyPr>
          <a:lstStyle/>
          <a:p>
            <a:pPr algn="l">
              <a:spcBef>
                <a:spcPts val="0"/>
              </a:spcBef>
              <a:spcAft>
                <a:spcPts val="600"/>
              </a:spcAft>
            </a:pPr>
            <a:r>
              <a:rPr sz="1800" b="1" i="0">
                <a:solidFill>
                  <a:srgbClr val="14B8A6"/>
                </a:solidFill>
                <a:latin typeface="Calibri"/>
              </a:rPr>
              <a:t>Missing: a kernel PTP sync-state</a:t>
            </a:r>
          </a:p>
        </p:txBody>
      </p:sp>
      <p:sp>
        <p:nvSpPr>
          <p:cNvPr id="10" name="TextBox 9"/>
          <p:cNvSpPr txBox="1"/>
          <p:nvPr/>
        </p:nvSpPr>
        <p:spPr>
          <a:xfrm>
            <a:off x="6583680" y="2468880"/>
            <a:ext cx="4892040" cy="3291840"/>
          </a:xfrm>
          <a:prstGeom prst="rect">
            <a:avLst/>
          </a:prstGeom>
          <a:noFill/>
        </p:spPr>
        <p:txBody>
          <a:bodyPr wrap="square" anchor="t" lIns="0" rIns="0" tIns="0" bIns="0">
            <a:spAutoFit/>
          </a:bodyPr>
          <a:lstStyle/>
          <a:p>
            <a:pPr algn="l">
              <a:spcBef>
                <a:spcPts val="0"/>
              </a:spcBef>
              <a:spcAft>
                <a:spcPts val="900"/>
              </a:spcAft>
            </a:pPr>
            <a:r>
              <a:rPr sz="1500" b="1" i="0">
                <a:solidFill>
                  <a:srgbClr val="14B8A6"/>
                </a:solidFill>
                <a:latin typeface="Calibri"/>
              </a:rPr>
              <a:t>•  </a:t>
            </a:r>
            <a:r>
              <a:rPr sz="1500" b="0" i="0">
                <a:solidFill>
                  <a:srgbClr val="1A1D29"/>
                </a:solidFill>
                <a:latin typeface="Calibri"/>
              </a:rPr>
              <a:t>master_offset_ns — offset at last sync</a:t>
            </a:r>
          </a:p>
          <a:p>
            <a:pPr algn="l">
              <a:spcBef>
                <a:spcPts val="0"/>
              </a:spcBef>
              <a:spcAft>
                <a:spcPts val="900"/>
              </a:spcAft>
            </a:pPr>
            <a:r>
              <a:rPr sz="1500" b="1" i="0">
                <a:solidFill>
                  <a:srgbClr val="14B8A6"/>
                </a:solidFill>
                <a:latin typeface="Calibri"/>
              </a:rPr>
              <a:t>•  </a:t>
            </a:r>
            <a:r>
              <a:rPr sz="1500" b="0" i="0">
                <a:solidFill>
                  <a:srgbClr val="1A1D29"/>
                </a:solidFill>
                <a:latin typeface="Calibri"/>
              </a:rPr>
              <a:t>ingress_time_ns — PHC time of sync (drift anchor)</a:t>
            </a:r>
          </a:p>
          <a:p>
            <a:pPr algn="l">
              <a:spcBef>
                <a:spcPts val="0"/>
              </a:spcBef>
              <a:spcAft>
                <a:spcPts val="900"/>
              </a:spcAft>
            </a:pPr>
            <a:r>
              <a:rPr sz="1500" b="1" i="0">
                <a:solidFill>
                  <a:srgbClr val="14B8A6"/>
                </a:solidFill>
                <a:latin typeface="Calibri"/>
              </a:rPr>
              <a:t>•  </a:t>
            </a:r>
            <a:r>
              <a:rPr sz="1500" b="0" i="0">
                <a:solidFill>
                  <a:srgbClr val="1A1D29"/>
                </a:solidFill>
                <a:latin typeface="Calibri"/>
              </a:rPr>
              <a:t>max_drift_ppb — worst-case drift bound</a:t>
            </a:r>
          </a:p>
          <a:p>
            <a:pPr algn="l">
              <a:spcBef>
                <a:spcPts val="0"/>
              </a:spcBef>
              <a:spcAft>
                <a:spcPts val="900"/>
              </a:spcAft>
            </a:pPr>
            <a:r>
              <a:rPr sz="1500" b="1" i="0">
                <a:solidFill>
                  <a:srgbClr val="14B8A6"/>
                </a:solidFill>
                <a:latin typeface="Calibri"/>
              </a:rPr>
              <a:t>•  </a:t>
            </a:r>
            <a:r>
              <a:rPr sz="1500" b="0" i="0">
                <a:solidFill>
                  <a:srgbClr val="1A1D29"/>
                </a:solidFill>
                <a:latin typeface="Calibri"/>
              </a:rPr>
              <a:t>gm_id + steps_removed — source &amp; hop count</a:t>
            </a:r>
          </a:p>
          <a:p>
            <a:pPr algn="l">
              <a:spcBef>
                <a:spcPts val="0"/>
              </a:spcBef>
              <a:spcAft>
                <a:spcPts val="900"/>
              </a:spcAft>
            </a:pPr>
            <a:r>
              <a:rPr sz="1500" b="1" i="0">
                <a:solidFill>
                  <a:srgbClr val="14B8A6"/>
                </a:solidFill>
                <a:latin typeface="Calibri"/>
              </a:rPr>
              <a:t>•  </a:t>
            </a:r>
            <a:r>
              <a:rPr sz="1500" b="0" i="0">
                <a:solidFill>
                  <a:srgbClr val="1A1D29"/>
                </a:solidFill>
                <a:latin typeface="Calibri"/>
              </a:rPr>
              <a:t>port state — optional (derivable)</a:t>
            </a:r>
          </a:p>
        </p:txBody>
      </p:sp>
      <p:sp>
        <p:nvSpPr>
          <p:cNvPr id="11" name="Rectangle 10"/>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13" name="TextBox 12"/>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143000"/>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2E6BE6"/>
                </a:solidFill>
                <a:latin typeface="Calibri"/>
              </a:rPr>
              <a:t>CLOSING</a:t>
            </a:r>
          </a:p>
        </p:txBody>
      </p:sp>
      <p:sp>
        <p:nvSpPr>
          <p:cNvPr id="4" name="TextBox 3"/>
          <p:cNvSpPr txBox="1"/>
          <p:nvPr/>
        </p:nvSpPr>
        <p:spPr>
          <a:xfrm>
            <a:off x="502920" y="566928"/>
            <a:ext cx="11155680" cy="822960"/>
          </a:xfrm>
          <a:prstGeom prst="rect">
            <a:avLst/>
          </a:prstGeom>
          <a:noFill/>
        </p:spPr>
        <p:txBody>
          <a:bodyPr wrap="square" anchor="t" lIns="0" rIns="0" tIns="0" bIns="0">
            <a:spAutoFit/>
          </a:bodyPr>
          <a:lstStyle/>
          <a:p>
            <a:pPr algn="l">
              <a:spcBef>
                <a:spcPts val="0"/>
              </a:spcBef>
              <a:spcAft>
                <a:spcPts val="600"/>
              </a:spcAft>
            </a:pPr>
            <a:r>
              <a:rPr sz="3000" b="1" i="0">
                <a:solidFill>
                  <a:srgbClr val="1A1D29"/>
                </a:solidFill>
                <a:latin typeface="Calibri"/>
              </a:rPr>
              <a:t>Takeaways</a:t>
            </a:r>
          </a:p>
        </p:txBody>
      </p:sp>
      <p:sp>
        <p:nvSpPr>
          <p:cNvPr id="5" name="TextBox 4"/>
          <p:cNvSpPr txBox="1"/>
          <p:nvPr/>
        </p:nvSpPr>
        <p:spPr>
          <a:xfrm>
            <a:off x="640080" y="1554480"/>
            <a:ext cx="10972800" cy="4754880"/>
          </a:xfrm>
          <a:prstGeom prst="rect">
            <a:avLst/>
          </a:prstGeom>
          <a:noFill/>
        </p:spPr>
        <p:txBody>
          <a:bodyPr wrap="square" anchor="t" lIns="0" rIns="0" tIns="0" bIns="0">
            <a:spAutoFit/>
          </a:bodyPr>
          <a:lstStyle/>
          <a:p>
            <a:pPr algn="l">
              <a:spcBef>
                <a:spcPts val="0"/>
              </a:spcBef>
              <a:spcAft>
                <a:spcPts val="1000"/>
              </a:spcAft>
            </a:pPr>
            <a:r>
              <a:rPr sz="1800" b="1" i="0">
                <a:solidFill>
                  <a:srgbClr val="2E6BE6"/>
                </a:solidFill>
                <a:latin typeface="Calibri"/>
              </a:rPr>
              <a:t>▸  </a:t>
            </a:r>
            <a:r>
              <a:rPr sz="1800" b="0" i="0">
                <a:solidFill>
                  <a:srgbClr val="1A1D29"/>
                </a:solidFill>
                <a:latin typeface="Calibri"/>
              </a:rPr>
              <a:t>Timestamps are intervals — design systems around t ± U</a:t>
            </a:r>
          </a:p>
          <a:p>
            <a:pPr algn="l">
              <a:spcBef>
                <a:spcPts val="0"/>
              </a:spcBef>
              <a:spcAft>
                <a:spcPts val="1000"/>
              </a:spcAft>
            </a:pPr>
            <a:r>
              <a:rPr sz="1800" b="1" i="0">
                <a:solidFill>
                  <a:srgbClr val="2E6BE6"/>
                </a:solidFill>
                <a:latin typeface="Calibri"/>
              </a:rPr>
              <a:t>▸  </a:t>
            </a:r>
            <a:r>
              <a:rPr sz="1800" b="0" i="0">
                <a:solidFill>
                  <a:srgbClr val="1A1D29"/>
                </a:solidFill>
                <a:latin typeface="Calibri"/>
              </a:rPr>
              <a:t>PTP provides inputs, not a complete uncertainty model</a:t>
            </a:r>
          </a:p>
          <a:p>
            <a:pPr algn="l">
              <a:spcBef>
                <a:spcPts val="0"/>
              </a:spcBef>
              <a:spcAft>
                <a:spcPts val="1000"/>
              </a:spcAft>
            </a:pPr>
            <a:r>
              <a:rPr sz="1800" b="1" i="0">
                <a:solidFill>
                  <a:srgbClr val="2E6BE6"/>
                </a:solidFill>
                <a:latin typeface="Calibri"/>
              </a:rPr>
              <a:t>▸  </a:t>
            </a:r>
            <a:r>
              <a:rPr sz="1800" b="0" i="0">
                <a:solidFill>
                  <a:srgbClr val="1A1D29"/>
                </a:solidFill>
                <a:latin typeface="Calibri"/>
              </a:rPr>
              <a:t>Staleness / drift is the term most tools ignore — don’t</a:t>
            </a:r>
          </a:p>
          <a:p>
            <a:pPr algn="l">
              <a:spcBef>
                <a:spcPts val="0"/>
              </a:spcBef>
              <a:spcAft>
                <a:spcPts val="1000"/>
              </a:spcAft>
            </a:pPr>
            <a:r>
              <a:rPr sz="1800" b="1" i="0">
                <a:solidFill>
                  <a:srgbClr val="2E6BE6"/>
                </a:solidFill>
                <a:latin typeface="Calibri"/>
              </a:rPr>
              <a:t>▸  </a:t>
            </a:r>
            <a:r>
              <a:rPr sz="1800" b="0" i="0">
                <a:solidFill>
                  <a:srgbClr val="1A1D29"/>
                </a:solidFill>
                <a:latin typeface="Calibri"/>
              </a:rPr>
              <a:t>Explicit bounds enable explicit correctness for ordering &amp; compliance</a:t>
            </a:r>
          </a:p>
          <a:p>
            <a:pPr algn="l">
              <a:spcBef>
                <a:spcPts val="0"/>
              </a:spcBef>
              <a:spcAft>
                <a:spcPts val="1000"/>
              </a:spcAft>
            </a:pPr>
            <a:r>
              <a:rPr sz="1800" b="1" i="0">
                <a:solidFill>
                  <a:srgbClr val="2E6BE6"/>
                </a:solidFill>
                <a:latin typeface="Calibri"/>
              </a:rPr>
              <a:t>▸  </a:t>
            </a:r>
            <a:r>
              <a:rPr sz="1800" b="0" i="0">
                <a:solidFill>
                  <a:srgbClr val="1A1D29"/>
                </a:solidFill>
                <a:latin typeface="Calibri"/>
              </a:rPr>
              <a:t>The full story: fast access to the time and its associated uncertainty</a:t>
            </a:r>
          </a:p>
        </p:txBody>
      </p:sp>
      <p:sp>
        <p:nvSpPr>
          <p:cNvPr id="6" name="Rectangle 5"/>
          <p:cNvSpPr/>
          <p:nvPr/>
        </p:nvSpPr>
        <p:spPr>
          <a:xfrm>
            <a:off x="0" y="6601968"/>
            <a:ext cx="12191695" cy="256032"/>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83680"/>
            <a:ext cx="8229600" cy="256032"/>
          </a:xfrm>
          <a:prstGeom prst="rect">
            <a:avLst/>
          </a:prstGeom>
          <a:noFill/>
        </p:spPr>
        <p:txBody>
          <a:bodyPr wrap="square" anchor="ctr" lIns="0" rIns="0" tIns="0" bIns="0">
            <a:spAutoFit/>
          </a:bodyPr>
          <a:lstStyle/>
          <a:p>
            <a:pPr algn="l">
              <a:spcBef>
                <a:spcPts val="0"/>
              </a:spcBef>
              <a:spcAft>
                <a:spcPts val="600"/>
              </a:spcAft>
            </a:pPr>
            <a:r>
              <a:rPr sz="1000" b="0" i="0">
                <a:solidFill>
                  <a:srgbClr val="FFFFFF"/>
                </a:solidFill>
                <a:latin typeface="Calibri"/>
              </a:rPr>
              <a:t>Time Uncertainty as a First-Class Concept</a:t>
            </a:r>
          </a:p>
        </p:txBody>
      </p:sp>
      <p:sp>
        <p:nvSpPr>
          <p:cNvPr id="8" name="TextBox 7"/>
          <p:cNvSpPr txBox="1"/>
          <p:nvPr/>
        </p:nvSpPr>
        <p:spPr>
          <a:xfrm>
            <a:off x="11002975" y="6583680"/>
            <a:ext cx="731520" cy="256032"/>
          </a:xfrm>
          <a:prstGeom prst="rect">
            <a:avLst/>
          </a:prstGeom>
          <a:noFill/>
        </p:spPr>
        <p:txBody>
          <a:bodyPr wrap="square" anchor="ctr" lIns="0" rIns="0" tIns="0" bIns="0">
            <a:spAutoFit/>
          </a:bodyPr>
          <a:lstStyle/>
          <a:p>
            <a:pPr algn="r">
              <a:spcBef>
                <a:spcPts val="0"/>
              </a:spcBef>
              <a:spcAft>
                <a:spcPts val="600"/>
              </a:spcAft>
            </a:pPr>
            <a:r>
              <a:rPr sz="1000" b="1" i="0">
                <a:solidFill>
                  <a:srgbClr val="FFFFFF"/>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D29"/>
        </a:solidFill>
        <a:effectLst/>
      </p:bgPr>
    </p:bg>
    <p:spTree>
      <p:nvGrpSpPr>
        <p:cNvPr id="1" name=""/>
        <p:cNvGrpSpPr/>
        <p:nvPr/>
      </p:nvGrpSpPr>
      <p:grpSpPr/>
      <p:sp>
        <p:nvSpPr>
          <p:cNvPr id="2" name="Rectangle 1"/>
          <p:cNvSpPr/>
          <p:nvPr/>
        </p:nvSpPr>
        <p:spPr>
          <a:xfrm>
            <a:off x="0" y="2743200"/>
            <a:ext cx="12191695" cy="82296"/>
          </a:xfrm>
          <a:prstGeom prst="rect">
            <a:avLst/>
          </a:prstGeom>
          <a:solidFill>
            <a:srgbClr val="2E6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825496"/>
            <a:ext cx="3840480" cy="8229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920240"/>
            <a:ext cx="10515600" cy="914400"/>
          </a:xfrm>
          <a:prstGeom prst="rect">
            <a:avLst/>
          </a:prstGeom>
          <a:noFill/>
        </p:spPr>
        <p:txBody>
          <a:bodyPr wrap="square" anchor="t" lIns="0" rIns="0" tIns="0" bIns="0">
            <a:spAutoFit/>
          </a:bodyPr>
          <a:lstStyle/>
          <a:p>
            <a:pPr algn="l">
              <a:spcBef>
                <a:spcPts val="0"/>
              </a:spcBef>
              <a:spcAft>
                <a:spcPts val="600"/>
              </a:spcAft>
            </a:pPr>
            <a:r>
              <a:rPr sz="4400" b="1" i="0">
                <a:solidFill>
                  <a:srgbClr val="FFFFFF"/>
                </a:solidFill>
                <a:latin typeface="Calibri"/>
              </a:rPr>
              <a:t>Questions?</a:t>
            </a:r>
          </a:p>
        </p:txBody>
      </p:sp>
      <p:sp>
        <p:nvSpPr>
          <p:cNvPr id="5" name="TextBox 4"/>
          <p:cNvSpPr txBox="1"/>
          <p:nvPr/>
        </p:nvSpPr>
        <p:spPr>
          <a:xfrm>
            <a:off x="841248" y="3108960"/>
            <a:ext cx="10515600" cy="1280160"/>
          </a:xfrm>
          <a:prstGeom prst="rect">
            <a:avLst/>
          </a:prstGeom>
          <a:noFill/>
        </p:spPr>
        <p:txBody>
          <a:bodyPr wrap="square" anchor="t" lIns="0" rIns="0" tIns="0" bIns="0">
            <a:spAutoFit/>
          </a:bodyPr>
          <a:lstStyle/>
          <a:p>
            <a:pPr algn="l">
              <a:spcBef>
                <a:spcPts val="0"/>
              </a:spcBef>
              <a:spcAft>
                <a:spcPts val="600"/>
              </a:spcAft>
            </a:pPr>
            <a:r>
              <a:rPr sz="2000" b="0" i="0">
                <a:solidFill>
                  <a:srgbClr val="C7D2F0"/>
                </a:solidFill>
                <a:latin typeface="Calibri"/>
              </a:rPr>
              <a:t>Treat time as an interval. Make the error bar part of the data.</a:t>
            </a:r>
          </a:p>
        </p:txBody>
      </p:sp>
      <p:sp>
        <p:nvSpPr>
          <p:cNvPr id="6" name="TextBox 5"/>
          <p:cNvSpPr txBox="1"/>
          <p:nvPr/>
        </p:nvSpPr>
        <p:spPr>
          <a:xfrm>
            <a:off x="841248" y="5120640"/>
            <a:ext cx="10515600" cy="731520"/>
          </a:xfrm>
          <a:prstGeom prst="rect">
            <a:avLst/>
          </a:prstGeom>
          <a:noFill/>
        </p:spPr>
        <p:txBody>
          <a:bodyPr wrap="square" anchor="t" lIns="0" rIns="0" tIns="0" bIns="0">
            <a:spAutoFit/>
          </a:bodyPr>
          <a:lstStyle/>
          <a:p>
            <a:pPr algn="l">
              <a:spcBef>
                <a:spcPts val="0"/>
              </a:spcBef>
              <a:spcAft>
                <a:spcPts val="600"/>
              </a:spcAft>
            </a:pPr>
            <a:r>
              <a:rPr sz="1600" b="0" i="0">
                <a:solidFill>
                  <a:srgbClr val="9AA6C4"/>
                </a:solidFill>
                <a:latin typeface="Consolas"/>
              </a:rPr>
              <a:t>ptp-uncertainty  ·  daemon + libptp_unc.so + watch_uncertainty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