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9" r:id="rId24"/>
    <p:sldId id="280" r:id="rId25"/>
    <p:sldId id="281" r:id="rId26"/>
    <p:sldId id="282" r:id="rId27"/>
    <p:sldId id="283" r:id="rId28"/>
    <p:sldId id="284" r:id="rId29"/>
    <p:sldId id="285" r:id="rId30"/>
    <p:sldId id="286" r:id="rId31"/>
    <p:sldId id="287" r:id="rId32"/>
    <p:sldId id="288" r:id="rId33"/>
    <p:sldId id="297" r:id="rId34"/>
    <p:sldId id="289" r:id="rId35"/>
    <p:sldId id="290" r:id="rId36"/>
    <p:sldId id="291" r:id="rId37"/>
    <p:sldId id="292" r:id="rId38"/>
    <p:sldId id="293" r:id="rId39"/>
    <p:sldId id="294" r:id="rId40"/>
    <p:sldId id="295" r:id="rId41"/>
    <p:sldId id="278" r:id="rId42"/>
    <p:sldId id="296"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7B28067-6E9F-DD41-8229-AAF5DF58650B}">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9"/>
            <p14:sldId id="280"/>
            <p14:sldId id="281"/>
            <p14:sldId id="282"/>
            <p14:sldId id="283"/>
            <p14:sldId id="284"/>
            <p14:sldId id="285"/>
            <p14:sldId id="286"/>
            <p14:sldId id="287"/>
            <p14:sldId id="288"/>
            <p14:sldId id="297"/>
            <p14:sldId id="289"/>
            <p14:sldId id="290"/>
            <p14:sldId id="291"/>
            <p14:sldId id="292"/>
            <p14:sldId id="293"/>
            <p14:sldId id="294"/>
            <p14:sldId id="295"/>
          </p14:sldIdLst>
        </p14:section>
        <p14:section name="Untitled Section" id="{426B141F-B067-024C-9A9B-A527CF48E465}">
          <p14:sldIdLst>
            <p14:sldId id="278"/>
            <p14:sldId id="296"/>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418"/>
    <p:restoredTop sz="75546"/>
  </p:normalViewPr>
  <p:slideViewPr>
    <p:cSldViewPr snapToGrid="0" snapToObjects="1">
      <p:cViewPr varScale="1">
        <p:scale>
          <a:sx n="70" d="100"/>
          <a:sy n="70" d="100"/>
        </p:scale>
        <p:origin x="208" y="8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074B35-7B27-CA40-8664-EC8389EE789D}" type="datetimeFigureOut">
              <a:rPr lang="en-US" smtClean="0"/>
              <a:t>7/13/26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3EC2DE-F468-9749-BC91-10A9478E15E2}" type="slidenum">
              <a:rPr lang="en-US" smtClean="0"/>
              <a:t>‹#›</a:t>
            </a:fld>
            <a:endParaRPr lang="en-US"/>
          </a:p>
        </p:txBody>
      </p:sp>
    </p:spTree>
    <p:extLst>
      <p:ext uri="{BB962C8B-B14F-4D97-AF65-F5344CB8AC3E}">
        <p14:creationId xmlns:p14="http://schemas.microsoft.com/office/powerpoint/2010/main" val="1299588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Thank you all for being here.</a:t>
            </a:r>
          </a:p>
          <a:p>
            <a:r>
              <a:rPr lang="en-US" sz="1200" b="0" i="0" kern="1200" dirty="0">
                <a:solidFill>
                  <a:schemeClr val="tx1"/>
                </a:solidFill>
                <a:effectLst/>
                <a:latin typeface="+mn-lt"/>
                <a:ea typeface="+mn-ea"/>
                <a:cs typeface="+mn-cs"/>
              </a:rPr>
              <a:t>This talk is called </a:t>
            </a:r>
            <a:r>
              <a:rPr lang="en-US" sz="1200" b="0" i="1" kern="1200" dirty="0">
                <a:solidFill>
                  <a:schemeClr val="tx1"/>
                </a:solidFill>
                <a:effectLst/>
                <a:latin typeface="+mn-lt"/>
                <a:ea typeface="+mn-ea"/>
                <a:cs typeface="+mn-cs"/>
              </a:rPr>
              <a:t>Making Time Uncertainty a First-Class Concept in Linux Timing</a:t>
            </a:r>
            <a:r>
              <a:rPr lang="en-US" sz="1200" b="0" i="0" kern="1200" dirty="0">
                <a:solidFill>
                  <a:schemeClr val="tx1"/>
                </a:solidFill>
                <a:effectLst/>
                <a:latin typeface="+mn-lt"/>
                <a:ea typeface="+mn-ea"/>
                <a:cs typeface="+mn-cs"/>
              </a:rPr>
              <a:t>. And I want to start by admitting something: many people treated time as a solved problem. You call </a:t>
            </a:r>
            <a:r>
              <a:rPr lang="en-US" sz="1200" b="0" i="0" kern="1200" dirty="0" err="1">
                <a:solidFill>
                  <a:schemeClr val="tx1"/>
                </a:solidFill>
                <a:effectLst/>
                <a:latin typeface="+mn-lt"/>
                <a:ea typeface="+mn-ea"/>
                <a:cs typeface="+mn-cs"/>
              </a:rPr>
              <a:t>clock_gettime</a:t>
            </a:r>
            <a:r>
              <a:rPr lang="en-US" sz="1200" b="0" i="0" kern="1200" dirty="0">
                <a:solidFill>
                  <a:schemeClr val="tx1"/>
                </a:solidFill>
                <a:effectLst/>
                <a:latin typeface="+mn-lt"/>
                <a:ea typeface="+mn-ea"/>
                <a:cs typeface="+mn-cs"/>
              </a:rPr>
              <a:t>, you get a number, the number is the truth. [PAUSE]</a:t>
            </a:r>
          </a:p>
          <a:p>
            <a:r>
              <a:rPr lang="en-US" sz="1200" b="0" i="0" kern="1200" dirty="0">
                <a:solidFill>
                  <a:schemeClr val="tx1"/>
                </a:solidFill>
                <a:effectLst/>
                <a:latin typeface="+mn-lt"/>
                <a:ea typeface="+mn-ea"/>
                <a:cs typeface="+mn-cs"/>
              </a:rPr>
              <a:t>Over the next forty minutes I want to convince you that that number is not a point. It's an interval. And that the width of that interval — the error bar on time — is a property your systems should be computing and acting on, not quietly assuming away.</a:t>
            </a:r>
          </a:p>
          <a:p>
            <a:r>
              <a:rPr lang="en-US" sz="1200" b="0" i="0" kern="1200" dirty="0">
                <a:solidFill>
                  <a:schemeClr val="tx1"/>
                </a:solidFill>
                <a:effectLst/>
                <a:latin typeface="+mn-lt"/>
                <a:ea typeface="+mn-ea"/>
                <a:cs typeface="+mn-cs"/>
              </a:rPr>
              <a:t>This is not a PTP tutorial. PTP is the enabler here. Uncertainty is the layer we usually forget to build on top of it.</a:t>
            </a:r>
          </a:p>
          <a:p>
            <a:endParaRPr lang="en-US" dirty="0"/>
          </a:p>
        </p:txBody>
      </p:sp>
      <p:sp>
        <p:nvSpPr>
          <p:cNvPr id="4" name="Slide Number Placeholder 3"/>
          <p:cNvSpPr>
            <a:spLocks noGrp="1"/>
          </p:cNvSpPr>
          <p:nvPr>
            <p:ph type="sldNum" sz="quarter" idx="5"/>
          </p:nvPr>
        </p:nvSpPr>
        <p:spPr/>
        <p:txBody>
          <a:bodyPr/>
          <a:lstStyle/>
          <a:p>
            <a:fld id="{083EC2DE-F468-9749-BC91-10A9478E15E2}" type="slidenum">
              <a:rPr lang="en-US" smtClean="0"/>
              <a:t>1</a:t>
            </a:fld>
            <a:endParaRPr lang="en-US"/>
          </a:p>
        </p:txBody>
      </p:sp>
    </p:spTree>
    <p:extLst>
      <p:ext uri="{BB962C8B-B14F-4D97-AF65-F5344CB8AC3E}">
        <p14:creationId xmlns:p14="http://schemas.microsoft.com/office/powerpoint/2010/main" val="5003371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kern="1200" dirty="0">
                <a:solidFill>
                  <a:schemeClr val="tx1"/>
                </a:solidFill>
                <a:effectLst/>
                <a:latin typeface="+mn-lt"/>
                <a:ea typeface="+mn-ea"/>
                <a:cs typeface="+mn-cs"/>
              </a:rPr>
              <a:t>Here is the decision at the heart of it.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Event A happens at timestamp T-one. Event B happens at T-two. T-one is smaller, so we conclude: A happened before B. [PAUSE]</a:t>
            </a:r>
          </a:p>
          <a:p>
            <a:r>
              <a:rPr lang="en-US" sz="1200" b="0" i="0" kern="1200" dirty="0">
                <a:solidFill>
                  <a:schemeClr val="tx1"/>
                </a:solidFill>
                <a:effectLst/>
                <a:latin typeface="+mn-lt"/>
                <a:ea typeface="+mn-ea"/>
                <a:cs typeface="+mn-cs"/>
              </a:rPr>
              <a:t>We make this decision thousands of times a second. It's ordering. It's causality — "what caused the stall?" It's "which write won?" It's the backbone of every distributed trace and every audit log.</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And it rests on one hidden assumption: that both timestamps are </a:t>
            </a:r>
            <a:r>
              <a:rPr lang="en-US" sz="1200" b="0" i="1" kern="1200" dirty="0">
                <a:solidFill>
                  <a:schemeClr val="tx1"/>
                </a:solidFill>
                <a:effectLst/>
                <a:latin typeface="+mn-lt"/>
                <a:ea typeface="+mn-ea"/>
                <a:cs typeface="+mn-cs"/>
              </a:rPr>
              <a:t>exact points</a:t>
            </a:r>
            <a:r>
              <a:rPr lang="en-US" sz="1200" b="0" i="0" kern="1200" dirty="0">
                <a:solidFill>
                  <a:schemeClr val="tx1"/>
                </a:solidFill>
                <a:effectLst/>
                <a:latin typeface="+mn-lt"/>
                <a:ea typeface="+mn-ea"/>
                <a:cs typeface="+mn-cs"/>
              </a:rPr>
              <a:t>. In reality, clocks disagree with each other. Timestamps get captured at different layers of the stack. And the synchronization data we rely on goes stale between updates.</a:t>
            </a:r>
          </a:p>
          <a:p>
            <a:r>
              <a:rPr lang="en-US" sz="1200" b="0" i="1" kern="1200" dirty="0">
                <a:solidFill>
                  <a:schemeClr val="tx1"/>
                </a:solidFill>
                <a:effectLst/>
                <a:latin typeface="+mn-lt"/>
                <a:ea typeface="+mn-ea"/>
                <a:cs typeface="+mn-cs"/>
              </a:rPr>
              <a:t>(optional)</a:t>
            </a:r>
            <a:r>
              <a:rPr lang="en-US" sz="1200" b="0" i="0" kern="1200" dirty="0">
                <a:solidFill>
                  <a:schemeClr val="tx1"/>
                </a:solidFill>
                <a:effectLst/>
                <a:latin typeface="+mn-lt"/>
                <a:ea typeface="+mn-ea"/>
                <a:cs typeface="+mn-cs"/>
              </a:rPr>
              <a:t> Quick show of hands — who here has debugged a distributed trace where the events looked out of order? [PAUSE] Right. That's the whole talk.</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kern="1200" dirty="0">
                <a:solidFill>
                  <a:schemeClr val="tx1"/>
                </a:solidFill>
                <a:effectLst/>
                <a:latin typeface="+mn-lt"/>
                <a:ea typeface="+mn-ea"/>
                <a:cs typeface="+mn-cs"/>
              </a:rPr>
              <a:t>Some of you saw my talk last year, where I introduced fast access to the PTP hardware clock — the Hermóðr proof of concept, which approximates the device clock in </a:t>
            </a:r>
            <a:r>
              <a:rPr lang="en-US" sz="1200" b="0" i="0" kern="1200" dirty="0" err="1">
                <a:solidFill>
                  <a:schemeClr val="tx1"/>
                </a:solidFill>
                <a:effectLst/>
                <a:latin typeface="+mn-lt"/>
                <a:ea typeface="+mn-ea"/>
                <a:cs typeface="+mn-cs"/>
              </a:rPr>
              <a:t>userspace</a:t>
            </a:r>
            <a:r>
              <a:rPr lang="en-US" sz="1200" b="0" i="0" kern="1200" dirty="0">
                <a:solidFill>
                  <a:schemeClr val="tx1"/>
                </a:solidFill>
                <a:effectLst/>
                <a:latin typeface="+mn-lt"/>
                <a:ea typeface="+mn-ea"/>
                <a:cs typeface="+mn-cs"/>
              </a:rPr>
              <a:t> from the CPU counter, so you don't pay the </a:t>
            </a:r>
            <a:r>
              <a:rPr lang="en-US" sz="1200" b="0" i="0" kern="1200" dirty="0" err="1">
                <a:solidFill>
                  <a:schemeClr val="tx1"/>
                </a:solidFill>
                <a:effectLst/>
                <a:latin typeface="+mn-lt"/>
                <a:ea typeface="+mn-ea"/>
                <a:cs typeface="+mn-cs"/>
              </a:rPr>
              <a:t>syscall</a:t>
            </a:r>
            <a:r>
              <a:rPr lang="en-US" sz="1200" b="0" i="0" kern="1200" dirty="0">
                <a:solidFill>
                  <a:schemeClr val="tx1"/>
                </a:solidFill>
                <a:effectLst/>
                <a:latin typeface="+mn-lt"/>
                <a:ea typeface="+mn-ea"/>
                <a:cs typeface="+mn-cs"/>
              </a:rPr>
              <a:t> and PCIe cost on every read. It took a /dev/</a:t>
            </a:r>
            <a:r>
              <a:rPr lang="en-US" sz="1200" b="0" i="0" kern="1200" dirty="0" err="1">
                <a:solidFill>
                  <a:schemeClr val="tx1"/>
                </a:solidFill>
                <a:effectLst/>
                <a:latin typeface="+mn-lt"/>
                <a:ea typeface="+mn-ea"/>
                <a:cs typeface="+mn-cs"/>
              </a:rPr>
              <a:t>ptpX</a:t>
            </a:r>
            <a:r>
              <a:rPr lang="en-US" sz="1200" b="0" i="0" kern="1200" dirty="0">
                <a:solidFill>
                  <a:schemeClr val="tx1"/>
                </a:solidFill>
                <a:effectLst/>
                <a:latin typeface="+mn-lt"/>
                <a:ea typeface="+mn-ea"/>
                <a:cs typeface="+mn-cs"/>
              </a:rPr>
              <a:t> read from around five microseconds down to tens of nanoseconds. It's worth drawing the line between the two talks, because they're two halves of the same story.</a:t>
            </a:r>
          </a:p>
          <a:p>
            <a:r>
              <a:rPr lang="en-US" sz="1200" b="0" i="0" kern="1200" dirty="0">
                <a:solidFill>
                  <a:schemeClr val="tx1"/>
                </a:solidFill>
                <a:effectLst/>
                <a:latin typeface="+mn-lt"/>
                <a:ea typeface="+mn-ea"/>
                <a:cs typeface="+mn-cs"/>
              </a:rPr>
              <a:t>That talk asked: </a:t>
            </a:r>
            <a:r>
              <a:rPr lang="en-US" sz="1200" b="0" i="1" kern="1200" dirty="0">
                <a:solidFill>
                  <a:schemeClr val="tx1"/>
                </a:solidFill>
                <a:effectLst/>
                <a:latin typeface="+mn-lt"/>
                <a:ea typeface="+mn-ea"/>
                <a:cs typeface="+mn-cs"/>
              </a:rPr>
              <a:t>how do we get the time fast?</a:t>
            </a:r>
            <a:r>
              <a:rPr lang="en-US" sz="1200" b="0" i="0" kern="1200" dirty="0">
                <a:solidFill>
                  <a:schemeClr val="tx1"/>
                </a:solidFill>
                <a:effectLst/>
                <a:latin typeface="+mn-lt"/>
                <a:ea typeface="+mn-ea"/>
                <a:cs typeface="+mn-cs"/>
              </a:rPr>
              <a:t> How do we read the clock without the overhead that dominates a naive </a:t>
            </a:r>
            <a:r>
              <a:rPr lang="en-US" sz="1200" b="0" i="0" kern="1200" dirty="0" err="1">
                <a:solidFill>
                  <a:schemeClr val="tx1"/>
                </a:solidFill>
                <a:effectLst/>
                <a:latin typeface="+mn-lt"/>
                <a:ea typeface="+mn-ea"/>
                <a:cs typeface="+mn-cs"/>
              </a:rPr>
              <a:t>clock_gettime</a:t>
            </a:r>
            <a:r>
              <a:rPr lang="en-US" sz="1200" b="0" i="0" kern="1200" dirty="0">
                <a:solidFill>
                  <a:schemeClr val="tx1"/>
                </a:solidFill>
                <a:effectLst/>
                <a:latin typeface="+mn-lt"/>
                <a:ea typeface="+mn-ea"/>
                <a:cs typeface="+mn-cs"/>
              </a:rPr>
              <a:t> on a device clock.</a:t>
            </a:r>
          </a:p>
          <a:p>
            <a:r>
              <a:rPr lang="en-US" sz="1200" b="0" i="0" kern="1200" dirty="0">
                <a:solidFill>
                  <a:schemeClr val="tx1"/>
                </a:solidFill>
                <a:effectLst/>
                <a:latin typeface="+mn-lt"/>
                <a:ea typeface="+mn-ea"/>
                <a:cs typeface="+mn-cs"/>
              </a:rPr>
              <a:t>This talk asks the complementary question: </a:t>
            </a:r>
            <a:r>
              <a:rPr lang="en-US" sz="1200" b="0" i="1" kern="1200" dirty="0">
                <a:solidFill>
                  <a:schemeClr val="tx1"/>
                </a:solidFill>
                <a:effectLst/>
                <a:latin typeface="+mn-lt"/>
                <a:ea typeface="+mn-ea"/>
                <a:cs typeface="+mn-cs"/>
              </a:rPr>
              <a:t>once I have that time, how far can I trust it?</a:t>
            </a:r>
            <a:r>
              <a:rPr lang="en-US" sz="1200" b="0" i="0" kern="1200" dirty="0">
                <a:solidFill>
                  <a:schemeClr val="tx1"/>
                </a:solidFill>
                <a:effectLst/>
                <a:latin typeface="+mn-lt"/>
                <a:ea typeface="+mn-ea"/>
                <a:cs typeface="+mn-cs"/>
              </a:rPr>
              <a:t> What is the error bar on the timestamp I just read.</a:t>
            </a:r>
          </a:p>
          <a:p>
            <a:r>
              <a:rPr lang="en-US" sz="1200" b="0" i="0" kern="1200" dirty="0">
                <a:solidFill>
                  <a:schemeClr val="tx1"/>
                </a:solidFill>
                <a:effectLst/>
                <a:latin typeface="+mn-lt"/>
                <a:ea typeface="+mn-ea"/>
                <a:cs typeface="+mn-cs"/>
              </a:rPr>
              <a:t>Here's the relationship in one sentence: </a:t>
            </a:r>
            <a:r>
              <a:rPr lang="en-US" sz="1200" b="1" i="0" kern="1200" dirty="0">
                <a:solidFill>
                  <a:schemeClr val="tx1"/>
                </a:solidFill>
                <a:effectLst/>
                <a:latin typeface="+mn-lt"/>
                <a:ea typeface="+mn-ea"/>
                <a:cs typeface="+mn-cs"/>
              </a:rPr>
              <a:t>the prior talk made the read fast; this one puts an error bar on it.</a:t>
            </a:r>
            <a:r>
              <a:rPr lang="en-US" sz="1200" b="0" i="0" kern="1200" dirty="0">
                <a:solidFill>
                  <a:schemeClr val="tx1"/>
                </a:solidFill>
                <a:effectLst/>
                <a:latin typeface="+mn-lt"/>
                <a:ea typeface="+mn-ea"/>
                <a:cs typeface="+mn-cs"/>
              </a:rPr>
              <a:t> Fast access to the time, and its associated uncertainty — together, that's the full story. Hold onto that. I'll come back to it at the end.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kern="1200" dirty="0">
                <a:solidFill>
                  <a:schemeClr val="tx1"/>
                </a:solidFill>
                <a:effectLst/>
                <a:latin typeface="+mn-lt"/>
                <a:ea typeface="+mn-ea"/>
                <a:cs typeface="+mn-cs"/>
              </a:rPr>
              <a:t>We have spent roughly two decades chasing precision, and we won.</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Sub-microsecond PTP is now normal across data centers and AI fabrics.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Hardware timestamping is built into NICs, </a:t>
            </a:r>
            <a:r>
              <a:rPr lang="en-US" sz="1200" b="0" i="0" kern="1200" dirty="0" err="1">
                <a:solidFill>
                  <a:schemeClr val="tx1"/>
                </a:solidFill>
                <a:effectLst/>
                <a:latin typeface="+mn-lt"/>
                <a:ea typeface="+mn-ea"/>
                <a:cs typeface="+mn-cs"/>
              </a:rPr>
              <a:t>SmartNICs</a:t>
            </a:r>
            <a:r>
              <a:rPr lang="en-US" sz="1200" b="0" i="0" kern="1200" dirty="0">
                <a:solidFill>
                  <a:schemeClr val="tx1"/>
                </a:solidFill>
                <a:effectLst/>
                <a:latin typeface="+mn-lt"/>
                <a:ea typeface="+mn-ea"/>
                <a:cs typeface="+mn-cs"/>
              </a:rPr>
              <a:t>, DPUs.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We routinely capture GPU traces that span thousands of ranks across a cluster.</a:t>
            </a:r>
          </a:p>
          <a:p>
            <a:r>
              <a:rPr lang="en-US" sz="1200" b="0" i="0" kern="1200" dirty="0">
                <a:solidFill>
                  <a:schemeClr val="tx1"/>
                </a:solidFill>
                <a:effectLst/>
                <a:latin typeface="+mn-lt"/>
                <a:ea typeface="+mn-ea"/>
                <a:cs typeface="+mn-cs"/>
              </a:rPr>
              <a:t>The clocks got dramatically better.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And here's the catch: </a:t>
            </a:r>
            <a:r>
              <a:rPr lang="en-US" sz="1200" b="1" i="0" kern="1200" dirty="0">
                <a:solidFill>
                  <a:schemeClr val="tx1"/>
                </a:solidFill>
                <a:effectLst/>
                <a:latin typeface="+mn-lt"/>
                <a:ea typeface="+mn-ea"/>
                <a:cs typeface="+mn-cs"/>
              </a:rPr>
              <a:t>the better our clocks got, the more we trusted them — implicitly.</a:t>
            </a:r>
            <a:r>
              <a:rPr lang="en-US" sz="1200" b="0" i="0" kern="1200" dirty="0">
                <a:solidFill>
                  <a:schemeClr val="tx1"/>
                </a:solidFill>
                <a:effectLst/>
                <a:latin typeface="+mn-lt"/>
                <a:ea typeface="+mn-ea"/>
                <a:cs typeface="+mn-cs"/>
              </a:rPr>
              <a:t> [PAUSE]</a:t>
            </a:r>
          </a:p>
          <a:p>
            <a:r>
              <a:rPr lang="en-US" sz="1200" b="0" i="0" kern="1200" dirty="0">
                <a:solidFill>
                  <a:schemeClr val="tx1"/>
                </a:solidFill>
                <a:effectLst/>
                <a:latin typeface="+mn-lt"/>
                <a:ea typeface="+mn-ea"/>
                <a:cs typeface="+mn-cs"/>
              </a:rPr>
              <a:t>Precision raised our </a:t>
            </a:r>
            <a:r>
              <a:rPr lang="en-US" sz="1200" b="0" i="1" kern="1200" dirty="0">
                <a:solidFill>
                  <a:schemeClr val="tx1"/>
                </a:solidFill>
                <a:effectLst/>
                <a:latin typeface="+mn-lt"/>
                <a:ea typeface="+mn-ea"/>
                <a:cs typeface="+mn-cs"/>
              </a:rPr>
              <a:t>confidence</a:t>
            </a:r>
            <a:r>
              <a:rPr lang="en-US" sz="1200" b="0" i="0" kern="1200" dirty="0">
                <a:solidFill>
                  <a:schemeClr val="tx1"/>
                </a:solidFill>
                <a:effectLst/>
                <a:latin typeface="+mn-lt"/>
                <a:ea typeface="+mn-ea"/>
                <a:cs typeface="+mn-cs"/>
              </a:rPr>
              <a:t> faster than it raised our </a:t>
            </a:r>
            <a:r>
              <a:rPr lang="en-US" sz="1200" b="0" i="1" kern="1200" dirty="0">
                <a:solidFill>
                  <a:schemeClr val="tx1"/>
                </a:solidFill>
                <a:effectLst/>
                <a:latin typeface="+mn-lt"/>
                <a:ea typeface="+mn-ea"/>
                <a:cs typeface="+mn-cs"/>
              </a:rPr>
              <a:t>correctness</a:t>
            </a:r>
            <a:r>
              <a:rPr lang="en-US" sz="1200" b="0" i="0" kern="1200" dirty="0">
                <a:solidFill>
                  <a:schemeClr val="tx1"/>
                </a:solidFill>
                <a:effectLst/>
                <a:latin typeface="+mn-lt"/>
                <a:ea typeface="+mn-ea"/>
                <a:cs typeface="+mn-cs"/>
              </a:rPr>
              <a:t>. We started treating "the clock is very precise" as if it meant "the timestamp is exactly right." Those are not the same statement.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kern="1200" dirty="0">
                <a:solidFill>
                  <a:schemeClr val="tx1"/>
                </a:solidFill>
                <a:effectLst/>
                <a:latin typeface="+mn-lt"/>
                <a:ea typeface="+mn-ea"/>
                <a:cs typeface="+mn-cs"/>
              </a:rPr>
              <a:t>That gap shows up all over the stack. Start with the three that carry the argument.</a:t>
            </a:r>
          </a:p>
          <a:p>
            <a:r>
              <a:rPr lang="en-US" sz="1200" b="0" i="1" kern="1200" dirty="0">
                <a:solidFill>
                  <a:schemeClr val="tx1"/>
                </a:solidFill>
                <a:effectLst/>
                <a:latin typeface="+mn-lt"/>
                <a:ea typeface="+mn-ea"/>
                <a:cs typeface="+mn-cs"/>
              </a:rPr>
              <a:t>Ordering.</a:t>
            </a:r>
            <a:r>
              <a:rPr lang="en-US" sz="1200" b="0" i="0" kern="1200" dirty="0">
                <a:solidFill>
                  <a:schemeClr val="tx1"/>
                </a:solidFill>
                <a:effectLst/>
                <a:latin typeface="+mn-lt"/>
                <a:ea typeface="+mn-ea"/>
                <a:cs typeface="+mn-cs"/>
              </a:rPr>
              <a:t> We claim A came before B — but if the two intervals overlap, the true order is simply unknown.</a:t>
            </a:r>
          </a:p>
          <a:p>
            <a:r>
              <a:rPr lang="en-US" sz="1200" b="0" i="1" kern="1200" dirty="0">
                <a:solidFill>
                  <a:schemeClr val="tx1"/>
                </a:solidFill>
                <a:effectLst/>
                <a:latin typeface="+mn-lt"/>
                <a:ea typeface="+mn-ea"/>
                <a:cs typeface="+mn-cs"/>
              </a:rPr>
              <a:t>Causality.</a:t>
            </a:r>
            <a:r>
              <a:rPr lang="en-US" sz="1200" b="0" i="0" kern="1200" dirty="0">
                <a:solidFill>
                  <a:schemeClr val="tx1"/>
                </a:solidFill>
                <a:effectLst/>
                <a:latin typeface="+mn-lt"/>
                <a:ea typeface="+mn-ea"/>
                <a:cs typeface="+mn-cs"/>
              </a:rPr>
              <a:t> We claim A caused B — but a small offset between two nodes can flip the apparent order and manufacture a cause that never existed.</a:t>
            </a:r>
          </a:p>
          <a:p>
            <a:r>
              <a:rPr lang="en-US" sz="1200" b="0" i="1" kern="1200" dirty="0">
                <a:solidFill>
                  <a:schemeClr val="tx1"/>
                </a:solidFill>
                <a:effectLst/>
                <a:latin typeface="+mn-lt"/>
                <a:ea typeface="+mn-ea"/>
                <a:cs typeface="+mn-cs"/>
              </a:rPr>
              <a:t>Compliance.</a:t>
            </a:r>
            <a:r>
              <a:rPr lang="en-US" sz="1200" b="0" i="0" kern="1200" dirty="0">
                <a:solidFill>
                  <a:schemeClr val="tx1"/>
                </a:solidFill>
                <a:effectLst/>
                <a:latin typeface="+mn-lt"/>
                <a:ea typeface="+mn-ea"/>
                <a:cs typeface="+mn-cs"/>
              </a:rPr>
              <a:t> We claim a log is correctly ordered — but if we can't bound the error, we can't </a:t>
            </a:r>
            <a:r>
              <a:rPr lang="en-US" sz="1200" b="0" i="1" kern="1200" dirty="0">
                <a:solidFill>
                  <a:schemeClr val="tx1"/>
                </a:solidFill>
                <a:effectLst/>
                <a:latin typeface="+mn-lt"/>
                <a:ea typeface="+mn-ea"/>
                <a:cs typeface="+mn-cs"/>
              </a:rPr>
              <a:t>prove</a:t>
            </a:r>
            <a:r>
              <a:rPr lang="en-US" sz="1200" b="0" i="0" kern="1200" dirty="0">
                <a:solidFill>
                  <a:schemeClr val="tx1"/>
                </a:solidFill>
                <a:effectLst/>
                <a:latin typeface="+mn-lt"/>
                <a:ea typeface="+mn-ea"/>
                <a:cs typeface="+mn-cs"/>
              </a:rPr>
              <a:t> that ordering is defensible. And auditors care about defensible ordering, not about how many nanoseconds we can print.</a:t>
            </a:r>
          </a:p>
          <a:p>
            <a:r>
              <a:rPr lang="en-US" sz="1200" b="0" i="0" kern="1200" dirty="0">
                <a:solidFill>
                  <a:schemeClr val="tx1"/>
                </a:solidFill>
                <a:effectLst/>
                <a:latin typeface="+mn-lt"/>
                <a:ea typeface="+mn-ea"/>
                <a:cs typeface="+mn-cs"/>
              </a:rPr>
              <a:t>And it doesn't stop there — the same failure reappears everywhere we lean on time. Database consistency, where overlapping commit windows break external consistency. Profiling, where cross-node spans misorder. Leases and locks, where overlapping windows hand you two leaders and a split brain. Then telemetry correlation, distributed forensics, sensor fusion, regulated financial timestamping. [PAUSE] One root cause, a very long blast radius. Don't read the whole table — land the top three and gesture at the rest.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kern="1200" dirty="0">
                <a:solidFill>
                  <a:schemeClr val="tx1"/>
                </a:solidFill>
                <a:effectLst/>
                <a:latin typeface="+mn-lt"/>
                <a:ea typeface="+mn-ea"/>
                <a:cs typeface="+mn-cs"/>
              </a:rPr>
              <a:t>Let me make it concrete — and let me draw it. [PAUSE]</a:t>
            </a:r>
          </a:p>
          <a:p>
            <a:r>
              <a:rPr lang="en-US" sz="1200" b="0" i="0" kern="1200" dirty="0">
                <a:solidFill>
                  <a:schemeClr val="tx1"/>
                </a:solidFill>
                <a:effectLst/>
                <a:latin typeface="+mn-lt"/>
                <a:ea typeface="+mn-ea"/>
                <a:cs typeface="+mn-cs"/>
              </a:rPr>
              <a:t>Two events, 200 nanoseconds apart. But each timestamp is only known to within plus-or-minus 150 nanoseconds.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Now look at what that does. Each bar is 150 nanoseconds on </a:t>
            </a:r>
            <a:r>
              <a:rPr lang="en-US" sz="1200" b="0" i="1" kern="1200" dirty="0">
                <a:solidFill>
                  <a:schemeClr val="tx1"/>
                </a:solidFill>
                <a:effectLst/>
                <a:latin typeface="+mn-lt"/>
                <a:ea typeface="+mn-ea"/>
                <a:cs typeface="+mn-cs"/>
              </a:rPr>
              <a:t>each</a:t>
            </a:r>
            <a:r>
              <a:rPr lang="en-US" sz="1200" b="0" i="0" kern="1200" dirty="0">
                <a:solidFill>
                  <a:schemeClr val="tx1"/>
                </a:solidFill>
                <a:effectLst/>
                <a:latin typeface="+mn-lt"/>
                <a:ea typeface="+mn-ea"/>
                <a:cs typeface="+mn-cs"/>
              </a:rPr>
              <a:t> side — that's the little dimension under event A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And B</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So the bars overlap. That amber region is the overlap, and inside it either event could have come first. Their true order is </a:t>
            </a:r>
            <a:r>
              <a:rPr lang="en-US" sz="1200" b="0" i="1" kern="1200" dirty="0">
                <a:solidFill>
                  <a:schemeClr val="tx1"/>
                </a:solidFill>
                <a:effectLst/>
                <a:latin typeface="+mn-lt"/>
                <a:ea typeface="+mn-ea"/>
                <a:cs typeface="+mn-cs"/>
              </a:rPr>
              <a:t>unknown</a:t>
            </a:r>
            <a:r>
              <a:rPr lang="en-US" sz="1200" b="0" i="0" kern="1200" dirty="0">
                <a:solidFill>
                  <a:schemeClr val="tx1"/>
                </a:solidFill>
                <a:effectLst/>
                <a:latin typeface="+mn-lt"/>
                <a:ea typeface="+mn-ea"/>
                <a:cs typeface="+mn-cs"/>
              </a:rPr>
              <a:t>. [PAUSE]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And the point that should bother you: nothing in the bare timestamps told you so. The numbers looked perfectly confident — 200 nanoseconds apart, printed to the nanosecond. The ambiguity was invisible because the error bar wasn't part of the data.</a:t>
            </a:r>
          </a:p>
          <a:p>
            <a:r>
              <a:rPr lang="en-US" sz="1200" b="0" i="0" kern="1200" dirty="0">
                <a:solidFill>
                  <a:schemeClr val="tx1"/>
                </a:solidFill>
                <a:effectLst/>
                <a:latin typeface="+mn-lt"/>
                <a:ea typeface="+mn-ea"/>
                <a:cs typeface="+mn-cs"/>
              </a:rPr>
              <a:t>That's the problem we're going to fix.</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kern="1200" dirty="0">
                <a:solidFill>
                  <a:schemeClr val="tx1"/>
                </a:solidFill>
                <a:effectLst/>
                <a:latin typeface="+mn-lt"/>
                <a:ea typeface="+mn-ea"/>
                <a:cs typeface="+mn-cs"/>
              </a:rPr>
              <a:t>The whole shift is this small.</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Instead of saying "the event happened at </a:t>
            </a:r>
            <a:r>
              <a:rPr lang="en-US" sz="1200" b="0" i="1" kern="1200" dirty="0">
                <a:solidFill>
                  <a:schemeClr val="tx1"/>
                </a:solidFill>
                <a:effectLst/>
                <a:latin typeface="+mn-lt"/>
                <a:ea typeface="+mn-ea"/>
                <a:cs typeface="+mn-cs"/>
              </a:rPr>
              <a:t>t</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we say "the event happened at </a:t>
            </a:r>
            <a:r>
              <a:rPr lang="en-US" sz="1200" b="0" i="1" kern="1200" dirty="0">
                <a:solidFill>
                  <a:schemeClr val="tx1"/>
                </a:solidFill>
                <a:effectLst/>
                <a:latin typeface="+mn-lt"/>
                <a:ea typeface="+mn-ea"/>
                <a:cs typeface="+mn-cs"/>
              </a:rPr>
              <a:t>t plus-or-minus U</a:t>
            </a:r>
            <a:r>
              <a:rPr lang="en-US" sz="1200" b="0" i="0" kern="1200" dirty="0">
                <a:solidFill>
                  <a:schemeClr val="tx1"/>
                </a:solidFill>
                <a:effectLst/>
                <a:latin typeface="+mn-lt"/>
                <a:ea typeface="+mn-ea"/>
                <a:cs typeface="+mn-cs"/>
              </a:rPr>
              <a:t>." [PAUSE]</a:t>
            </a:r>
          </a:p>
          <a:p>
            <a:r>
              <a:rPr lang="en-US" sz="1200" b="0" i="1" kern="1200" dirty="0">
                <a:solidFill>
                  <a:schemeClr val="tx1"/>
                </a:solidFill>
                <a:effectLst/>
                <a:latin typeface="+mn-lt"/>
                <a:ea typeface="+mn-ea"/>
                <a:cs typeface="+mn-cs"/>
              </a:rPr>
              <a:t>U</a:t>
            </a:r>
            <a:r>
              <a:rPr lang="en-US" sz="1200" b="0" i="0" kern="1200" dirty="0">
                <a:solidFill>
                  <a:schemeClr val="tx1"/>
                </a:solidFill>
                <a:effectLst/>
                <a:latin typeface="+mn-lt"/>
                <a:ea typeface="+mn-ea"/>
                <a:cs typeface="+mn-cs"/>
              </a:rPr>
              <a:t> is the time-uncertainty bound at the moment we observed the event. You can read the same thing two ways: as </a:t>
            </a:r>
            <a:r>
              <a:rPr lang="en-US" sz="1200" b="0" i="1" kern="1200" dirty="0">
                <a:solidFill>
                  <a:schemeClr val="tx1"/>
                </a:solidFill>
                <a:effectLst/>
                <a:latin typeface="+mn-lt"/>
                <a:ea typeface="+mn-ea"/>
                <a:cs typeface="+mn-cs"/>
              </a:rPr>
              <a:t>t plus-or-minus U</a:t>
            </a:r>
            <a:r>
              <a:rPr lang="en-US" sz="1200" b="0" i="0" kern="1200" dirty="0">
                <a:solidFill>
                  <a:schemeClr val="tx1"/>
                </a:solidFill>
                <a:effectLst/>
                <a:latin typeface="+mn-lt"/>
                <a:ea typeface="+mn-ea"/>
                <a:cs typeface="+mn-cs"/>
              </a:rPr>
              <a:t>, or as an </a:t>
            </a:r>
            <a:r>
              <a:rPr lang="en-US" sz="1200" b="0" i="1" kern="1200" dirty="0">
                <a:solidFill>
                  <a:schemeClr val="tx1"/>
                </a:solidFill>
                <a:effectLst/>
                <a:latin typeface="+mn-lt"/>
                <a:ea typeface="+mn-ea"/>
                <a:cs typeface="+mn-cs"/>
              </a:rPr>
              <a:t>earliest</a:t>
            </a:r>
            <a:r>
              <a:rPr lang="en-US" sz="1200" b="0" i="0" kern="1200" dirty="0">
                <a:solidFill>
                  <a:schemeClr val="tx1"/>
                </a:solidFill>
                <a:effectLst/>
                <a:latin typeface="+mn-lt"/>
                <a:ea typeface="+mn-ea"/>
                <a:cs typeface="+mn-cs"/>
              </a:rPr>
              <a:t> and a </a:t>
            </a:r>
            <a:r>
              <a:rPr lang="en-US" sz="1200" b="0" i="1" kern="1200" dirty="0">
                <a:solidFill>
                  <a:schemeClr val="tx1"/>
                </a:solidFill>
                <a:effectLst/>
                <a:latin typeface="+mn-lt"/>
                <a:ea typeface="+mn-ea"/>
                <a:cs typeface="+mn-cs"/>
              </a:rPr>
              <a:t>latest</a:t>
            </a:r>
            <a:r>
              <a:rPr lang="en-US" sz="1200" b="0" i="0" kern="1200" dirty="0">
                <a:solidFill>
                  <a:schemeClr val="tx1"/>
                </a:solidFill>
                <a:effectLst/>
                <a:latin typeface="+mn-lt"/>
                <a:ea typeface="+mn-ea"/>
                <a:cs typeface="+mn-cs"/>
              </a:rPr>
              <a:t> — the event happened no sooner than </a:t>
            </a:r>
            <a:r>
              <a:rPr lang="en-US" sz="1200" b="0" i="1" kern="1200" dirty="0">
                <a:solidFill>
                  <a:schemeClr val="tx1"/>
                </a:solidFill>
                <a:effectLst/>
                <a:latin typeface="+mn-lt"/>
                <a:ea typeface="+mn-ea"/>
                <a:cs typeface="+mn-cs"/>
              </a:rPr>
              <a:t>t minus U</a:t>
            </a:r>
            <a:r>
              <a:rPr lang="en-US" sz="1200" b="0" i="0" kern="1200" dirty="0">
                <a:solidFill>
                  <a:schemeClr val="tx1"/>
                </a:solidFill>
                <a:effectLst/>
                <a:latin typeface="+mn-lt"/>
                <a:ea typeface="+mn-ea"/>
                <a:cs typeface="+mn-cs"/>
              </a:rPr>
              <a:t> and no later than </a:t>
            </a:r>
            <a:r>
              <a:rPr lang="en-US" sz="1200" b="0" i="1" kern="1200" dirty="0">
                <a:solidFill>
                  <a:schemeClr val="tx1"/>
                </a:solidFill>
                <a:effectLst/>
                <a:latin typeface="+mn-lt"/>
                <a:ea typeface="+mn-ea"/>
                <a:cs typeface="+mn-cs"/>
              </a:rPr>
              <a:t>t plus U</a:t>
            </a:r>
            <a:r>
              <a:rPr lang="en-US" sz="1200" b="0" i="0" kern="1200" dirty="0">
                <a:solidFill>
                  <a:schemeClr val="tx1"/>
                </a:solidFill>
                <a:effectLst/>
                <a:latin typeface="+mn-lt"/>
                <a:ea typeface="+mn-ea"/>
                <a:cs typeface="+mn-cs"/>
              </a:rPr>
              <a:t>. Same interval, two vocabularies; the earliest/latest framing is the one most timing APIs actually expose.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And once </a:t>
            </a:r>
            <a:r>
              <a:rPr lang="en-US" sz="1200" b="0" i="1" kern="1200" dirty="0">
                <a:solidFill>
                  <a:schemeClr val="tx1"/>
                </a:solidFill>
                <a:effectLst/>
                <a:latin typeface="+mn-lt"/>
                <a:ea typeface="+mn-ea"/>
                <a:cs typeface="+mn-cs"/>
              </a:rPr>
              <a:t>U</a:t>
            </a:r>
            <a:r>
              <a:rPr lang="en-US" sz="1200" b="0" i="0" kern="1200" dirty="0">
                <a:solidFill>
                  <a:schemeClr val="tx1"/>
                </a:solidFill>
                <a:effectLst/>
                <a:latin typeface="+mn-lt"/>
                <a:ea typeface="+mn-ea"/>
                <a:cs typeface="+mn-cs"/>
              </a:rPr>
              <a:t> is part of the record, the application can ask questions it simply could not ask before. Is the ordering between A and B </a:t>
            </a:r>
            <a:r>
              <a:rPr lang="en-US" sz="1200" b="0" i="1" kern="1200" dirty="0">
                <a:solidFill>
                  <a:schemeClr val="tx1"/>
                </a:solidFill>
                <a:effectLst/>
                <a:latin typeface="+mn-lt"/>
                <a:ea typeface="+mn-ea"/>
                <a:cs typeface="+mn-cs"/>
              </a:rPr>
              <a:t>definite</a:t>
            </a:r>
            <a:r>
              <a:rPr lang="en-US" sz="1200" b="0" i="0" kern="1200" dirty="0">
                <a:solidFill>
                  <a:schemeClr val="tx1"/>
                </a:solidFill>
                <a:effectLst/>
                <a:latin typeface="+mn-lt"/>
                <a:ea typeface="+mn-ea"/>
                <a:cs typeface="+mn-cs"/>
              </a:rPr>
              <a:t>, or is it </a:t>
            </a:r>
            <a:r>
              <a:rPr lang="en-US" sz="1200" b="0" i="1" kern="1200" dirty="0">
                <a:solidFill>
                  <a:schemeClr val="tx1"/>
                </a:solidFill>
                <a:effectLst/>
                <a:latin typeface="+mn-lt"/>
                <a:ea typeface="+mn-ea"/>
                <a:cs typeface="+mn-cs"/>
              </a:rPr>
              <a:t>ambiguous</a:t>
            </a:r>
            <a:r>
              <a:rPr lang="en-US" sz="1200" b="0" i="0" kern="1200" dirty="0">
                <a:solidFill>
                  <a:schemeClr val="tx1"/>
                </a:solidFill>
                <a:effectLst/>
                <a:latin typeface="+mn-lt"/>
                <a:ea typeface="+mn-ea"/>
                <a:cs typeface="+mn-cs"/>
              </a:rPr>
              <a:t>? Is this time window </a:t>
            </a:r>
            <a:r>
              <a:rPr lang="en-US" sz="1200" b="0" i="1" kern="1200" dirty="0">
                <a:solidFill>
                  <a:schemeClr val="tx1"/>
                </a:solidFill>
                <a:effectLst/>
                <a:latin typeface="+mn-lt"/>
                <a:ea typeface="+mn-ea"/>
                <a:cs typeface="+mn-cs"/>
              </a:rPr>
              <a:t>fresh enough</a:t>
            </a:r>
            <a:r>
              <a:rPr lang="en-US" sz="1200" b="0" i="0" kern="1200" dirty="0">
                <a:solidFill>
                  <a:schemeClr val="tx1"/>
                </a:solidFill>
                <a:effectLst/>
                <a:latin typeface="+mn-lt"/>
                <a:ea typeface="+mn-ea"/>
                <a:cs typeface="+mn-cs"/>
              </a:rPr>
              <a:t> to base a compliance decision on? These become explicit, answerable questions instead of silent assumptions.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kern="1200" dirty="0">
                <a:solidFill>
                  <a:schemeClr val="tx1"/>
                </a:solidFill>
                <a:effectLst/>
                <a:latin typeface="+mn-lt"/>
                <a:ea typeface="+mn-ea"/>
                <a:cs typeface="+mn-cs"/>
              </a:rPr>
              <a:t>Here's the rule that falls out of it.</a:t>
            </a:r>
          </a:p>
          <a:p>
            <a:r>
              <a:rPr lang="en-US" sz="1200" b="0" i="0" kern="1200" dirty="0">
                <a:solidFill>
                  <a:schemeClr val="tx1"/>
                </a:solidFill>
                <a:effectLst/>
                <a:latin typeface="+mn-lt"/>
                <a:ea typeface="+mn-ea"/>
                <a:cs typeface="+mn-cs"/>
              </a:rPr>
              <a:t>On the left, the old point model: a single tick on a line. On the right, the interval model: a band from </a:t>
            </a:r>
            <a:r>
              <a:rPr lang="en-US" sz="1200" b="0" i="1" kern="1200" dirty="0">
                <a:solidFill>
                  <a:schemeClr val="tx1"/>
                </a:solidFill>
                <a:effectLst/>
                <a:latin typeface="+mn-lt"/>
                <a:ea typeface="+mn-ea"/>
                <a:cs typeface="+mn-cs"/>
              </a:rPr>
              <a:t>t minus U</a:t>
            </a:r>
            <a:r>
              <a:rPr lang="en-US" sz="1200" b="0" i="0" kern="1200" dirty="0">
                <a:solidFill>
                  <a:schemeClr val="tx1"/>
                </a:solidFill>
                <a:effectLst/>
                <a:latin typeface="+mn-lt"/>
                <a:ea typeface="+mn-ea"/>
                <a:cs typeface="+mn-cs"/>
              </a:rPr>
              <a:t> to </a:t>
            </a:r>
            <a:r>
              <a:rPr lang="en-US" sz="1200" b="0" i="1" kern="1200" dirty="0">
                <a:solidFill>
                  <a:schemeClr val="tx1"/>
                </a:solidFill>
                <a:effectLst/>
                <a:latin typeface="+mn-lt"/>
                <a:ea typeface="+mn-ea"/>
                <a:cs typeface="+mn-cs"/>
              </a:rPr>
              <a:t>t plus U</a:t>
            </a:r>
            <a:r>
              <a:rPr lang="en-US" sz="1200" b="0" i="0" kern="1200" dirty="0">
                <a:solidFill>
                  <a:schemeClr val="tx1"/>
                </a:solidFill>
                <a:effectLst/>
                <a:latin typeface="+mn-lt"/>
                <a:ea typeface="+mn-ea"/>
                <a:cs typeface="+mn-cs"/>
              </a:rPr>
              <a:t> — or, in the words on the slide, from the </a:t>
            </a:r>
            <a:r>
              <a:rPr lang="en-US" sz="1200" b="0" i="1" kern="1200" dirty="0">
                <a:solidFill>
                  <a:schemeClr val="tx1"/>
                </a:solidFill>
                <a:effectLst/>
                <a:latin typeface="+mn-lt"/>
                <a:ea typeface="+mn-ea"/>
                <a:cs typeface="+mn-cs"/>
              </a:rPr>
              <a:t>earliest</a:t>
            </a:r>
            <a:r>
              <a:rPr lang="en-US" sz="1200" b="0" i="0" kern="1200" dirty="0">
                <a:solidFill>
                  <a:schemeClr val="tx1"/>
                </a:solidFill>
                <a:effectLst/>
                <a:latin typeface="+mn-lt"/>
                <a:ea typeface="+mn-ea"/>
                <a:cs typeface="+mn-cs"/>
              </a:rPr>
              <a:t> the event could have happened to the </a:t>
            </a:r>
            <a:r>
              <a:rPr lang="en-US" sz="1200" b="0" i="1" kern="1200" dirty="0">
                <a:solidFill>
                  <a:schemeClr val="tx1"/>
                </a:solidFill>
                <a:effectLst/>
                <a:latin typeface="+mn-lt"/>
                <a:ea typeface="+mn-ea"/>
                <a:cs typeface="+mn-cs"/>
              </a:rPr>
              <a:t>latest</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rule: </a:t>
            </a:r>
            <a:r>
              <a:rPr lang="en-US" sz="1200" b="1" i="0" kern="1200" dirty="0">
                <a:solidFill>
                  <a:schemeClr val="tx1"/>
                </a:solidFill>
                <a:effectLst/>
                <a:latin typeface="+mn-lt"/>
                <a:ea typeface="+mn-ea"/>
                <a:cs typeface="+mn-cs"/>
              </a:rPr>
              <a:t>A is before B </a:t>
            </a:r>
            <a:r>
              <a:rPr lang="en-US" sz="1200" b="1" i="1" kern="1200" dirty="0">
                <a:solidFill>
                  <a:schemeClr val="tx1"/>
                </a:solidFill>
                <a:effectLst/>
                <a:latin typeface="+mn-lt"/>
                <a:ea typeface="+mn-ea"/>
                <a:cs typeface="+mn-cs"/>
              </a:rPr>
              <a:t>only if</a:t>
            </a:r>
            <a:r>
              <a:rPr lang="en-US" sz="1200" b="1" i="0" kern="1200" dirty="0">
                <a:solidFill>
                  <a:schemeClr val="tx1"/>
                </a:solidFill>
                <a:effectLst/>
                <a:latin typeface="+mn-lt"/>
                <a:ea typeface="+mn-ea"/>
                <a:cs typeface="+mn-cs"/>
              </a:rPr>
              <a:t> T-A plus U-A is less than T-B minus U-B.</a:t>
            </a:r>
            <a:r>
              <a:rPr lang="en-US" sz="1200" b="0" i="0" kern="1200" dirty="0">
                <a:solidFill>
                  <a:schemeClr val="tx1"/>
                </a:solidFill>
                <a:effectLst/>
                <a:latin typeface="+mn-lt"/>
                <a:ea typeface="+mn-ea"/>
                <a:cs typeface="+mn-cs"/>
              </a:rPr>
              <a:t> In earliest/latest terms: A is before B only if the </a:t>
            </a:r>
            <a:r>
              <a:rPr lang="en-US" sz="1200" b="0" i="1" kern="1200" dirty="0">
                <a:solidFill>
                  <a:schemeClr val="tx1"/>
                </a:solidFill>
                <a:effectLst/>
                <a:latin typeface="+mn-lt"/>
                <a:ea typeface="+mn-ea"/>
                <a:cs typeface="+mn-cs"/>
              </a:rPr>
              <a:t>latest</a:t>
            </a:r>
            <a:r>
              <a:rPr lang="en-US" sz="1200" b="0" i="0" kern="1200" dirty="0">
                <a:solidFill>
                  <a:schemeClr val="tx1"/>
                </a:solidFill>
                <a:effectLst/>
                <a:latin typeface="+mn-lt"/>
                <a:ea typeface="+mn-ea"/>
                <a:cs typeface="+mn-cs"/>
              </a:rPr>
              <a:t> A could have been is still earlier than the </a:t>
            </a:r>
            <a:r>
              <a:rPr lang="en-US" sz="1200" b="0" i="1" kern="1200" dirty="0">
                <a:solidFill>
                  <a:schemeClr val="tx1"/>
                </a:solidFill>
                <a:effectLst/>
                <a:latin typeface="+mn-lt"/>
                <a:ea typeface="+mn-ea"/>
                <a:cs typeface="+mn-cs"/>
              </a:rPr>
              <a:t>earliest</a:t>
            </a:r>
            <a:r>
              <a:rPr lang="en-US" sz="1200" b="0" i="0" kern="1200" dirty="0">
                <a:solidFill>
                  <a:schemeClr val="tx1"/>
                </a:solidFill>
                <a:effectLst/>
                <a:latin typeface="+mn-lt"/>
                <a:ea typeface="+mn-ea"/>
                <a:cs typeface="+mn-cs"/>
              </a:rPr>
              <a:t> B could have been. Only if the whole interval of A sits entirely below the whole interval of B.</a:t>
            </a:r>
          </a:p>
          <a:p>
            <a:r>
              <a:rPr lang="en-US" sz="1200" b="0" i="0" kern="1200" dirty="0">
                <a:solidFill>
                  <a:schemeClr val="tx1"/>
                </a:solidFill>
                <a:effectLst/>
                <a:latin typeface="+mn-lt"/>
                <a:ea typeface="+mn-ea"/>
                <a:cs typeface="+mn-cs"/>
              </a:rPr>
              <a:t>And if they overlap? The answer is not "wrong." The answer is </a:t>
            </a:r>
            <a:r>
              <a:rPr lang="en-US" sz="1200" b="1" i="0" kern="1200" dirty="0">
                <a:solidFill>
                  <a:schemeClr val="tx1"/>
                </a:solidFill>
                <a:effectLst/>
                <a:latin typeface="+mn-lt"/>
                <a:ea typeface="+mn-ea"/>
                <a:cs typeface="+mn-cs"/>
              </a:rPr>
              <a:t>ambiguous — unknown, not wrong.</a:t>
            </a:r>
            <a:r>
              <a:rPr lang="en-US" sz="1200" b="0" i="0" kern="1200" dirty="0">
                <a:solidFill>
                  <a:schemeClr val="tx1"/>
                </a:solidFill>
                <a:effectLst/>
                <a:latin typeface="+mn-lt"/>
                <a:ea typeface="+mn-ea"/>
                <a:cs typeface="+mn-cs"/>
              </a:rPr>
              <a:t> [PAUSE]</a:t>
            </a:r>
          </a:p>
          <a:p>
            <a:r>
              <a:rPr lang="en-US" sz="1200" b="0" i="0" kern="1200" dirty="0">
                <a:solidFill>
                  <a:schemeClr val="tx1"/>
                </a:solidFill>
                <a:effectLst/>
                <a:latin typeface="+mn-lt"/>
                <a:ea typeface="+mn-ea"/>
                <a:cs typeface="+mn-cs"/>
              </a:rPr>
              <a:t>That distinction is the most important idea in this talk. "Unknown" is a valid, </a:t>
            </a:r>
            <a:r>
              <a:rPr lang="en-US" sz="1200" b="0" i="1" kern="1200" dirty="0">
                <a:solidFill>
                  <a:schemeClr val="tx1"/>
                </a:solidFill>
                <a:effectLst/>
                <a:latin typeface="+mn-lt"/>
                <a:ea typeface="+mn-ea"/>
                <a:cs typeface="+mn-cs"/>
              </a:rPr>
              <a:t>useful</a:t>
            </a:r>
            <a:r>
              <a:rPr lang="en-US" sz="1200" b="0" i="0" kern="1200" dirty="0">
                <a:solidFill>
                  <a:schemeClr val="tx1"/>
                </a:solidFill>
                <a:effectLst/>
                <a:latin typeface="+mn-lt"/>
                <a:ea typeface="+mn-ea"/>
                <a:cs typeface="+mn-cs"/>
              </a:rPr>
              <a:t> answer. A system that knows the order is unknown can slow down, widen a window, ask for confirmation, or flag the result. A system that guesses and calls it certain just ships a silent error.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kern="1200" dirty="0">
                <a:solidFill>
                  <a:schemeClr val="tx1"/>
                </a:solidFill>
                <a:effectLst/>
                <a:latin typeface="+mn-lt"/>
                <a:ea typeface="+mn-ea"/>
                <a:cs typeface="+mn-cs"/>
              </a:rPr>
              <a:t>Let me be precise about what </a:t>
            </a:r>
            <a:r>
              <a:rPr lang="en-US" sz="1200" b="0" i="1" kern="1200" dirty="0">
                <a:solidFill>
                  <a:schemeClr val="tx1"/>
                </a:solidFill>
                <a:effectLst/>
                <a:latin typeface="+mn-lt"/>
                <a:ea typeface="+mn-ea"/>
                <a:cs typeface="+mn-cs"/>
              </a:rPr>
              <a:t>U</a:t>
            </a:r>
            <a:r>
              <a:rPr lang="en-US" sz="1200" b="0" i="0" kern="1200" dirty="0">
                <a:solidFill>
                  <a:schemeClr val="tx1"/>
                </a:solidFill>
                <a:effectLst/>
                <a:latin typeface="+mn-lt"/>
                <a:ea typeface="+mn-ea"/>
                <a:cs typeface="+mn-cs"/>
              </a:rPr>
              <a:t> is throughout this talk, because it's easy to over-claim</a:t>
            </a:r>
          </a:p>
          <a:p>
            <a:endParaRPr lang="en-US" sz="1200" b="0" i="0" kern="1200" dirty="0">
              <a:solidFill>
                <a:schemeClr val="tx1"/>
              </a:solidFill>
              <a:effectLst/>
              <a:latin typeface="+mn-lt"/>
              <a:ea typeface="+mn-ea"/>
              <a:cs typeface="+mn-cs"/>
            </a:endParaRPr>
          </a:p>
          <a:p>
            <a:r>
              <a:rPr lang="en-US" sz="1200" b="0" i="1" kern="1200" dirty="0">
                <a:solidFill>
                  <a:schemeClr val="tx1"/>
                </a:solidFill>
                <a:effectLst/>
                <a:latin typeface="+mn-lt"/>
                <a:ea typeface="+mn-ea"/>
                <a:cs typeface="+mn-cs"/>
              </a:rPr>
              <a:t>U is:</a:t>
            </a:r>
            <a:r>
              <a:rPr lang="en-US" sz="1200" b="0" i="0" kern="1200" dirty="0">
                <a:solidFill>
                  <a:schemeClr val="tx1"/>
                </a:solidFill>
                <a:effectLst/>
                <a:latin typeface="+mn-lt"/>
                <a:ea typeface="+mn-ea"/>
                <a:cs typeface="+mn-cs"/>
              </a:rPr>
              <a:t> a </a:t>
            </a:r>
            <a:r>
              <a:rPr lang="en-US" sz="1200" b="0" i="1" kern="1200" dirty="0">
                <a:solidFill>
                  <a:schemeClr val="tx1"/>
                </a:solidFill>
                <a:effectLst/>
                <a:latin typeface="+mn-lt"/>
                <a:ea typeface="+mn-ea"/>
                <a:cs typeface="+mn-cs"/>
              </a:rPr>
              <a:t>computed uncertainty envelope</a:t>
            </a:r>
            <a:r>
              <a:rPr lang="en-US" sz="1200" b="0" i="0" kern="1200" dirty="0">
                <a:solidFill>
                  <a:schemeClr val="tx1"/>
                </a:solidFill>
                <a:effectLst/>
                <a:latin typeface="+mn-lt"/>
                <a:ea typeface="+mn-ea"/>
                <a:cs typeface="+mn-cs"/>
              </a:rPr>
              <a:t>, right now. It's derived from the synchronization state plus a few explicitly stated assumptions. And it's an explicit input to your application's logic.</a:t>
            </a:r>
          </a:p>
          <a:p>
            <a:endParaRPr lang="en-US" sz="1200" b="0" i="0" kern="1200" dirty="0">
              <a:solidFill>
                <a:schemeClr val="tx1"/>
              </a:solidFill>
              <a:effectLst/>
              <a:latin typeface="+mn-lt"/>
              <a:ea typeface="+mn-ea"/>
              <a:cs typeface="+mn-cs"/>
            </a:endParaRPr>
          </a:p>
          <a:p>
            <a:r>
              <a:rPr lang="en-US" sz="1200" b="0" i="1" kern="1200" dirty="0">
                <a:solidFill>
                  <a:schemeClr val="tx1"/>
                </a:solidFill>
                <a:effectLst/>
                <a:latin typeface="+mn-lt"/>
                <a:ea typeface="+mn-ea"/>
                <a:cs typeface="+mn-cs"/>
              </a:rPr>
              <a:t>U is not:</a:t>
            </a:r>
            <a:r>
              <a:rPr lang="en-US" sz="1200" b="0" i="0" kern="1200" dirty="0">
                <a:solidFill>
                  <a:schemeClr val="tx1"/>
                </a:solidFill>
                <a:effectLst/>
                <a:latin typeface="+mn-lt"/>
                <a:ea typeface="+mn-ea"/>
                <a:cs typeface="+mn-cs"/>
              </a:rPr>
              <a:t> a statistical confidence interval — not unless you deliberately layer statistics on top. And, being honest, it is </a:t>
            </a:r>
            <a:r>
              <a:rPr lang="en-US" sz="1200" b="0" i="1" kern="1200" dirty="0">
                <a:solidFill>
                  <a:schemeClr val="tx1"/>
                </a:solidFill>
                <a:effectLst/>
                <a:latin typeface="+mn-lt"/>
                <a:ea typeface="+mn-ea"/>
                <a:cs typeface="+mn-cs"/>
              </a:rPr>
              <a:t>not</a:t>
            </a:r>
            <a:r>
              <a:rPr lang="en-US" sz="1200" b="0" i="0" kern="1200" dirty="0">
                <a:solidFill>
                  <a:schemeClr val="tx1"/>
                </a:solidFill>
                <a:effectLst/>
                <a:latin typeface="+mn-lt"/>
                <a:ea typeface="+mn-ea"/>
                <a:cs typeface="+mn-cs"/>
              </a:rPr>
              <a:t> a proven mathematical upper bound on the true clock error — because we deliberately omit some terms, like link asymmetry. And it is </a:t>
            </a:r>
            <a:r>
              <a:rPr lang="en-US" sz="1200" b="0" i="1" kern="1200" dirty="0">
                <a:solidFill>
                  <a:schemeClr val="tx1"/>
                </a:solidFill>
                <a:effectLst/>
                <a:latin typeface="+mn-lt"/>
                <a:ea typeface="+mn-ea"/>
                <a:cs typeface="+mn-cs"/>
              </a:rPr>
              <a:t>not</a:t>
            </a:r>
            <a:r>
              <a:rPr lang="en-US" sz="1200" b="0" i="0" kern="1200" dirty="0">
                <a:solidFill>
                  <a:schemeClr val="tx1"/>
                </a:solidFill>
                <a:effectLst/>
                <a:latin typeface="+mn-lt"/>
                <a:ea typeface="+mn-ea"/>
                <a:cs typeface="+mn-cs"/>
              </a:rPr>
              <a:t> zero just because PTP reports the port state as "SLAVE." [PAUSE]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kern="1200" dirty="0">
                <a:solidFill>
                  <a:schemeClr val="tx1"/>
                </a:solidFill>
                <a:effectLst/>
                <a:latin typeface="+mn-lt"/>
                <a:ea typeface="+mn-ea"/>
                <a:cs typeface="+mn-cs"/>
              </a:rPr>
              <a:t>Six layers, bottom to top.</a:t>
            </a:r>
          </a:p>
          <a:p>
            <a:r>
              <a:rPr lang="en-US" sz="1200" b="0" i="0" kern="1200" dirty="0">
                <a:solidFill>
                  <a:schemeClr val="tx1"/>
                </a:solidFill>
                <a:effectLst/>
                <a:latin typeface="+mn-lt"/>
                <a:ea typeface="+mn-ea"/>
                <a:cs typeface="+mn-cs"/>
              </a:rPr>
              <a:t>At the bottom, layer one, the </a:t>
            </a:r>
            <a:r>
              <a:rPr lang="en-US" sz="1200" b="0" i="1" kern="1200" dirty="0">
                <a:solidFill>
                  <a:schemeClr val="tx1"/>
                </a:solidFill>
                <a:effectLst/>
                <a:latin typeface="+mn-lt"/>
                <a:ea typeface="+mn-ea"/>
                <a:cs typeface="+mn-cs"/>
              </a:rPr>
              <a:t>oscillator</a:t>
            </a:r>
            <a:r>
              <a:rPr lang="en-US" sz="1200" b="0" i="0" kern="1200" dirty="0">
                <a:solidFill>
                  <a:schemeClr val="tx1"/>
                </a:solidFill>
                <a:effectLst/>
                <a:latin typeface="+mn-lt"/>
                <a:ea typeface="+mn-ea"/>
                <a:cs typeface="+mn-cs"/>
              </a:rPr>
              <a:t> alone — it drifts, and it drifts with temperature. Layer two, the </a:t>
            </a:r>
            <a:r>
              <a:rPr lang="en-US" sz="1200" b="0" i="1" kern="1200" dirty="0">
                <a:solidFill>
                  <a:schemeClr val="tx1"/>
                </a:solidFill>
                <a:effectLst/>
                <a:latin typeface="+mn-lt"/>
                <a:ea typeface="+mn-ea"/>
                <a:cs typeface="+mn-cs"/>
              </a:rPr>
              <a:t>PHC clock</a:t>
            </a:r>
            <a:r>
              <a:rPr lang="en-US" sz="1200" b="0" i="0" kern="1200" dirty="0">
                <a:solidFill>
                  <a:schemeClr val="tx1"/>
                </a:solidFill>
                <a:effectLst/>
                <a:latin typeface="+mn-lt"/>
                <a:ea typeface="+mn-ea"/>
                <a:cs typeface="+mn-cs"/>
              </a:rPr>
              <a:t> it feeds — that's where the </a:t>
            </a:r>
            <a:r>
              <a:rPr lang="en-US" sz="1200" b="0" i="1" kern="1200" dirty="0">
                <a:solidFill>
                  <a:schemeClr val="tx1"/>
                </a:solidFill>
                <a:effectLst/>
                <a:latin typeface="+mn-lt"/>
                <a:ea typeface="+mn-ea"/>
                <a:cs typeface="+mn-cs"/>
              </a:rPr>
              <a:t>offset</a:t>
            </a:r>
            <a:r>
              <a:rPr lang="en-US" sz="1200" b="0" i="0" kern="1200" dirty="0">
                <a:solidFill>
                  <a:schemeClr val="tx1"/>
                </a:solidFill>
                <a:effectLst/>
                <a:latin typeface="+mn-lt"/>
                <a:ea typeface="+mn-ea"/>
                <a:cs typeface="+mn-cs"/>
              </a:rPr>
              <a:t> from the reference lives, and its finite </a:t>
            </a:r>
            <a:r>
              <a:rPr lang="en-US" sz="1200" b="0" i="1" kern="1200" dirty="0">
                <a:solidFill>
                  <a:schemeClr val="tx1"/>
                </a:solidFill>
                <a:effectLst/>
                <a:latin typeface="+mn-lt"/>
                <a:ea typeface="+mn-ea"/>
                <a:cs typeface="+mn-cs"/>
              </a:rPr>
              <a:t>clock resolution</a:t>
            </a:r>
            <a:r>
              <a:rPr lang="en-US" sz="1200" b="0" i="0" kern="1200" dirty="0">
                <a:solidFill>
                  <a:schemeClr val="tx1"/>
                </a:solidFill>
                <a:effectLst/>
                <a:latin typeface="+mn-lt"/>
                <a:ea typeface="+mn-ea"/>
                <a:cs typeface="+mn-cs"/>
              </a:rPr>
              <a:t>, the granularity of a single tick. Layer three, the </a:t>
            </a:r>
            <a:r>
              <a:rPr lang="en-US" sz="1200" b="0" i="1" kern="1200" dirty="0">
                <a:solidFill>
                  <a:schemeClr val="tx1"/>
                </a:solidFill>
                <a:effectLst/>
                <a:latin typeface="+mn-lt"/>
                <a:ea typeface="+mn-ea"/>
                <a:cs typeface="+mn-cs"/>
              </a:rPr>
              <a:t>network</a:t>
            </a:r>
            <a:r>
              <a:rPr lang="en-US" sz="1200" b="0" i="0" kern="1200" dirty="0">
                <a:solidFill>
                  <a:schemeClr val="tx1"/>
                </a:solidFill>
                <a:effectLst/>
                <a:latin typeface="+mn-lt"/>
                <a:ea typeface="+mn-ea"/>
                <a:cs typeface="+mn-cs"/>
              </a:rPr>
              <a:t> — queueing, routing, and the number of hops the sync has to cross. Then the </a:t>
            </a:r>
            <a:r>
              <a:rPr lang="en-US" sz="1200" b="0" i="1" kern="1200" dirty="0">
                <a:solidFill>
                  <a:schemeClr val="tx1"/>
                </a:solidFill>
                <a:effectLst/>
                <a:latin typeface="+mn-lt"/>
                <a:ea typeface="+mn-ea"/>
                <a:cs typeface="+mn-cs"/>
              </a:rPr>
              <a:t>timestamp capture point</a:t>
            </a:r>
            <a:r>
              <a:rPr lang="en-US" sz="1200" b="0" i="0" kern="1200" dirty="0">
                <a:solidFill>
                  <a:schemeClr val="tx1"/>
                </a:solidFill>
                <a:effectLst/>
                <a:latin typeface="+mn-lt"/>
                <a:ea typeface="+mn-ea"/>
                <a:cs typeface="+mn-cs"/>
              </a:rPr>
              <a:t> — was it taken in hardware or software?</a:t>
            </a:r>
          </a:p>
          <a:p>
            <a:r>
              <a:rPr lang="en-US" sz="1200" b="0" i="0" kern="1200" dirty="0">
                <a:solidFill>
                  <a:schemeClr val="tx1"/>
                </a:solidFill>
                <a:effectLst/>
                <a:latin typeface="+mn-lt"/>
                <a:ea typeface="+mn-ea"/>
                <a:cs typeface="+mn-cs"/>
              </a:rPr>
              <a:t>Then layer five, the </a:t>
            </a:r>
            <a:r>
              <a:rPr lang="en-US" sz="1200" b="0" i="1" kern="1200" dirty="0">
                <a:solidFill>
                  <a:schemeClr val="tx1"/>
                </a:solidFill>
                <a:effectLst/>
                <a:latin typeface="+mn-lt"/>
                <a:ea typeface="+mn-ea"/>
                <a:cs typeface="+mn-cs"/>
              </a:rPr>
              <a:t>kernel-to-</a:t>
            </a:r>
            <a:r>
              <a:rPr lang="en-US" sz="1200" b="0" i="1" kern="1200" dirty="0" err="1">
                <a:solidFill>
                  <a:schemeClr val="tx1"/>
                </a:solidFill>
                <a:effectLst/>
                <a:latin typeface="+mn-lt"/>
                <a:ea typeface="+mn-ea"/>
                <a:cs typeface="+mn-cs"/>
              </a:rPr>
              <a:t>userspace</a:t>
            </a:r>
            <a:r>
              <a:rPr lang="en-US" sz="1200" b="0" i="1" kern="1200" dirty="0">
                <a:solidFill>
                  <a:schemeClr val="tx1"/>
                </a:solidFill>
                <a:effectLst/>
                <a:latin typeface="+mn-lt"/>
                <a:ea typeface="+mn-ea"/>
                <a:cs typeface="+mn-cs"/>
              </a:rPr>
              <a:t> transfer</a:t>
            </a:r>
            <a:r>
              <a:rPr lang="en-US" sz="1200" b="0" i="0" kern="1200" dirty="0">
                <a:solidFill>
                  <a:schemeClr val="tx1"/>
                </a:solidFill>
                <a:effectLst/>
                <a:latin typeface="+mn-lt"/>
                <a:ea typeface="+mn-ea"/>
                <a:cs typeface="+mn-cs"/>
              </a:rPr>
              <a:t>. The event arrives as a hardware interrupt, but the kernel doesn't finish the job right there — it defers the real work to a </a:t>
            </a:r>
            <a:r>
              <a:rPr lang="en-US" sz="1200" b="0" i="1" kern="1200" dirty="0" err="1">
                <a:solidFill>
                  <a:schemeClr val="tx1"/>
                </a:solidFill>
                <a:effectLst/>
                <a:latin typeface="+mn-lt"/>
                <a:ea typeface="+mn-ea"/>
                <a:cs typeface="+mn-cs"/>
              </a:rPr>
              <a:t>softirq</a:t>
            </a:r>
            <a:r>
              <a:rPr lang="en-US" sz="1200" b="0" i="0" kern="1200" dirty="0">
                <a:solidFill>
                  <a:schemeClr val="tx1"/>
                </a:solidFill>
                <a:effectLst/>
                <a:latin typeface="+mn-lt"/>
                <a:ea typeface="+mn-ea"/>
                <a:cs typeface="+mn-cs"/>
              </a:rPr>
              <a:t> that runs soon, but not instantly — and then the data has to be </a:t>
            </a:r>
            <a:r>
              <a:rPr lang="en-US" sz="1200" b="0" i="1" kern="1200" dirty="0">
                <a:solidFill>
                  <a:schemeClr val="tx1"/>
                </a:solidFill>
                <a:effectLst/>
                <a:latin typeface="+mn-lt"/>
                <a:ea typeface="+mn-ea"/>
                <a:cs typeface="+mn-cs"/>
              </a:rPr>
              <a:t>copied</a:t>
            </a:r>
            <a:r>
              <a:rPr lang="en-US" sz="1200" b="0" i="0" kern="1200" dirty="0">
                <a:solidFill>
                  <a:schemeClr val="tx1"/>
                </a:solidFill>
                <a:effectLst/>
                <a:latin typeface="+mn-lt"/>
                <a:ea typeface="+mn-ea"/>
                <a:cs typeface="+mn-cs"/>
              </a:rPr>
              <a:t> out of kernel memory into your process. Every one of those hops adds delay between when the event actually happened and when your program can see it, and because it varies with system load, it shows up as jitter, not a constant you can subtract out.</a:t>
            </a:r>
          </a:p>
          <a:p>
            <a:r>
              <a:rPr lang="en-US" sz="1200" b="0" i="0" kern="1200" dirty="0">
                <a:solidFill>
                  <a:schemeClr val="tx1"/>
                </a:solidFill>
                <a:effectLst/>
                <a:latin typeface="+mn-lt"/>
                <a:ea typeface="+mn-ea"/>
                <a:cs typeface="+mn-cs"/>
              </a:rPr>
              <a:t>And at the top, layer six, the </a:t>
            </a:r>
            <a:r>
              <a:rPr lang="en-US" sz="1200" b="0" i="1" kern="1200" dirty="0" err="1">
                <a:solidFill>
                  <a:schemeClr val="tx1"/>
                </a:solidFill>
                <a:effectLst/>
                <a:latin typeface="+mn-lt"/>
                <a:ea typeface="+mn-ea"/>
                <a:cs typeface="+mn-cs"/>
              </a:rPr>
              <a:t>userspace</a:t>
            </a:r>
            <a:r>
              <a:rPr lang="en-US" sz="1200" b="0" i="1" kern="1200" dirty="0">
                <a:solidFill>
                  <a:schemeClr val="tx1"/>
                </a:solidFill>
                <a:effectLst/>
                <a:latin typeface="+mn-lt"/>
                <a:ea typeface="+mn-ea"/>
                <a:cs typeface="+mn-cs"/>
              </a:rPr>
              <a:t> observation delay</a:t>
            </a:r>
            <a:r>
              <a:rPr lang="en-US" sz="1200" b="0" i="0" kern="1200" dirty="0">
                <a:solidFill>
                  <a:schemeClr val="tx1"/>
                </a:solidFill>
                <a:effectLst/>
                <a:latin typeface="+mn-lt"/>
                <a:ea typeface="+mn-ea"/>
                <a:cs typeface="+mn-cs"/>
              </a:rPr>
              <a:t>. Even once the data is in your process, </a:t>
            </a:r>
            <a:r>
              <a:rPr lang="en-US" sz="1200" b="0" i="1" kern="1200" dirty="0">
                <a:solidFill>
                  <a:schemeClr val="tx1"/>
                </a:solidFill>
                <a:effectLst/>
                <a:latin typeface="+mn-lt"/>
                <a:ea typeface="+mn-ea"/>
                <a:cs typeface="+mn-cs"/>
              </a:rPr>
              <a:t>reading the clock is itself a </a:t>
            </a:r>
            <a:r>
              <a:rPr lang="en-US" sz="1200" b="0" i="1" kern="1200" dirty="0" err="1">
                <a:solidFill>
                  <a:schemeClr val="tx1"/>
                </a:solidFill>
                <a:effectLst/>
                <a:latin typeface="+mn-lt"/>
                <a:ea typeface="+mn-ea"/>
                <a:cs typeface="+mn-cs"/>
              </a:rPr>
              <a:t>syscall</a:t>
            </a:r>
            <a:r>
              <a:rPr lang="en-US" sz="1200" b="0" i="0" kern="1200" dirty="0">
                <a:solidFill>
                  <a:schemeClr val="tx1"/>
                </a:solidFill>
                <a:effectLst/>
                <a:latin typeface="+mn-lt"/>
                <a:ea typeface="+mn-ea"/>
                <a:cs typeface="+mn-cs"/>
              </a:rPr>
              <a:t> — a trip into the kernel and back — and your thread is at the mercy of the </a:t>
            </a:r>
            <a:r>
              <a:rPr lang="en-US" sz="1200" b="0" i="1" kern="1200" dirty="0">
                <a:solidFill>
                  <a:schemeClr val="tx1"/>
                </a:solidFill>
                <a:effectLst/>
                <a:latin typeface="+mn-lt"/>
                <a:ea typeface="+mn-ea"/>
                <a:cs typeface="+mn-cs"/>
              </a:rPr>
              <a:t>scheduler</a:t>
            </a:r>
            <a:r>
              <a:rPr lang="en-US" sz="1200" b="0" i="0" kern="1200" dirty="0">
                <a:solidFill>
                  <a:schemeClr val="tx1"/>
                </a:solidFill>
                <a:effectLst/>
                <a:latin typeface="+mn-lt"/>
                <a:ea typeface="+mn-ea"/>
                <a:cs typeface="+mn-cs"/>
              </a:rPr>
              <a:t>: under load it can be preempted and parked for microseconds before it gets to run. So the instant you finally record can trail the real event by an amount you never measure.</a:t>
            </a:r>
          </a:p>
          <a:p>
            <a:r>
              <a:rPr lang="en-US" sz="1200" b="0" i="0" kern="1200" dirty="0">
                <a:solidFill>
                  <a:schemeClr val="tx1"/>
                </a:solidFill>
                <a:effectLst/>
                <a:latin typeface="+mn-lt"/>
                <a:ea typeface="+mn-ea"/>
                <a:cs typeface="+mn-cs"/>
              </a:rPr>
              <a:t>Every one of these layers adds either error or delay. [PAUSE] And here's the uncomfortable part: only </a:t>
            </a:r>
            <a:r>
              <a:rPr lang="en-US" sz="1200" b="0" i="1" kern="1200" dirty="0">
                <a:solidFill>
                  <a:schemeClr val="tx1"/>
                </a:solidFill>
                <a:effectLst/>
                <a:latin typeface="+mn-lt"/>
                <a:ea typeface="+mn-ea"/>
                <a:cs typeface="+mn-cs"/>
              </a:rPr>
              <a:t>some</a:t>
            </a:r>
            <a:r>
              <a:rPr lang="en-US" sz="1200" b="0" i="0" kern="1200" dirty="0">
                <a:solidFill>
                  <a:schemeClr val="tx1"/>
                </a:solidFill>
                <a:effectLst/>
                <a:latin typeface="+mn-lt"/>
                <a:ea typeface="+mn-ea"/>
                <a:cs typeface="+mn-cs"/>
              </a:rPr>
              <a:t> of them expose a metric you can read. "The event time" means something different at each layer — even when everything reports as perfectly synced.</a:t>
            </a:r>
          </a:p>
          <a:p>
            <a:r>
              <a:rPr lang="en-US" sz="1200" b="0" i="0" kern="1200" dirty="0">
                <a:solidFill>
                  <a:schemeClr val="tx1"/>
                </a:solidFill>
                <a:effectLst/>
                <a:latin typeface="+mn-lt"/>
                <a:ea typeface="+mn-ea"/>
                <a:cs typeface="+mn-cs"/>
              </a:rPr>
              <a:t>But first, the whole budget on one slide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kern="1200" dirty="0">
                <a:solidFill>
                  <a:schemeClr val="tx1"/>
                </a:solidFill>
                <a:effectLst/>
                <a:latin typeface="+mn-lt"/>
                <a:ea typeface="+mn-ea"/>
                <a:cs typeface="+mn-cs"/>
              </a:rPr>
              <a:t>Before we zoom into the layers one by one, here is every source of error that can widen your interval, grouped four ways.</a:t>
            </a:r>
          </a:p>
          <a:p>
            <a:r>
              <a:rPr lang="en-US" sz="1200" b="0" i="0" kern="1200" dirty="0">
                <a:solidFill>
                  <a:schemeClr val="tx1"/>
                </a:solidFill>
                <a:effectLst/>
                <a:latin typeface="+mn-lt"/>
                <a:ea typeface="+mn-ea"/>
                <a:cs typeface="+mn-cs"/>
              </a:rPr>
              <a:t>Two come from the </a:t>
            </a:r>
            <a:r>
              <a:rPr lang="en-US" sz="1200" b="0" i="1" kern="1200" dirty="0">
                <a:solidFill>
                  <a:schemeClr val="tx1"/>
                </a:solidFill>
                <a:effectLst/>
                <a:latin typeface="+mn-lt"/>
                <a:ea typeface="+mn-ea"/>
                <a:cs typeface="+mn-cs"/>
              </a:rPr>
              <a:t>source clock</a:t>
            </a:r>
            <a:r>
              <a:rPr lang="en-US" sz="1200" b="0" i="0" kern="1200" dirty="0">
                <a:solidFill>
                  <a:schemeClr val="tx1"/>
                </a:solidFill>
                <a:effectLst/>
                <a:latin typeface="+mn-lt"/>
                <a:ea typeface="+mn-ea"/>
                <a:cs typeface="+mn-cs"/>
              </a:rPr>
              <a:t> itself, and they are different in kind. First, the grandmaster's </a:t>
            </a:r>
            <a:r>
              <a:rPr lang="en-US" sz="1200" b="0" i="1" kern="1200" dirty="0">
                <a:solidFill>
                  <a:schemeClr val="tx1"/>
                </a:solidFill>
                <a:effectLst/>
                <a:latin typeface="+mn-lt"/>
                <a:ea typeface="+mn-ea"/>
                <a:cs typeface="+mn-cs"/>
              </a:rPr>
              <a:t>class</a:t>
            </a:r>
            <a:r>
              <a:rPr lang="en-US" sz="1200" b="0" i="0" kern="1200" dirty="0">
                <a:solidFill>
                  <a:schemeClr val="tx1"/>
                </a:solidFill>
                <a:effectLst/>
                <a:latin typeface="+mn-lt"/>
                <a:ea typeface="+mn-ea"/>
                <a:cs typeface="+mn-cs"/>
              </a:rPr>
              <a:t> — its </a:t>
            </a:r>
            <a:r>
              <a:rPr lang="en-US" sz="1200" b="0" i="0" kern="1200" dirty="0" err="1">
                <a:solidFill>
                  <a:schemeClr val="tx1"/>
                </a:solidFill>
                <a:effectLst/>
                <a:latin typeface="+mn-lt"/>
                <a:ea typeface="+mn-ea"/>
                <a:cs typeface="+mn-cs"/>
              </a:rPr>
              <a:t>clockClass</a:t>
            </a:r>
            <a:r>
              <a:rPr lang="en-US" sz="1200" b="0" i="0" kern="1200" dirty="0">
                <a:solidFill>
                  <a:schemeClr val="tx1"/>
                </a:solidFill>
                <a:effectLst/>
                <a:latin typeface="+mn-lt"/>
                <a:ea typeface="+mn-ea"/>
                <a:cs typeface="+mn-cs"/>
              </a:rPr>
              <a:t> and </a:t>
            </a:r>
            <a:r>
              <a:rPr lang="en-US" sz="1200" b="0" i="0" kern="1200" dirty="0" err="1">
                <a:solidFill>
                  <a:schemeClr val="tx1"/>
                </a:solidFill>
                <a:effectLst/>
                <a:latin typeface="+mn-lt"/>
                <a:ea typeface="+mn-ea"/>
                <a:cs typeface="+mn-cs"/>
              </a:rPr>
              <a:t>clockAccuracy</a:t>
            </a:r>
            <a:r>
              <a:rPr lang="en-US" sz="1200" b="0" i="0" kern="1200" dirty="0">
                <a:solidFill>
                  <a:schemeClr val="tx1"/>
                </a:solidFill>
                <a:effectLst/>
                <a:latin typeface="+mn-lt"/>
                <a:ea typeface="+mn-ea"/>
                <a:cs typeface="+mn-cs"/>
              </a:rPr>
              <a:t>. We don't measure this; the grandmaster </a:t>
            </a:r>
            <a:r>
              <a:rPr lang="en-US" sz="1200" b="0" i="1" kern="1200" dirty="0">
                <a:solidFill>
                  <a:schemeClr val="tx1"/>
                </a:solidFill>
                <a:effectLst/>
                <a:latin typeface="+mn-lt"/>
                <a:ea typeface="+mn-ea"/>
                <a:cs typeface="+mn-cs"/>
              </a:rPr>
              <a:t>advertises</a:t>
            </a:r>
            <a:r>
              <a:rPr lang="en-US" sz="1200" b="0" i="0" kern="1200" dirty="0">
                <a:solidFill>
                  <a:schemeClr val="tx1"/>
                </a:solidFill>
                <a:effectLst/>
                <a:latin typeface="+mn-lt"/>
                <a:ea typeface="+mn-ea"/>
                <a:cs typeface="+mn-cs"/>
              </a:rPr>
              <a:t> it, and it gives us a bound on how good the source is. Second, the </a:t>
            </a:r>
            <a:r>
              <a:rPr lang="en-US" sz="1200" b="0" i="1" kern="1200" dirty="0">
                <a:solidFill>
                  <a:schemeClr val="tx1"/>
                </a:solidFill>
                <a:effectLst/>
                <a:latin typeface="+mn-lt"/>
                <a:ea typeface="+mn-ea"/>
                <a:cs typeface="+mn-cs"/>
              </a:rPr>
              <a:t>offset from</a:t>
            </a:r>
            <a:r>
              <a:rPr lang="en-US" sz="1200" b="0" i="0" kern="1200" dirty="0">
                <a:solidFill>
                  <a:schemeClr val="tx1"/>
                </a:solidFill>
                <a:effectLst/>
                <a:latin typeface="+mn-lt"/>
                <a:ea typeface="+mn-ea"/>
                <a:cs typeface="+mn-cs"/>
              </a:rPr>
              <a:t> that grandmaster — and this one we </a:t>
            </a:r>
            <a:r>
              <a:rPr lang="en-US" sz="1200" b="0" i="1" kern="1200" dirty="0">
                <a:solidFill>
                  <a:schemeClr val="tx1"/>
                </a:solidFill>
                <a:effectLst/>
                <a:latin typeface="+mn-lt"/>
                <a:ea typeface="+mn-ea"/>
                <a:cs typeface="+mn-cs"/>
              </a:rPr>
              <a:t>do</a:t>
            </a:r>
            <a:r>
              <a:rPr lang="en-US" sz="1200" b="0" i="0" kern="1200" dirty="0">
                <a:solidFill>
                  <a:schemeClr val="tx1"/>
                </a:solidFill>
                <a:effectLst/>
                <a:latin typeface="+mn-lt"/>
                <a:ea typeface="+mn-ea"/>
                <a:cs typeface="+mn-cs"/>
              </a:rPr>
              <a:t> compute, locally, from the t1–t4 timestamp exchange. But be careful, because this is the first place a reviewer will attack: </a:t>
            </a:r>
            <a:r>
              <a:rPr lang="en-US" sz="1200" b="0" i="0" kern="1200" dirty="0" err="1">
                <a:solidFill>
                  <a:schemeClr val="tx1"/>
                </a:solidFill>
                <a:effectLst/>
                <a:latin typeface="+mn-lt"/>
                <a:ea typeface="+mn-ea"/>
                <a:cs typeface="+mn-cs"/>
              </a:rPr>
              <a:t>offsetFromMaster</a:t>
            </a:r>
            <a:r>
              <a:rPr lang="en-US" sz="1200" b="0" i="0" kern="1200" dirty="0">
                <a:solidFill>
                  <a:schemeClr val="tx1"/>
                </a:solidFill>
                <a:effectLst/>
                <a:latin typeface="+mn-lt"/>
                <a:ea typeface="+mn-ea"/>
                <a:cs typeface="+mn-cs"/>
              </a:rPr>
              <a:t> is an </a:t>
            </a:r>
            <a:r>
              <a:rPr lang="en-US" sz="1200" b="0" i="1" kern="1200" dirty="0">
                <a:solidFill>
                  <a:schemeClr val="tx1"/>
                </a:solidFill>
                <a:effectLst/>
                <a:latin typeface="+mn-lt"/>
                <a:ea typeface="+mn-ea"/>
                <a:cs typeface="+mn-cs"/>
              </a:rPr>
              <a:t>estimate</a:t>
            </a:r>
            <a:r>
              <a:rPr lang="en-US" sz="1200" b="0" i="0" kern="1200" dirty="0">
                <a:solidFill>
                  <a:schemeClr val="tx1"/>
                </a:solidFill>
                <a:effectLst/>
                <a:latin typeface="+mn-lt"/>
                <a:ea typeface="+mn-ea"/>
                <a:cs typeface="+mn-cs"/>
              </a:rPr>
              <a:t> of our bias, not a bound on it. A two-nanosecond offset does not mean the true error is under two nanoseconds. So it enters as the estimated offset </a:t>
            </a:r>
            <a:r>
              <a:rPr lang="en-US" sz="1200" b="0" i="1" kern="1200" dirty="0">
                <a:solidFill>
                  <a:schemeClr val="tx1"/>
                </a:solidFill>
                <a:effectLst/>
                <a:latin typeface="+mn-lt"/>
                <a:ea typeface="+mn-ea"/>
                <a:cs typeface="+mn-cs"/>
              </a:rPr>
              <a:t>plus</a:t>
            </a:r>
            <a:r>
              <a:rPr lang="en-US" sz="1200" b="0" i="0" kern="1200" dirty="0">
                <a:solidFill>
                  <a:schemeClr val="tx1"/>
                </a:solidFill>
                <a:effectLst/>
                <a:latin typeface="+mn-lt"/>
                <a:ea typeface="+mn-ea"/>
                <a:cs typeface="+mn-cs"/>
              </a:rPr>
              <a:t> its own estimation uncertainty — timestamp noise, delay variation, and asymmetry all live in that second term. One is a quality we're told; the other is an estimate we compute, with error bars of its own. (And </a:t>
            </a:r>
            <a:r>
              <a:rPr lang="en-US" sz="1200" b="0" i="0" kern="1200" dirty="0" err="1">
                <a:solidFill>
                  <a:schemeClr val="tx1"/>
                </a:solidFill>
                <a:effectLst/>
                <a:latin typeface="+mn-lt"/>
                <a:ea typeface="+mn-ea"/>
                <a:cs typeface="+mn-cs"/>
              </a:rPr>
              <a:t>stepsRemoved</a:t>
            </a:r>
            <a:r>
              <a:rPr lang="en-US" sz="1200" b="0" i="0" kern="1200" dirty="0">
                <a:solidFill>
                  <a:schemeClr val="tx1"/>
                </a:solidFill>
                <a:effectLst/>
                <a:latin typeface="+mn-lt"/>
                <a:ea typeface="+mn-ea"/>
                <a:cs typeface="+mn-cs"/>
              </a:rPr>
              <a:t> is just the hop count to the grandmaster — if we attribute error per hop, that's a crude </a:t>
            </a:r>
            <a:r>
              <a:rPr lang="en-US" sz="1200" b="0" i="1" kern="1200" dirty="0">
                <a:solidFill>
                  <a:schemeClr val="tx1"/>
                </a:solidFill>
                <a:effectLst/>
                <a:latin typeface="+mn-lt"/>
                <a:ea typeface="+mn-ea"/>
                <a:cs typeface="+mn-cs"/>
              </a:rPr>
              <a:t>policy</a:t>
            </a:r>
            <a:r>
              <a:rPr lang="en-US" sz="1200" b="0" i="0" kern="1200" dirty="0">
                <a:solidFill>
                  <a:schemeClr val="tx1"/>
                </a:solidFill>
                <a:effectLst/>
                <a:latin typeface="+mn-lt"/>
                <a:ea typeface="+mn-ea"/>
                <a:cs typeface="+mn-cs"/>
              </a:rPr>
              <a:t>, not a physical bound; a transparent clock and a boundary clock fail differently.)</a:t>
            </a:r>
          </a:p>
          <a:p>
            <a:r>
              <a:rPr lang="en-US" sz="1200" b="0" i="0" kern="1200" dirty="0">
                <a:solidFill>
                  <a:schemeClr val="tx1"/>
                </a:solidFill>
                <a:effectLst/>
                <a:latin typeface="+mn-lt"/>
                <a:ea typeface="+mn-ea"/>
                <a:cs typeface="+mn-cs"/>
              </a:rPr>
              <a:t>Two come from </a:t>
            </a:r>
            <a:r>
              <a:rPr lang="en-US" sz="1200" b="0" i="1" kern="1200" dirty="0">
                <a:solidFill>
                  <a:schemeClr val="tx1"/>
                </a:solidFill>
                <a:effectLst/>
                <a:latin typeface="+mn-lt"/>
                <a:ea typeface="+mn-ea"/>
                <a:cs typeface="+mn-cs"/>
              </a:rPr>
              <a:t>our</a:t>
            </a:r>
            <a:r>
              <a:rPr lang="en-US" sz="1200" b="0" i="0" kern="1200" dirty="0">
                <a:solidFill>
                  <a:schemeClr val="tx1"/>
                </a:solidFill>
                <a:effectLst/>
                <a:latin typeface="+mn-lt"/>
                <a:ea typeface="+mn-ea"/>
                <a:cs typeface="+mn-cs"/>
              </a:rPr>
              <a:t> oscillator, but say these carefully: the PHC is being frequency-disciplined by ptp4l, so between syncs it does </a:t>
            </a:r>
            <a:r>
              <a:rPr lang="en-US" sz="1200" b="0" i="1" kern="1200" dirty="0">
                <a:solidFill>
                  <a:schemeClr val="tx1"/>
                </a:solidFill>
                <a:effectLst/>
                <a:latin typeface="+mn-lt"/>
                <a:ea typeface="+mn-ea"/>
                <a:cs typeface="+mn-cs"/>
              </a:rPr>
              <a:t>not</a:t>
            </a:r>
            <a:r>
              <a:rPr lang="en-US" sz="1200" b="0" i="0" kern="1200" dirty="0">
                <a:solidFill>
                  <a:schemeClr val="tx1"/>
                </a:solidFill>
                <a:effectLst/>
                <a:latin typeface="+mn-lt"/>
                <a:ea typeface="+mn-ea"/>
                <a:cs typeface="+mn-cs"/>
              </a:rPr>
              <a:t> free-run at the raw crystal tolerance. What we bound is the </a:t>
            </a:r>
            <a:r>
              <a:rPr lang="en-US" sz="1200" b="0" i="1" kern="1200" dirty="0">
                <a:solidFill>
                  <a:schemeClr val="tx1"/>
                </a:solidFill>
                <a:effectLst/>
                <a:latin typeface="+mn-lt"/>
                <a:ea typeface="+mn-ea"/>
                <a:cs typeface="+mn-cs"/>
              </a:rPr>
              <a:t>residual</a:t>
            </a:r>
            <a:r>
              <a:rPr lang="en-US" sz="1200" b="0" i="0" kern="1200" dirty="0">
                <a:solidFill>
                  <a:schemeClr val="tx1"/>
                </a:solidFill>
                <a:effectLst/>
                <a:latin typeface="+mn-lt"/>
                <a:ea typeface="+mn-ea"/>
                <a:cs typeface="+mn-cs"/>
              </a:rPr>
              <a:t> frequency error — capped by a configured D-max — times the age since the last sync. And in the extreme, </a:t>
            </a:r>
            <a:r>
              <a:rPr lang="en-US" sz="1200" b="0" i="1" kern="1200" dirty="0">
                <a:solidFill>
                  <a:schemeClr val="tx1"/>
                </a:solidFill>
                <a:effectLst/>
                <a:latin typeface="+mn-lt"/>
                <a:ea typeface="+mn-ea"/>
                <a:cs typeface="+mn-cs"/>
              </a:rPr>
              <a:t>holdover</a:t>
            </a:r>
            <a:r>
              <a:rPr lang="en-US" sz="1200" b="0" i="0" kern="1200" dirty="0">
                <a:solidFill>
                  <a:schemeClr val="tx1"/>
                </a:solidFill>
                <a:effectLst/>
                <a:latin typeface="+mn-lt"/>
                <a:ea typeface="+mn-ea"/>
                <a:cs typeface="+mn-cs"/>
              </a:rPr>
              <a:t> — that same bound growing when discipline is lost entirely.</a:t>
            </a:r>
          </a:p>
          <a:p>
            <a:r>
              <a:rPr lang="en-US" sz="1200" b="0" i="0" kern="1200" dirty="0">
                <a:solidFill>
                  <a:schemeClr val="tx1"/>
                </a:solidFill>
                <a:effectLst/>
                <a:latin typeface="+mn-lt"/>
                <a:ea typeface="+mn-ea"/>
                <a:cs typeface="+mn-cs"/>
              </a:rPr>
              <a:t>Two are about </a:t>
            </a:r>
            <a:r>
              <a:rPr lang="en-US" sz="1200" b="0" i="1" kern="1200" dirty="0">
                <a:solidFill>
                  <a:schemeClr val="tx1"/>
                </a:solidFill>
                <a:effectLst/>
                <a:latin typeface="+mn-lt"/>
                <a:ea typeface="+mn-ea"/>
                <a:cs typeface="+mn-cs"/>
              </a:rPr>
              <a:t>reading</a:t>
            </a:r>
            <a:r>
              <a:rPr lang="en-US" sz="1200" b="0" i="0" kern="1200" dirty="0">
                <a:solidFill>
                  <a:schemeClr val="tx1"/>
                </a:solidFill>
                <a:effectLst/>
                <a:latin typeface="+mn-lt"/>
                <a:ea typeface="+mn-ea"/>
                <a:cs typeface="+mn-cs"/>
              </a:rPr>
              <a:t> the clock: the clock's </a:t>
            </a:r>
            <a:r>
              <a:rPr lang="en-US" sz="1200" b="0" i="1" kern="1200" dirty="0">
                <a:solidFill>
                  <a:schemeClr val="tx1"/>
                </a:solidFill>
                <a:effectLst/>
                <a:latin typeface="+mn-lt"/>
                <a:ea typeface="+mn-ea"/>
                <a:cs typeface="+mn-cs"/>
              </a:rPr>
              <a:t>resolution</a:t>
            </a:r>
            <a:r>
              <a:rPr lang="en-US" sz="1200" b="0" i="0" kern="1200" dirty="0">
                <a:solidFill>
                  <a:schemeClr val="tx1"/>
                </a:solidFill>
                <a:effectLst/>
                <a:latin typeface="+mn-lt"/>
                <a:ea typeface="+mn-ea"/>
                <a:cs typeface="+mn-cs"/>
              </a:rPr>
              <a:t>, which enters as half a tick of quantization; and the </a:t>
            </a:r>
            <a:r>
              <a:rPr lang="en-US" sz="1200" b="0" i="1" kern="1200" dirty="0">
                <a:solidFill>
                  <a:schemeClr val="tx1"/>
                </a:solidFill>
                <a:effectLst/>
                <a:latin typeface="+mn-lt"/>
                <a:ea typeface="+mn-ea"/>
                <a:cs typeface="+mn-cs"/>
              </a:rPr>
              <a:t>capture</a:t>
            </a:r>
            <a:r>
              <a:rPr lang="en-US" sz="1200" b="0" i="0" kern="1200" dirty="0">
                <a:solidFill>
                  <a:schemeClr val="tx1"/>
                </a:solidFill>
                <a:effectLst/>
                <a:latin typeface="+mn-lt"/>
                <a:ea typeface="+mn-ea"/>
                <a:cs typeface="+mn-cs"/>
              </a:rPr>
              <a:t> of the event itself — where and how it was stamped — which, and this matters, is a </a:t>
            </a:r>
            <a:r>
              <a:rPr lang="en-US" sz="1200" b="0" i="1" kern="1200" dirty="0">
                <a:solidFill>
                  <a:schemeClr val="tx1"/>
                </a:solidFill>
                <a:effectLst/>
                <a:latin typeface="+mn-lt"/>
                <a:ea typeface="+mn-ea"/>
                <a:cs typeface="+mn-cs"/>
              </a:rPr>
              <a:t>separate</a:t>
            </a:r>
            <a:r>
              <a:rPr lang="en-US" sz="1200" b="0" i="0" kern="1200" dirty="0">
                <a:solidFill>
                  <a:schemeClr val="tx1"/>
                </a:solidFill>
                <a:effectLst/>
                <a:latin typeface="+mn-lt"/>
                <a:ea typeface="+mn-ea"/>
                <a:cs typeface="+mn-cs"/>
              </a:rPr>
              <a:t> uncertainty the application owns, not the daemon.</a:t>
            </a:r>
          </a:p>
          <a:p>
            <a:r>
              <a:rPr lang="en-US" sz="1200" b="0" i="0" kern="1200" dirty="0">
                <a:solidFill>
                  <a:schemeClr val="tx1"/>
                </a:solidFill>
                <a:effectLst/>
                <a:latin typeface="+mn-lt"/>
                <a:ea typeface="+mn-ea"/>
                <a:cs typeface="+mn-cs"/>
              </a:rPr>
              <a:t>And two live in the </a:t>
            </a:r>
            <a:r>
              <a:rPr lang="en-US" sz="1200" b="0" i="1" kern="1200" dirty="0">
                <a:solidFill>
                  <a:schemeClr val="tx1"/>
                </a:solidFill>
                <a:effectLst/>
                <a:latin typeface="+mn-lt"/>
                <a:ea typeface="+mn-ea"/>
                <a:cs typeface="+mn-cs"/>
              </a:rPr>
              <a:t>network</a:t>
            </a:r>
            <a:r>
              <a:rPr lang="en-US" sz="1200" b="0" i="0" kern="1200" dirty="0">
                <a:solidFill>
                  <a:schemeClr val="tx1"/>
                </a:solidFill>
                <a:effectLst/>
                <a:latin typeface="+mn-lt"/>
                <a:ea typeface="+mn-ea"/>
                <a:cs typeface="+mn-cs"/>
              </a:rPr>
              <a:t>: the delays accumulated across every path element, whose </a:t>
            </a:r>
            <a:r>
              <a:rPr lang="en-US" sz="1200" b="0" i="1" kern="1200" dirty="0">
                <a:solidFill>
                  <a:schemeClr val="tx1"/>
                </a:solidFill>
                <a:effectLst/>
                <a:latin typeface="+mn-lt"/>
                <a:ea typeface="+mn-ea"/>
                <a:cs typeface="+mn-cs"/>
              </a:rPr>
              <a:t>estimated mean</a:t>
            </a:r>
            <a:r>
              <a:rPr lang="en-US" sz="1200" b="0" i="0" kern="1200" dirty="0">
                <a:solidFill>
                  <a:schemeClr val="tx1"/>
                </a:solidFill>
                <a:effectLst/>
                <a:latin typeface="+mn-lt"/>
                <a:ea typeface="+mn-ea"/>
                <a:cs typeface="+mn-cs"/>
              </a:rPr>
              <a:t> PTP compensates — but the estimation error of that mean does not vanish; and </a:t>
            </a:r>
            <a:r>
              <a:rPr lang="en-US" sz="1200" b="0" i="1" kern="1200" dirty="0">
                <a:solidFill>
                  <a:schemeClr val="tx1"/>
                </a:solidFill>
                <a:effectLst/>
                <a:latin typeface="+mn-lt"/>
                <a:ea typeface="+mn-ea"/>
                <a:cs typeface="+mn-cs"/>
              </a:rPr>
              <a:t>link asymmetry</a:t>
            </a:r>
            <a:r>
              <a:rPr lang="en-US" sz="1200" b="0" i="0" kern="1200" dirty="0">
                <a:solidFill>
                  <a:schemeClr val="tx1"/>
                </a:solidFill>
                <a:effectLst/>
                <a:latin typeface="+mn-lt"/>
                <a:ea typeface="+mn-ea"/>
                <a:cs typeface="+mn-cs"/>
              </a:rPr>
              <a:t>, which PTP cannot see. Both fold into that offset-estimation term. [PAUSE]</a:t>
            </a:r>
          </a:p>
          <a:p>
            <a:r>
              <a:rPr lang="en-US" sz="1200" b="0" i="0" kern="1200" dirty="0">
                <a:solidFill>
                  <a:schemeClr val="tx1"/>
                </a:solidFill>
                <a:effectLst/>
                <a:latin typeface="+mn-lt"/>
                <a:ea typeface="+mn-ea"/>
                <a:cs typeface="+mn-cs"/>
              </a:rPr>
              <a:t>So watch that last column. It splits into two owners: U-clock, everything the daemon can bound; and U-capture, what the application knows about how it stamped the event. The total event uncertainty is the sum of the two. And none of it is a proof — it's an envelope under the assumptions we just named.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kern="1200" dirty="0">
                <a:solidFill>
                  <a:schemeClr val="tx1"/>
                </a:solidFill>
                <a:effectLst/>
                <a:latin typeface="+mn-lt"/>
                <a:ea typeface="+mn-ea"/>
                <a:cs typeface="+mn-cs"/>
              </a:rPr>
              <a:t>Layer one, the oscillator. Its stability is measured in parts per billion, and it's sensitive to temperature — and left to free-run, it drifts.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Layer two is the PHC clock the oscillator feeds — the hardware clock we actually read. Two things live here. First, </a:t>
            </a:r>
            <a:r>
              <a:rPr lang="en-US" sz="1200" b="0" i="0" kern="1200" dirty="0" err="1">
                <a:solidFill>
                  <a:schemeClr val="tx1"/>
                </a:solidFill>
                <a:effectLst/>
                <a:latin typeface="+mn-lt"/>
                <a:ea typeface="+mn-ea"/>
                <a:cs typeface="+mn-cs"/>
              </a:rPr>
              <a:t>offsetFromMaster</a:t>
            </a:r>
            <a:r>
              <a:rPr lang="en-US" sz="1200" b="0" i="0" kern="1200" dirty="0">
                <a:solidFill>
                  <a:schemeClr val="tx1"/>
                </a:solidFill>
                <a:effectLst/>
                <a:latin typeface="+mn-lt"/>
                <a:ea typeface="+mn-ea"/>
                <a:cs typeface="+mn-cs"/>
              </a:rPr>
              <a:t>  - this is an </a:t>
            </a:r>
            <a:r>
              <a:rPr lang="en-US" sz="1200" b="0" i="1" kern="1200" dirty="0">
                <a:solidFill>
                  <a:schemeClr val="tx1"/>
                </a:solidFill>
                <a:effectLst/>
                <a:latin typeface="+mn-lt"/>
                <a:ea typeface="+mn-ea"/>
                <a:cs typeface="+mn-cs"/>
              </a:rPr>
              <a:t>estimate</a:t>
            </a:r>
            <a:r>
              <a:rPr lang="en-US" sz="1200" b="0" i="0" kern="1200" dirty="0">
                <a:solidFill>
                  <a:schemeClr val="tx1"/>
                </a:solidFill>
                <a:effectLst/>
                <a:latin typeface="+mn-lt"/>
                <a:ea typeface="+mn-ea"/>
                <a:cs typeface="+mn-cs"/>
              </a:rPr>
              <a:t> of our offset from the reference, and the estimate has its own uncertainty. Second, the clock's </a:t>
            </a:r>
            <a:r>
              <a:rPr lang="en-US" sz="1200" b="0" i="1" kern="1200" dirty="0">
                <a:solidFill>
                  <a:schemeClr val="tx1"/>
                </a:solidFill>
                <a:effectLst/>
                <a:latin typeface="+mn-lt"/>
                <a:ea typeface="+mn-ea"/>
                <a:cs typeface="+mn-cs"/>
              </a:rPr>
              <a:t>resolution</a:t>
            </a:r>
            <a:r>
              <a:rPr lang="en-US" sz="1200" b="0" i="0" kern="1200" dirty="0">
                <a:solidFill>
                  <a:schemeClr val="tx1"/>
                </a:solidFill>
                <a:effectLst/>
                <a:latin typeface="+mn-lt"/>
                <a:ea typeface="+mn-ea"/>
                <a:cs typeface="+mn-cs"/>
              </a:rPr>
              <a:t> — the granularity of a single tick, which enters as a half-tick of quantization, and I mean the </a:t>
            </a:r>
            <a:r>
              <a:rPr lang="en-US" sz="1200" b="0" i="1" kern="1200" dirty="0">
                <a:solidFill>
                  <a:schemeClr val="tx1"/>
                </a:solidFill>
                <a:effectLst/>
                <a:latin typeface="+mn-lt"/>
                <a:ea typeface="+mn-ea"/>
                <a:cs typeface="+mn-cs"/>
              </a:rPr>
              <a:t>effective</a:t>
            </a:r>
            <a:r>
              <a:rPr lang="en-US" sz="1200" b="0" i="0" kern="1200" dirty="0">
                <a:solidFill>
                  <a:schemeClr val="tx1"/>
                </a:solidFill>
                <a:effectLst/>
                <a:latin typeface="+mn-lt"/>
                <a:ea typeface="+mn-ea"/>
                <a:cs typeface="+mn-cs"/>
              </a:rPr>
              <a:t> granularity of the NIC clock, not just whatever </a:t>
            </a:r>
            <a:r>
              <a:rPr lang="en-US" sz="1200" b="0" i="0" kern="1200" dirty="0" err="1">
                <a:solidFill>
                  <a:schemeClr val="tx1"/>
                </a:solidFill>
                <a:effectLst/>
                <a:latin typeface="+mn-lt"/>
                <a:ea typeface="+mn-ea"/>
                <a:cs typeface="+mn-cs"/>
              </a:rPr>
              <a:t>clock_getres</a:t>
            </a:r>
            <a:r>
              <a:rPr lang="en-US" sz="1200" b="0" i="0" kern="1200" dirty="0">
                <a:solidFill>
                  <a:schemeClr val="tx1"/>
                </a:solidFill>
                <a:effectLst/>
                <a:latin typeface="+mn-lt"/>
                <a:ea typeface="+mn-ea"/>
                <a:cs typeface="+mn-cs"/>
              </a:rPr>
              <a:t> reports. And reading it isn't free either; the read itself has a latency.</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kern="1200" dirty="0">
                <a:solidFill>
                  <a:schemeClr val="tx1"/>
                </a:solidFill>
                <a:effectLst/>
                <a:latin typeface="+mn-lt"/>
                <a:ea typeface="+mn-ea"/>
                <a:cs typeface="+mn-cs"/>
              </a:rPr>
              <a:t>Now the capture point, because this one surprises people — and because it's a place the model has to be careful.</a:t>
            </a:r>
          </a:p>
          <a:p>
            <a:r>
              <a:rPr lang="en-US" sz="1200" b="0" i="0" kern="1200" dirty="0">
                <a:solidFill>
                  <a:schemeClr val="tx1"/>
                </a:solidFill>
                <a:effectLst/>
                <a:latin typeface="+mn-lt"/>
                <a:ea typeface="+mn-ea"/>
                <a:cs typeface="+mn-cs"/>
              </a:rPr>
              <a:t>First, three things that are easy to blur together. There's </a:t>
            </a:r>
            <a:r>
              <a:rPr lang="en-US" sz="1200" b="0" i="1" kern="1200" dirty="0">
                <a:solidFill>
                  <a:schemeClr val="tx1"/>
                </a:solidFill>
                <a:effectLst/>
                <a:latin typeface="+mn-lt"/>
                <a:ea typeface="+mn-ea"/>
                <a:cs typeface="+mn-cs"/>
              </a:rPr>
              <a:t>clock uncertainty</a:t>
            </a:r>
            <a:r>
              <a:rPr lang="en-US" sz="1200" b="0" i="0" kern="1200" dirty="0">
                <a:solidFill>
                  <a:schemeClr val="tx1"/>
                </a:solidFill>
                <a:effectLst/>
                <a:latin typeface="+mn-lt"/>
                <a:ea typeface="+mn-ea"/>
                <a:cs typeface="+mn-cs"/>
              </a:rPr>
              <a:t> — the envelope we've been building. There's </a:t>
            </a:r>
            <a:r>
              <a:rPr lang="en-US" sz="1200" b="0" i="1" kern="1200" dirty="0">
                <a:solidFill>
                  <a:schemeClr val="tx1"/>
                </a:solidFill>
                <a:effectLst/>
                <a:latin typeface="+mn-lt"/>
                <a:ea typeface="+mn-ea"/>
                <a:cs typeface="+mn-cs"/>
              </a:rPr>
              <a:t>capture uncertainty</a:t>
            </a:r>
            <a:r>
              <a:rPr lang="en-US" sz="1200" b="0" i="0" kern="1200" dirty="0">
                <a:solidFill>
                  <a:schemeClr val="tx1"/>
                </a:solidFill>
                <a:effectLst/>
                <a:latin typeface="+mn-lt"/>
                <a:ea typeface="+mn-ea"/>
                <a:cs typeface="+mn-cs"/>
              </a:rPr>
              <a:t> — where and how you stamped the event. And there's plain </a:t>
            </a:r>
            <a:r>
              <a:rPr lang="en-US" sz="1200" b="0" i="1" kern="1200" dirty="0">
                <a:solidFill>
                  <a:schemeClr val="tx1"/>
                </a:solidFill>
                <a:effectLst/>
                <a:latin typeface="+mn-lt"/>
                <a:ea typeface="+mn-ea"/>
                <a:cs typeface="+mn-cs"/>
              </a:rPr>
              <a:t>observation latency</a:t>
            </a:r>
            <a:r>
              <a:rPr lang="en-US" sz="1200" b="0" i="0" kern="1200" dirty="0">
                <a:solidFill>
                  <a:schemeClr val="tx1"/>
                </a:solidFill>
                <a:effectLst/>
                <a:latin typeface="+mn-lt"/>
                <a:ea typeface="+mn-ea"/>
                <a:cs typeface="+mn-cs"/>
              </a:rPr>
              <a:t>. They are not the same.</a:t>
            </a:r>
          </a:p>
          <a:p>
            <a:r>
              <a:rPr lang="en-US" sz="1200" b="0" i="0" kern="1200" dirty="0">
                <a:solidFill>
                  <a:schemeClr val="tx1"/>
                </a:solidFill>
                <a:effectLst/>
                <a:latin typeface="+mn-lt"/>
                <a:ea typeface="+mn-ea"/>
                <a:cs typeface="+mn-cs"/>
              </a:rPr>
              <a:t>Here's the trap. A hardware PHC timestamp in the NIC has the smallest capture error. A software SO_TIMESTAMPING stamp is larger — interrupt and </a:t>
            </a:r>
            <a:r>
              <a:rPr lang="en-US" sz="1200" b="0" i="0" kern="1200" dirty="0" err="1">
                <a:solidFill>
                  <a:schemeClr val="tx1"/>
                </a:solidFill>
                <a:effectLst/>
                <a:latin typeface="+mn-lt"/>
                <a:ea typeface="+mn-ea"/>
                <a:cs typeface="+mn-cs"/>
              </a:rPr>
              <a:t>softirq</a:t>
            </a:r>
            <a:r>
              <a:rPr lang="en-US" sz="1200" b="0" i="0" kern="1200" dirty="0">
                <a:solidFill>
                  <a:schemeClr val="tx1"/>
                </a:solidFill>
                <a:effectLst/>
                <a:latin typeface="+mn-lt"/>
                <a:ea typeface="+mn-ea"/>
                <a:cs typeface="+mn-cs"/>
              </a:rPr>
              <a:t> delay. And </a:t>
            </a:r>
            <a:r>
              <a:rPr lang="en-US" sz="1200" b="0" i="0" kern="1200" dirty="0" err="1">
                <a:solidFill>
                  <a:schemeClr val="tx1"/>
                </a:solidFill>
                <a:effectLst/>
                <a:latin typeface="+mn-lt"/>
                <a:ea typeface="+mn-ea"/>
                <a:cs typeface="+mn-cs"/>
              </a:rPr>
              <a:t>clock_gettime</a:t>
            </a:r>
            <a:r>
              <a:rPr lang="en-US" sz="1200" b="0" i="0" kern="1200" dirty="0">
                <a:solidFill>
                  <a:schemeClr val="tx1"/>
                </a:solidFill>
                <a:effectLst/>
                <a:latin typeface="+mn-lt"/>
                <a:ea typeface="+mn-ea"/>
                <a:cs typeface="+mn-cs"/>
              </a:rPr>
              <a:t> in your app — people call it the "largest error," but be careful: the </a:t>
            </a:r>
            <a:r>
              <a:rPr lang="en-US" sz="1200" b="0" i="0" kern="1200" dirty="0" err="1">
                <a:solidFill>
                  <a:schemeClr val="tx1"/>
                </a:solidFill>
                <a:effectLst/>
                <a:latin typeface="+mn-lt"/>
                <a:ea typeface="+mn-ea"/>
                <a:cs typeface="+mn-cs"/>
              </a:rPr>
              <a:t>syscall</a:t>
            </a:r>
            <a:r>
              <a:rPr lang="en-US" sz="1200" b="0" i="0" kern="1200" dirty="0">
                <a:solidFill>
                  <a:schemeClr val="tx1"/>
                </a:solidFill>
                <a:effectLst/>
                <a:latin typeface="+mn-lt"/>
                <a:ea typeface="+mn-ea"/>
                <a:cs typeface="+mn-cs"/>
              </a:rPr>
              <a:t> latency does </a:t>
            </a:r>
            <a:r>
              <a:rPr lang="en-US" sz="1200" b="0" i="1" kern="1200" dirty="0">
                <a:solidFill>
                  <a:schemeClr val="tx1"/>
                </a:solidFill>
                <a:effectLst/>
                <a:latin typeface="+mn-lt"/>
                <a:ea typeface="+mn-ea"/>
                <a:cs typeface="+mn-cs"/>
              </a:rPr>
              <a:t>not</a:t>
            </a:r>
            <a:r>
              <a:rPr lang="en-US" sz="1200" b="0" i="0" kern="1200" dirty="0">
                <a:solidFill>
                  <a:schemeClr val="tx1"/>
                </a:solidFill>
                <a:effectLst/>
                <a:latin typeface="+mn-lt"/>
                <a:ea typeface="+mn-ea"/>
                <a:cs typeface="+mn-cs"/>
              </a:rPr>
              <a:t> make the returned time wrong. That value </a:t>
            </a:r>
            <a:r>
              <a:rPr lang="en-US" sz="1200" b="0" i="1" kern="1200" dirty="0">
                <a:solidFill>
                  <a:schemeClr val="tx1"/>
                </a:solidFill>
                <a:effectLst/>
                <a:latin typeface="+mn-lt"/>
                <a:ea typeface="+mn-ea"/>
                <a:cs typeface="+mn-cs"/>
              </a:rPr>
              <a:t>is</a:t>
            </a:r>
            <a:r>
              <a:rPr lang="en-US" sz="1200" b="0" i="0" kern="1200" dirty="0">
                <a:solidFill>
                  <a:schemeClr val="tx1"/>
                </a:solidFill>
                <a:effectLst/>
                <a:latin typeface="+mn-lt"/>
                <a:ea typeface="+mn-ea"/>
                <a:cs typeface="+mn-cs"/>
              </a:rPr>
              <a:t> the clock at the read point. It only becomes uncertainty when you claim an </a:t>
            </a:r>
            <a:r>
              <a:rPr lang="en-US" sz="1200" b="0" i="1" kern="1200" dirty="0">
                <a:solidFill>
                  <a:schemeClr val="tx1"/>
                </a:solidFill>
                <a:effectLst/>
                <a:latin typeface="+mn-lt"/>
                <a:ea typeface="+mn-ea"/>
                <a:cs typeface="+mn-cs"/>
              </a:rPr>
              <a:t>earlier</a:t>
            </a:r>
            <a:r>
              <a:rPr lang="en-US" sz="1200" b="0" i="0" kern="1200" dirty="0">
                <a:solidFill>
                  <a:schemeClr val="tx1"/>
                </a:solidFill>
                <a:effectLst/>
                <a:latin typeface="+mn-lt"/>
                <a:ea typeface="+mn-ea"/>
                <a:cs typeface="+mn-cs"/>
              </a:rPr>
              <a:t> event happened at that time — then the event-to-read gap is what counts.</a:t>
            </a:r>
          </a:p>
          <a:p>
            <a:r>
              <a:rPr lang="en-US" sz="1200" b="0" i="0" kern="1200" dirty="0">
                <a:solidFill>
                  <a:schemeClr val="tx1"/>
                </a:solidFill>
                <a:effectLst/>
                <a:latin typeface="+mn-lt"/>
                <a:ea typeface="+mn-ea"/>
                <a:cs typeface="+mn-cs"/>
              </a:rPr>
              <a:t>So capture uncertainty is a </a:t>
            </a:r>
            <a:r>
              <a:rPr lang="en-US" sz="1200" b="0" i="1" kern="1200" dirty="0">
                <a:solidFill>
                  <a:schemeClr val="tx1"/>
                </a:solidFill>
                <a:effectLst/>
                <a:latin typeface="+mn-lt"/>
                <a:ea typeface="+mn-ea"/>
                <a:cs typeface="+mn-cs"/>
              </a:rPr>
              <a:t>separate</a:t>
            </a:r>
            <a:r>
              <a:rPr lang="en-US" sz="1200" b="0" i="0" kern="1200" dirty="0">
                <a:solidFill>
                  <a:schemeClr val="tx1"/>
                </a:solidFill>
                <a:effectLst/>
                <a:latin typeface="+mn-lt"/>
                <a:ea typeface="+mn-ea"/>
                <a:cs typeface="+mn-cs"/>
              </a:rPr>
              <a:t> term — call it U-capture — that the application adds on top of the clock envelope. The daemon can't know how you stamped. And this matters enormously for profiling: your GPU, your NIC, and your CPU may each be stamping in a </a:t>
            </a:r>
            <a:r>
              <a:rPr lang="en-US" sz="1200" b="0" i="1" kern="1200" dirty="0">
                <a:solidFill>
                  <a:schemeClr val="tx1"/>
                </a:solidFill>
                <a:effectLst/>
                <a:latin typeface="+mn-lt"/>
                <a:ea typeface="+mn-ea"/>
                <a:cs typeface="+mn-cs"/>
              </a:rPr>
              <a:t>different domain</a:t>
            </a:r>
            <a:r>
              <a:rPr lang="en-US" sz="1200" b="0" i="0" kern="1200" dirty="0">
                <a:solidFill>
                  <a:schemeClr val="tx1"/>
                </a:solidFill>
                <a:effectLst/>
                <a:latin typeface="+mn-lt"/>
                <a:ea typeface="+mn-ea"/>
                <a:cs typeface="+mn-cs"/>
              </a:rPr>
              <a:t> — even when the cluster says everything is synchronized.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kern="1200" dirty="0">
                <a:solidFill>
                  <a:schemeClr val="tx1"/>
                </a:solidFill>
                <a:effectLst/>
                <a:latin typeface="+mn-lt"/>
                <a:ea typeface="+mn-ea"/>
                <a:cs typeface="+mn-cs"/>
              </a:rPr>
              <a:t>Two more layers, quickly.</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Layer three, the network. Every hop — each transparent or boundary clock, each switch queue — adds delay, and the more hops the sync crosses, the more of it accumulates. Now the subtlety that trips people up — and here I have to be more careful than the usual hand-wave. PTP measures and compensates the </a:t>
            </a:r>
            <a:r>
              <a:rPr lang="en-US" sz="1200" b="0" i="1" kern="1200" dirty="0">
                <a:solidFill>
                  <a:schemeClr val="tx1"/>
                </a:solidFill>
                <a:effectLst/>
                <a:latin typeface="+mn-lt"/>
                <a:ea typeface="+mn-ea"/>
                <a:cs typeface="+mn-cs"/>
              </a:rPr>
              <a:t>estimated</a:t>
            </a:r>
            <a:r>
              <a:rPr lang="en-US" sz="1200" b="0" i="0" kern="1200" dirty="0">
                <a:solidFill>
                  <a:schemeClr val="tx1"/>
                </a:solidFill>
                <a:effectLst/>
                <a:latin typeface="+mn-lt"/>
                <a:ea typeface="+mn-ea"/>
                <a:cs typeface="+mn-cs"/>
              </a:rPr>
              <a:t> mean path delay. The mean gets corrected out, yes — but the </a:t>
            </a:r>
            <a:r>
              <a:rPr lang="en-US" sz="1200" b="0" i="1" kern="1200" dirty="0">
                <a:solidFill>
                  <a:schemeClr val="tx1"/>
                </a:solidFill>
                <a:effectLst/>
                <a:latin typeface="+mn-lt"/>
                <a:ea typeface="+mn-ea"/>
                <a:cs typeface="+mn-cs"/>
              </a:rPr>
              <a:t>estimation error</a:t>
            </a:r>
            <a:r>
              <a:rPr lang="en-US" sz="1200" b="0" i="0" kern="1200" dirty="0">
                <a:solidFill>
                  <a:schemeClr val="tx1"/>
                </a:solidFill>
                <a:effectLst/>
                <a:latin typeface="+mn-lt"/>
                <a:ea typeface="+mn-ea"/>
                <a:cs typeface="+mn-cs"/>
              </a:rPr>
              <a:t> of that mean does not vanish. Delay variation, changing path conditions, a stale delay estimate, and above all link </a:t>
            </a:r>
            <a:r>
              <a:rPr lang="en-US" sz="1200" b="0" i="1" kern="1200" dirty="0">
                <a:solidFill>
                  <a:schemeClr val="tx1"/>
                </a:solidFill>
                <a:effectLst/>
                <a:latin typeface="+mn-lt"/>
                <a:ea typeface="+mn-ea"/>
                <a:cs typeface="+mn-cs"/>
              </a:rPr>
              <a:t>asymmetry</a:t>
            </a:r>
            <a:r>
              <a:rPr lang="en-US" sz="1200" b="0" i="0" kern="1200" dirty="0">
                <a:solidFill>
                  <a:schemeClr val="tx1"/>
                </a:solidFill>
                <a:effectLst/>
                <a:latin typeface="+mn-lt"/>
                <a:ea typeface="+mn-ea"/>
                <a:cs typeface="+mn-cs"/>
              </a:rPr>
              <a:t> — the up and down directions differing — all remain. So I won't say "path delay is gone." I'll say the estimated mean is compensated, and its residual estimation error, growing with hop count, folds into the offset-estimation term. PTP doesn't hand us a clean measurement of it.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And layer five, the kernel path: Linux exposes useful </a:t>
            </a:r>
            <a:r>
              <a:rPr lang="en-US" sz="1200" b="0" i="1" kern="1200" dirty="0">
                <a:solidFill>
                  <a:schemeClr val="tx1"/>
                </a:solidFill>
                <a:effectLst/>
                <a:latin typeface="+mn-lt"/>
                <a:ea typeface="+mn-ea"/>
                <a:cs typeface="+mn-cs"/>
              </a:rPr>
              <a:t>ingredients</a:t>
            </a:r>
            <a:r>
              <a:rPr lang="en-US" sz="1200" b="0" i="0" kern="1200" dirty="0">
                <a:solidFill>
                  <a:schemeClr val="tx1"/>
                </a:solidFill>
                <a:effectLst/>
                <a:latin typeface="+mn-lt"/>
                <a:ea typeface="+mn-ea"/>
                <a:cs typeface="+mn-cs"/>
              </a:rPr>
              <a:t> here — PTP_SYS_OFFSET cross-timestamps the PHC against the system clock, and SO_TIMESTAMPING gives you ingress and egress timestamps. But notice what's </a:t>
            </a:r>
            <a:r>
              <a:rPr lang="en-US" sz="1200" b="0" i="1" kern="1200" dirty="0">
                <a:solidFill>
                  <a:schemeClr val="tx1"/>
                </a:solidFill>
                <a:effectLst/>
                <a:latin typeface="+mn-lt"/>
                <a:ea typeface="+mn-ea"/>
                <a:cs typeface="+mn-cs"/>
              </a:rPr>
              <a:t>not</a:t>
            </a:r>
            <a:r>
              <a:rPr lang="en-US" sz="1200" b="0" i="0" kern="1200" dirty="0">
                <a:solidFill>
                  <a:schemeClr val="tx1"/>
                </a:solidFill>
                <a:effectLst/>
                <a:latin typeface="+mn-lt"/>
                <a:ea typeface="+mn-ea"/>
                <a:cs typeface="+mn-cs"/>
              </a:rPr>
              <a:t> a kernel API: the disciplined sync-state itself. That lives only in ptp4l in </a:t>
            </a:r>
            <a:r>
              <a:rPr lang="en-US" sz="1200" b="0" i="0" kern="1200" dirty="0" err="1">
                <a:solidFill>
                  <a:schemeClr val="tx1"/>
                </a:solidFill>
                <a:effectLst/>
                <a:latin typeface="+mn-lt"/>
                <a:ea typeface="+mn-ea"/>
                <a:cs typeface="+mn-cs"/>
              </a:rPr>
              <a:t>userspace</a:t>
            </a:r>
            <a:r>
              <a:rPr lang="en-US" sz="1200" b="0" i="0" kern="1200" dirty="0">
                <a:solidFill>
                  <a:schemeClr val="tx1"/>
                </a:solidFill>
                <a:effectLst/>
                <a:latin typeface="+mn-lt"/>
                <a:ea typeface="+mn-ea"/>
                <a:cs typeface="+mn-cs"/>
              </a:rPr>
              <a:t>, and there's no coherent snapshot of it. Remember that — it's exactly what's </a:t>
            </a:r>
            <a:r>
              <a:rPr lang="en-US" sz="1200" b="0" i="1" kern="1200" dirty="0">
                <a:solidFill>
                  <a:schemeClr val="tx1"/>
                </a:solidFill>
                <a:effectLst/>
                <a:latin typeface="+mn-lt"/>
                <a:ea typeface="+mn-ea"/>
                <a:cs typeface="+mn-cs"/>
              </a:rPr>
              <a:t>missing</a:t>
            </a:r>
            <a:r>
              <a:rPr lang="en-US" sz="1200" b="0" i="0" kern="1200" dirty="0">
                <a:solidFill>
                  <a:schemeClr val="tx1"/>
                </a:solidFill>
                <a:effectLst/>
                <a:latin typeface="+mn-lt"/>
                <a:ea typeface="+mn-ea"/>
                <a:cs typeface="+mn-cs"/>
              </a:rPr>
              <a:t>, and I'll come back to it at the end.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kern="1200" dirty="0">
                <a:solidFill>
                  <a:schemeClr val="tx1"/>
                </a:solidFill>
                <a:effectLst/>
                <a:latin typeface="+mn-lt"/>
                <a:ea typeface="+mn-ea"/>
                <a:cs typeface="+mn-cs"/>
              </a:rPr>
              <a:t>And now the layer that almost every tool forgets. [PAUSE]</a:t>
            </a:r>
          </a:p>
          <a:p>
            <a:r>
              <a:rPr lang="en-US" sz="1200" b="0" i="0" kern="1200" dirty="0">
                <a:solidFill>
                  <a:schemeClr val="tx1"/>
                </a:solidFill>
                <a:effectLst/>
                <a:latin typeface="+mn-lt"/>
                <a:ea typeface="+mn-ea"/>
                <a:cs typeface="+mn-cs"/>
              </a:rPr>
              <a:t>Between syncs, the clock's frequency isn't perfectly known — so our </a:t>
            </a:r>
            <a:r>
              <a:rPr lang="en-US" sz="1200" b="0" i="1" kern="1200" dirty="0">
                <a:solidFill>
                  <a:schemeClr val="tx1"/>
                </a:solidFill>
                <a:effectLst/>
                <a:latin typeface="+mn-lt"/>
                <a:ea typeface="+mn-ea"/>
                <a:cs typeface="+mn-cs"/>
              </a:rPr>
              <a:t>bound</a:t>
            </a:r>
            <a:r>
              <a:rPr lang="en-US" sz="1200" b="0" i="0" kern="1200" dirty="0">
                <a:solidFill>
                  <a:schemeClr val="tx1"/>
                </a:solidFill>
                <a:effectLst/>
                <a:latin typeface="+mn-lt"/>
                <a:ea typeface="+mn-ea"/>
                <a:cs typeface="+mn-cs"/>
              </a:rPr>
              <a:t> on the error grows. The PHC is being frequency-disciplined; between syncs it does </a:t>
            </a:r>
            <a:r>
              <a:rPr lang="en-US" sz="1200" b="0" i="1" kern="1200" dirty="0">
                <a:solidFill>
                  <a:schemeClr val="tx1"/>
                </a:solidFill>
                <a:effectLst/>
                <a:latin typeface="+mn-lt"/>
                <a:ea typeface="+mn-ea"/>
                <a:cs typeface="+mn-cs"/>
              </a:rPr>
              <a:t>not</a:t>
            </a:r>
            <a:r>
              <a:rPr lang="en-US" sz="1200" b="0" i="0" kern="1200" dirty="0">
                <a:solidFill>
                  <a:schemeClr val="tx1"/>
                </a:solidFill>
                <a:effectLst/>
                <a:latin typeface="+mn-lt"/>
                <a:ea typeface="+mn-ea"/>
                <a:cs typeface="+mn-cs"/>
              </a:rPr>
              <a:t> free-run at the raw crystal tolerance — the last correction stays programmed. </a:t>
            </a:r>
          </a:p>
          <a:p>
            <a:r>
              <a:rPr lang="en-US" sz="1200" b="0" i="0" kern="1200" dirty="0">
                <a:solidFill>
                  <a:schemeClr val="tx1"/>
                </a:solidFill>
                <a:effectLst/>
                <a:latin typeface="+mn-lt"/>
                <a:ea typeface="+mn-ea"/>
                <a:cs typeface="+mn-cs"/>
              </a:rPr>
              <a:t>So this isn't "the oscillator drifts 100 microseconds." The honest statement is: the </a:t>
            </a:r>
            <a:r>
              <a:rPr lang="en-US" sz="1200" b="0" i="1" kern="1200" dirty="0">
                <a:solidFill>
                  <a:schemeClr val="tx1"/>
                </a:solidFill>
                <a:effectLst/>
                <a:latin typeface="+mn-lt"/>
                <a:ea typeface="+mn-ea"/>
                <a:cs typeface="+mn-cs"/>
              </a:rPr>
              <a:t>residual</a:t>
            </a:r>
            <a:r>
              <a:rPr lang="en-US" sz="1200" b="0" i="0" kern="1200" dirty="0">
                <a:solidFill>
                  <a:schemeClr val="tx1"/>
                </a:solidFill>
                <a:effectLst/>
                <a:latin typeface="+mn-lt"/>
                <a:ea typeface="+mn-ea"/>
                <a:cs typeface="+mn-cs"/>
              </a:rPr>
              <a:t> frequency error is bounded by a configured D-max, and our uncertainty grows as that bound times the age since the last sync.</a:t>
            </a:r>
          </a:p>
          <a:p>
            <a:r>
              <a:rPr lang="en-US" sz="1200" b="0" i="0" kern="1200" dirty="0">
                <a:solidFill>
                  <a:schemeClr val="tx1"/>
                </a:solidFill>
                <a:effectLst/>
                <a:latin typeface="+mn-lt"/>
                <a:ea typeface="+mn-ea"/>
                <a:cs typeface="+mn-cs"/>
              </a:rPr>
              <a:t>Put in a number: a D-max of 100 parts per million times one second is </a:t>
            </a:r>
            <a:r>
              <a:rPr lang="en-US" sz="1200" b="1" i="0" kern="1200" dirty="0">
                <a:solidFill>
                  <a:schemeClr val="tx1"/>
                </a:solidFill>
                <a:effectLst/>
                <a:latin typeface="+mn-lt"/>
                <a:ea typeface="+mn-ea"/>
                <a:cs typeface="+mn-cs"/>
              </a:rPr>
              <a:t>100 microseconds</a:t>
            </a:r>
            <a:r>
              <a:rPr lang="en-US" sz="1200" b="0" i="0" kern="1200" dirty="0">
                <a:solidFill>
                  <a:schemeClr val="tx1"/>
                </a:solidFill>
                <a:effectLst/>
                <a:latin typeface="+mn-lt"/>
                <a:ea typeface="+mn-ea"/>
                <a:cs typeface="+mn-cs"/>
              </a:rPr>
              <a:t>. [PAUSE]</a:t>
            </a:r>
          </a:p>
          <a:p>
            <a:r>
              <a:rPr lang="en-US" sz="1200" b="0" i="0" kern="1200" dirty="0" err="1">
                <a:solidFill>
                  <a:schemeClr val="tx1"/>
                </a:solidFill>
                <a:effectLst/>
                <a:latin typeface="+mn-lt"/>
                <a:ea typeface="+mn-ea"/>
                <a:cs typeface="+mn-cs"/>
              </a:rPr>
              <a:t>Thnk</a:t>
            </a:r>
            <a:r>
              <a:rPr lang="en-US" sz="1200" b="0" i="0" kern="1200" dirty="0">
                <a:solidFill>
                  <a:schemeClr val="tx1"/>
                </a:solidFill>
                <a:effectLst/>
                <a:latin typeface="+mn-lt"/>
                <a:ea typeface="+mn-ea"/>
                <a:cs typeface="+mn-cs"/>
              </a:rPr>
              <a:t> about what that means. You can have a </a:t>
            </a:r>
            <a:r>
              <a:rPr lang="en-US" sz="1200" b="0" i="1" kern="1200" dirty="0">
                <a:solidFill>
                  <a:schemeClr val="tx1"/>
                </a:solidFill>
                <a:effectLst/>
                <a:latin typeface="+mn-lt"/>
                <a:ea typeface="+mn-ea"/>
                <a:cs typeface="+mn-cs"/>
              </a:rPr>
              <a:t>perfect</a:t>
            </a:r>
            <a:r>
              <a:rPr lang="en-US" sz="1200" b="0" i="0" kern="1200" dirty="0">
                <a:solidFill>
                  <a:schemeClr val="tx1"/>
                </a:solidFill>
                <a:effectLst/>
                <a:latin typeface="+mn-lt"/>
                <a:ea typeface="+mn-ea"/>
                <a:cs typeface="+mn-cs"/>
              </a:rPr>
              <a:t> offset estimate at the instant a sync arrives — and a moment later that point has already grown into an interval.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Staleness turns a point estimate into a </a:t>
            </a:r>
            <a:r>
              <a:rPr lang="en-US" sz="1200" b="0" i="1" kern="1200" dirty="0">
                <a:solidFill>
                  <a:schemeClr val="tx1"/>
                </a:solidFill>
                <a:effectLst/>
                <a:latin typeface="+mn-lt"/>
                <a:ea typeface="+mn-ea"/>
                <a:cs typeface="+mn-cs"/>
              </a:rPr>
              <a:t>growing</a:t>
            </a:r>
            <a:r>
              <a:rPr lang="en-US" sz="1200" b="0" i="0" kern="1200" dirty="0">
                <a:solidFill>
                  <a:schemeClr val="tx1"/>
                </a:solidFill>
                <a:effectLst/>
                <a:latin typeface="+mn-lt"/>
                <a:ea typeface="+mn-ea"/>
                <a:cs typeface="+mn-cs"/>
              </a:rPr>
              <a:t> envelope — an </a:t>
            </a:r>
            <a:r>
              <a:rPr lang="en-US" sz="1200" b="0" i="1" kern="1200" dirty="0">
                <a:solidFill>
                  <a:schemeClr val="tx1"/>
                </a:solidFill>
                <a:effectLst/>
                <a:latin typeface="+mn-lt"/>
                <a:ea typeface="+mn-ea"/>
                <a:cs typeface="+mn-cs"/>
              </a:rPr>
              <a:t>attributed</a:t>
            </a:r>
            <a:r>
              <a:rPr lang="en-US" sz="1200" b="0" i="0" kern="1200" dirty="0">
                <a:solidFill>
                  <a:schemeClr val="tx1"/>
                </a:solidFill>
                <a:effectLst/>
                <a:latin typeface="+mn-lt"/>
                <a:ea typeface="+mn-ea"/>
                <a:cs typeface="+mn-cs"/>
              </a:rPr>
              <a:t> bound, not a measurement of drift.</a:t>
            </a:r>
          </a:p>
          <a:p>
            <a:r>
              <a:rPr lang="en-US" sz="1200" b="0" i="0" kern="1200" dirty="0">
                <a:solidFill>
                  <a:schemeClr val="tx1"/>
                </a:solidFill>
                <a:effectLst/>
                <a:latin typeface="+mn-lt"/>
                <a:ea typeface="+mn-ea"/>
                <a:cs typeface="+mn-cs"/>
              </a:rPr>
              <a:t>Most dashboards show you the offset. Very few show you that envelope widening since the last correction. That gap — that's exactly what the implementation later in this talk makes explicit.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kern="1200" dirty="0">
                <a:solidFill>
                  <a:schemeClr val="tx1"/>
                </a:solidFill>
                <a:effectLst/>
                <a:latin typeface="+mn-lt"/>
                <a:ea typeface="+mn-ea"/>
                <a:cs typeface="+mn-cs"/>
              </a:rPr>
              <a:t>PTP answers exactly one question for us: </a:t>
            </a:r>
            <a:r>
              <a:rPr lang="en-US" sz="1200" b="0" i="1" kern="1200" dirty="0">
                <a:solidFill>
                  <a:schemeClr val="tx1"/>
                </a:solidFill>
                <a:effectLst/>
                <a:latin typeface="+mn-lt"/>
                <a:ea typeface="+mn-ea"/>
                <a:cs typeface="+mn-cs"/>
              </a:rPr>
              <a:t>what does the protocol believe about my clock?</a:t>
            </a:r>
            <a:r>
              <a:rPr lang="en-US" sz="1200" b="0" i="0" kern="1200" dirty="0">
                <a:solidFill>
                  <a:schemeClr val="tx1"/>
                </a:solidFill>
                <a:effectLst/>
                <a:latin typeface="+mn-lt"/>
                <a:ea typeface="+mn-ea"/>
                <a:cs typeface="+mn-cs"/>
              </a:rPr>
              <a:t> We read that belief from four datasets, all through ptp4l.</a:t>
            </a:r>
          </a:p>
          <a:p>
            <a:r>
              <a:rPr lang="en-US" sz="1200" b="0" i="0" kern="1200" dirty="0">
                <a:solidFill>
                  <a:schemeClr val="tx1"/>
                </a:solidFill>
                <a:effectLst/>
                <a:latin typeface="+mn-lt"/>
                <a:ea typeface="+mn-ea"/>
                <a:cs typeface="+mn-cs"/>
              </a:rPr>
              <a:t>CURRENT_DATA_SET gives offset, mean path delay, and steps removed. PORT_DATA_SET gives the port state and the sync interval. TIME_STATUS_NP — a Linux extension — gives the sync ingress time and the grandmaster identity. And PORT_HWCLOCK_NP optionally gives the PHC index.</a:t>
            </a:r>
          </a:p>
          <a:p>
            <a:r>
              <a:rPr lang="en-US" sz="1200" b="0" i="0" kern="1200" dirty="0">
                <a:solidFill>
                  <a:schemeClr val="tx1"/>
                </a:solidFill>
                <a:effectLst/>
                <a:latin typeface="+mn-lt"/>
                <a:ea typeface="+mn-ea"/>
                <a:cs typeface="+mn-cs"/>
              </a:rPr>
              <a:t>What PTP does </a:t>
            </a:r>
            <a:r>
              <a:rPr lang="en-US" sz="1200" b="0" i="1" kern="1200" dirty="0">
                <a:solidFill>
                  <a:schemeClr val="tx1"/>
                </a:solidFill>
                <a:effectLst/>
                <a:latin typeface="+mn-lt"/>
                <a:ea typeface="+mn-ea"/>
                <a:cs typeface="+mn-cs"/>
              </a:rPr>
              <a:t>not</a:t>
            </a:r>
            <a:r>
              <a:rPr lang="en-US" sz="1200" b="0" i="0" kern="1200" dirty="0">
                <a:solidFill>
                  <a:schemeClr val="tx1"/>
                </a:solidFill>
                <a:effectLst/>
                <a:latin typeface="+mn-lt"/>
                <a:ea typeface="+mn-ea"/>
                <a:cs typeface="+mn-cs"/>
              </a:rPr>
              <a:t> answer is "what is my application-level timestamp error bar?" That's the part we build on top. And notice one thing that becomes important later: these are four </a:t>
            </a:r>
            <a:r>
              <a:rPr lang="en-US" sz="1200" b="0" i="1" kern="1200" dirty="0">
                <a:solidFill>
                  <a:schemeClr val="tx1"/>
                </a:solidFill>
                <a:effectLst/>
                <a:latin typeface="+mn-lt"/>
                <a:ea typeface="+mn-ea"/>
                <a:cs typeface="+mn-cs"/>
              </a:rPr>
              <a:t>separate</a:t>
            </a:r>
            <a:r>
              <a:rPr lang="en-US" sz="1200" b="0" i="0" kern="1200" dirty="0">
                <a:solidFill>
                  <a:schemeClr val="tx1"/>
                </a:solidFill>
                <a:effectLst/>
                <a:latin typeface="+mn-lt"/>
                <a:ea typeface="+mn-ea"/>
                <a:cs typeface="+mn-cs"/>
              </a:rPr>
              <a:t> datasets, polled independently over the management interface. There is no single call that hands you a coherent clock-state at one instant. Hold that thought.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kern="1200" dirty="0">
                <a:solidFill>
                  <a:schemeClr val="tx1"/>
                </a:solidFill>
                <a:effectLst/>
                <a:latin typeface="+mn-lt"/>
                <a:ea typeface="+mn-ea"/>
                <a:cs typeface="+mn-cs"/>
              </a:rPr>
              <a:t>And this is how we build it. The key is that ingress time.</a:t>
            </a:r>
          </a:p>
          <a:p>
            <a:r>
              <a:rPr lang="en-US" sz="1200" b="0" i="0" kern="1200" dirty="0">
                <a:solidFill>
                  <a:schemeClr val="tx1"/>
                </a:solidFill>
                <a:effectLst/>
                <a:latin typeface="+mn-lt"/>
                <a:ea typeface="+mn-ea"/>
                <a:cs typeface="+mn-cs"/>
              </a:rPr>
              <a:t>TIME_STATUS_NP tells us </a:t>
            </a:r>
            <a:r>
              <a:rPr lang="en-US" sz="1200" b="0" i="1" kern="1200" dirty="0">
                <a:solidFill>
                  <a:schemeClr val="tx1"/>
                </a:solidFill>
                <a:effectLst/>
                <a:latin typeface="+mn-lt"/>
                <a:ea typeface="+mn-ea"/>
                <a:cs typeface="+mn-cs"/>
              </a:rPr>
              <a:t>when the last sync event actually arrived</a:t>
            </a:r>
            <a:r>
              <a:rPr lang="en-US" sz="1200" b="0" i="0" kern="1200" dirty="0">
                <a:solidFill>
                  <a:schemeClr val="tx1"/>
                </a:solidFill>
                <a:effectLst/>
                <a:latin typeface="+mn-lt"/>
                <a:ea typeface="+mn-ea"/>
                <a:cs typeface="+mn-cs"/>
              </a:rPr>
              <a:t>, in PHC time. That timestamp is our </a:t>
            </a:r>
            <a:r>
              <a:rPr lang="en-US" sz="1200" b="0" i="1" kern="1200" dirty="0">
                <a:solidFill>
                  <a:schemeClr val="tx1"/>
                </a:solidFill>
                <a:effectLst/>
                <a:latin typeface="+mn-lt"/>
                <a:ea typeface="+mn-ea"/>
                <a:cs typeface="+mn-cs"/>
              </a:rPr>
              <a:t>anchor</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Then the drift term is simple: take the time now, subtract the time at that ingress anchor, and multiply by the configured drift bound, D-max. That gives an </a:t>
            </a:r>
            <a:r>
              <a:rPr lang="en-US" sz="1200" b="0" i="1" kern="1200" dirty="0">
                <a:solidFill>
                  <a:schemeClr val="tx1"/>
                </a:solidFill>
                <a:effectLst/>
                <a:latin typeface="+mn-lt"/>
                <a:ea typeface="+mn-ea"/>
                <a:cs typeface="+mn-cs"/>
              </a:rPr>
              <a:t>attributed</a:t>
            </a:r>
            <a:r>
              <a:rPr lang="en-US" sz="1200" b="0" i="0" kern="1200" dirty="0">
                <a:solidFill>
                  <a:schemeClr val="tx1"/>
                </a:solidFill>
                <a:effectLst/>
                <a:latin typeface="+mn-lt"/>
                <a:ea typeface="+mn-ea"/>
                <a:cs typeface="+mn-cs"/>
              </a:rPr>
              <a:t> bound on residual frequency error since the anchor. [PAUSE]</a:t>
            </a:r>
          </a:p>
          <a:p>
            <a:r>
              <a:rPr lang="en-US" sz="1200" b="0" i="0" kern="1200" dirty="0">
                <a:solidFill>
                  <a:schemeClr val="tx1"/>
                </a:solidFill>
                <a:effectLst/>
                <a:latin typeface="+mn-lt"/>
                <a:ea typeface="+mn-ea"/>
                <a:cs typeface="+mn-cs"/>
              </a:rPr>
              <a:t>But let me flag the honest weakness here, because a careful reviewer will. The offset comes from CURRENT_DATA_SET; the ingress time comes from TIME_STATUS_NP. Those are two different datasets, and the servo state may have moved between them. I'm treating two non-atomic observations as if they describe one synchronization event at one epoch. It's a reasonable approximation — but it's an approximation. And honestly, that snapshot-coherence gap is one of the strongest arguments for the kernel API I'll propose at the end: Linux doesn't expose a coherent clock-state at a common observation epoch.</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kern="1200" dirty="0">
                <a:solidFill>
                  <a:schemeClr val="tx1"/>
                </a:solidFill>
                <a:effectLst/>
                <a:latin typeface="+mn-lt"/>
                <a:ea typeface="+mn-ea"/>
                <a:cs typeface="+mn-cs"/>
              </a:rPr>
              <a:t>So here is the whole model on one slide — and I've written it the way I'd want to defend it, not the way that sounds cleanest.</a:t>
            </a:r>
          </a:p>
          <a:p>
            <a:r>
              <a:rPr lang="en-US" sz="1200" b="0" i="0" kern="1200" dirty="0">
                <a:solidFill>
                  <a:schemeClr val="tx1"/>
                </a:solidFill>
                <a:effectLst/>
                <a:latin typeface="+mn-lt"/>
                <a:ea typeface="+mn-ea"/>
                <a:cs typeface="+mn-cs"/>
              </a:rPr>
              <a:t>Start at the top: the </a:t>
            </a:r>
            <a:r>
              <a:rPr lang="en-US" sz="1200" b="0" i="1" kern="1200" dirty="0">
                <a:solidFill>
                  <a:schemeClr val="tx1"/>
                </a:solidFill>
                <a:effectLst/>
                <a:latin typeface="+mn-lt"/>
                <a:ea typeface="+mn-ea"/>
                <a:cs typeface="+mn-cs"/>
              </a:rPr>
              <a:t>event</a:t>
            </a:r>
            <a:r>
              <a:rPr lang="en-US" sz="1200" b="0" i="0" kern="1200" dirty="0">
                <a:solidFill>
                  <a:schemeClr val="tx1"/>
                </a:solidFill>
                <a:effectLst/>
                <a:latin typeface="+mn-lt"/>
                <a:ea typeface="+mn-ea"/>
                <a:cs typeface="+mn-cs"/>
              </a:rPr>
              <a:t> uncertainty splits into two owners. </a:t>
            </a:r>
            <a:r>
              <a:rPr lang="en-US" sz="1200" b="1" i="0" kern="1200" dirty="0">
                <a:solidFill>
                  <a:schemeClr val="tx1"/>
                </a:solidFill>
                <a:effectLst/>
                <a:latin typeface="+mn-lt"/>
                <a:ea typeface="+mn-ea"/>
                <a:cs typeface="+mn-cs"/>
              </a:rPr>
              <a:t>U-clock</a:t>
            </a:r>
            <a:r>
              <a:rPr lang="en-US" sz="1200" b="0" i="0" kern="1200" dirty="0">
                <a:solidFill>
                  <a:schemeClr val="tx1"/>
                </a:solidFill>
                <a:effectLst/>
                <a:latin typeface="+mn-lt"/>
                <a:ea typeface="+mn-ea"/>
                <a:cs typeface="+mn-cs"/>
              </a:rPr>
              <a:t>, which the daemon and library provide, and </a:t>
            </a:r>
            <a:r>
              <a:rPr lang="en-US" sz="1200" b="1" i="0" kern="1200" dirty="0">
                <a:solidFill>
                  <a:schemeClr val="tx1"/>
                </a:solidFill>
                <a:effectLst/>
                <a:latin typeface="+mn-lt"/>
                <a:ea typeface="+mn-ea"/>
                <a:cs typeface="+mn-cs"/>
              </a:rPr>
              <a:t>U-capture</a:t>
            </a:r>
            <a:r>
              <a:rPr lang="en-US" sz="1200" b="0" i="0" kern="1200" dirty="0">
                <a:solidFill>
                  <a:schemeClr val="tx1"/>
                </a:solidFill>
                <a:effectLst/>
                <a:latin typeface="+mn-lt"/>
                <a:ea typeface="+mn-ea"/>
                <a:cs typeface="+mn-cs"/>
              </a:rPr>
              <a:t>, which the application provides. The total is their sum. Keep them separate — the daemon has no idea how your application stamped its event.</a:t>
            </a:r>
          </a:p>
          <a:p>
            <a:r>
              <a:rPr lang="en-US" sz="1200" b="0" i="0" kern="1200" dirty="0">
                <a:solidFill>
                  <a:schemeClr val="tx1"/>
                </a:solidFill>
                <a:effectLst/>
                <a:latin typeface="+mn-lt"/>
                <a:ea typeface="+mn-ea"/>
                <a:cs typeface="+mn-cs"/>
              </a:rPr>
              <a:t>Now U-clock itself. First term: the estimated offset — </a:t>
            </a:r>
            <a:r>
              <a:rPr lang="en-US" sz="1200" b="0" i="0" kern="1200" dirty="0" err="1">
                <a:solidFill>
                  <a:schemeClr val="tx1"/>
                </a:solidFill>
                <a:effectLst/>
                <a:latin typeface="+mn-lt"/>
                <a:ea typeface="+mn-ea"/>
                <a:cs typeface="+mn-cs"/>
              </a:rPr>
              <a:t>offset_est</a:t>
            </a:r>
            <a:r>
              <a:rPr lang="en-US" sz="1200" b="0" i="0" kern="1200" dirty="0">
                <a:solidFill>
                  <a:schemeClr val="tx1"/>
                </a:solidFill>
                <a:effectLst/>
                <a:latin typeface="+mn-lt"/>
                <a:ea typeface="+mn-ea"/>
                <a:cs typeface="+mn-cs"/>
              </a:rPr>
              <a:t> — the servo's latest estimate of our bias, left uncorrected. Second, and this is the term people drop: </a:t>
            </a:r>
            <a:r>
              <a:rPr lang="en-US" sz="1200" b="0" i="0" kern="1200" dirty="0" err="1">
                <a:solidFill>
                  <a:schemeClr val="tx1"/>
                </a:solidFill>
                <a:effectLst/>
                <a:latin typeface="+mn-lt"/>
                <a:ea typeface="+mn-ea"/>
                <a:cs typeface="+mn-cs"/>
              </a:rPr>
              <a:t>U_est</a:t>
            </a:r>
            <a:r>
              <a:rPr lang="en-US" sz="1200" b="0" i="0" kern="1200" dirty="0">
                <a:solidFill>
                  <a:schemeClr val="tx1"/>
                </a:solidFill>
                <a:effectLst/>
                <a:latin typeface="+mn-lt"/>
                <a:ea typeface="+mn-ea"/>
                <a:cs typeface="+mn-cs"/>
              </a:rPr>
              <a:t>, the </a:t>
            </a:r>
            <a:r>
              <a:rPr lang="en-US" sz="1200" b="0" i="1" kern="1200" dirty="0">
                <a:solidFill>
                  <a:schemeClr val="tx1"/>
                </a:solidFill>
                <a:effectLst/>
                <a:latin typeface="+mn-lt"/>
                <a:ea typeface="+mn-ea"/>
                <a:cs typeface="+mn-cs"/>
              </a:rPr>
              <a:t>uncertainty of that estimate</a:t>
            </a:r>
            <a:r>
              <a:rPr lang="en-US" sz="1200" b="0" i="0" kern="1200" dirty="0">
                <a:solidFill>
                  <a:schemeClr val="tx1"/>
                </a:solidFill>
                <a:effectLst/>
                <a:latin typeface="+mn-lt"/>
                <a:ea typeface="+mn-ea"/>
                <a:cs typeface="+mn-cs"/>
              </a:rPr>
              <a:t> — timestamp noise, delay variation, residual path-delay-estimation error, asymmetry. An offset estimate is not a bound on the offset; the bound needs this second term. Third: the drift — age since the anchor times D-max, the attributed residual-frequency bound. And fourth: half a tick of clock resolution — a quantization term.</a:t>
            </a:r>
          </a:p>
          <a:p>
            <a:r>
              <a:rPr lang="en-US" sz="1200" b="0" i="0" kern="1200" dirty="0">
                <a:solidFill>
                  <a:schemeClr val="tx1"/>
                </a:solidFill>
                <a:effectLst/>
                <a:latin typeface="+mn-lt"/>
                <a:ea typeface="+mn-ea"/>
                <a:cs typeface="+mn-cs"/>
              </a:rPr>
              <a:t>And below the line, the assumptions, written out: the frequency error is within D-max, the asymmetry within A-max, the offset-estimation error within its own limit. [PAUSE]</a:t>
            </a:r>
          </a:p>
          <a:p>
            <a:r>
              <a:rPr lang="en-US" sz="1200" b="0" i="0" kern="1200" dirty="0">
                <a:solidFill>
                  <a:schemeClr val="tx1"/>
                </a:solidFill>
                <a:effectLst/>
                <a:latin typeface="+mn-lt"/>
                <a:ea typeface="+mn-ea"/>
                <a:cs typeface="+mn-cs"/>
              </a:rPr>
              <a:t>I want to be honest about what this is. It is </a:t>
            </a:r>
            <a:r>
              <a:rPr lang="en-US" sz="1200" b="0" i="1" kern="1200" dirty="0">
                <a:solidFill>
                  <a:schemeClr val="tx1"/>
                </a:solidFill>
                <a:effectLst/>
                <a:latin typeface="+mn-lt"/>
                <a:ea typeface="+mn-ea"/>
                <a:cs typeface="+mn-cs"/>
              </a:rPr>
              <a:t>not</a:t>
            </a:r>
            <a:r>
              <a:rPr lang="en-US" sz="1200" b="0" i="0" kern="1200" dirty="0">
                <a:solidFill>
                  <a:schemeClr val="tx1"/>
                </a:solidFill>
                <a:effectLst/>
                <a:latin typeface="+mn-lt"/>
                <a:ea typeface="+mn-ea"/>
                <a:cs typeface="+mn-cs"/>
              </a:rPr>
              <a:t> a proven upper bound on true clock error - It's a </a:t>
            </a:r>
            <a:r>
              <a:rPr lang="en-US" sz="1200" b="0" i="1" kern="1200" dirty="0">
                <a:solidFill>
                  <a:schemeClr val="tx1"/>
                </a:solidFill>
                <a:effectLst/>
                <a:latin typeface="+mn-lt"/>
                <a:ea typeface="+mn-ea"/>
                <a:cs typeface="+mn-cs"/>
              </a:rPr>
              <a:t>computed uncertainty envelope under stated assumptions</a:t>
            </a:r>
            <a:r>
              <a:rPr lang="en-US" sz="1200" b="0" i="0" kern="1200" dirty="0">
                <a:solidFill>
                  <a:schemeClr val="tx1"/>
                </a:solidFill>
                <a:effectLst/>
                <a:latin typeface="+mn-lt"/>
                <a:ea typeface="+mn-ea"/>
                <a:cs typeface="+mn-cs"/>
              </a:rPr>
              <a:t>. </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Part five. Let's make it something you can actually run. This is </a:t>
            </a:r>
            <a:r>
              <a:rPr lang="en-US" sz="1200" b="0" i="0" kern="1200" dirty="0" err="1">
                <a:solidFill>
                  <a:schemeClr val="tx1"/>
                </a:solidFill>
                <a:effectLst/>
                <a:latin typeface="+mn-lt"/>
                <a:ea typeface="+mn-ea"/>
                <a:cs typeface="+mn-cs"/>
              </a:rPr>
              <a:t>ptp</a:t>
            </a:r>
            <a:r>
              <a:rPr lang="en-US" sz="1200" b="0" i="0" kern="1200" dirty="0">
                <a:solidFill>
                  <a:schemeClr val="tx1"/>
                </a:solidFill>
                <a:effectLst/>
                <a:latin typeface="+mn-lt"/>
                <a:ea typeface="+mn-ea"/>
                <a:cs typeface="+mn-cs"/>
              </a:rPr>
              <a:t>-uncertainty — a small daemon and a client library that I built to visualize the concept, and verify which data would such an app need to reliably calculate error bounds?</a:t>
            </a:r>
            <a:endParaRPr lang="en-US" dirty="0"/>
          </a:p>
        </p:txBody>
      </p:sp>
      <p:sp>
        <p:nvSpPr>
          <p:cNvPr id="4" name="Slide Number Placeholder 3"/>
          <p:cNvSpPr>
            <a:spLocks noGrp="1"/>
          </p:cNvSpPr>
          <p:nvPr>
            <p:ph type="sldNum" sz="quarter" idx="5"/>
          </p:nvPr>
        </p:nvSpPr>
        <p:spPr/>
        <p:txBody>
          <a:bodyPr/>
          <a:lstStyle/>
          <a:p>
            <a:fld id="{083EC2DE-F468-9749-BC91-10A9478E15E2}" type="slidenum">
              <a:rPr lang="en-US" smtClean="0"/>
              <a:t>23</a:t>
            </a:fld>
            <a:endParaRPr lang="en-US"/>
          </a:p>
        </p:txBody>
      </p:sp>
    </p:spTree>
    <p:extLst>
      <p:ext uri="{BB962C8B-B14F-4D97-AF65-F5344CB8AC3E}">
        <p14:creationId xmlns:p14="http://schemas.microsoft.com/office/powerpoint/2010/main" val="10521519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kern="1200" dirty="0">
                <a:solidFill>
                  <a:schemeClr val="tx1"/>
                </a:solidFill>
                <a:effectLst/>
                <a:latin typeface="+mn-lt"/>
                <a:ea typeface="+mn-ea"/>
                <a:cs typeface="+mn-cs"/>
              </a:rPr>
              <a:t>The shape is deliberately simple.</a:t>
            </a:r>
          </a:p>
          <a:p>
            <a:r>
              <a:rPr lang="en-US" sz="1200" b="0" i="0" kern="1200" dirty="0">
                <a:solidFill>
                  <a:schemeClr val="tx1"/>
                </a:solidFill>
                <a:effectLst/>
                <a:latin typeface="+mn-lt"/>
                <a:ea typeface="+mn-ea"/>
                <a:cs typeface="+mn-cs"/>
              </a:rPr>
              <a:t>ptp4l runs as it always does. The daemon, </a:t>
            </a:r>
            <a:r>
              <a:rPr lang="en-US" sz="1200" b="0" i="0" kern="1200" dirty="0" err="1">
                <a:solidFill>
                  <a:schemeClr val="tx1"/>
                </a:solidFill>
                <a:effectLst/>
                <a:latin typeface="+mn-lt"/>
                <a:ea typeface="+mn-ea"/>
                <a:cs typeface="+mn-cs"/>
              </a:rPr>
              <a:t>ptp_unc_dmn</a:t>
            </a:r>
            <a:r>
              <a:rPr lang="en-US" sz="1200" b="0" i="0" kern="1200" dirty="0">
                <a:solidFill>
                  <a:schemeClr val="tx1"/>
                </a:solidFill>
                <a:effectLst/>
                <a:latin typeface="+mn-lt"/>
                <a:ea typeface="+mn-ea"/>
                <a:cs typeface="+mn-cs"/>
              </a:rPr>
              <a:t>, connects to its Unix management socket and polls offset, delay, and ingress time. It collects that state and anchors it. Then it publishes a snapshot into POSIX shared memory at /</a:t>
            </a:r>
            <a:r>
              <a:rPr lang="en-US" sz="1200" b="0" i="0" kern="1200" dirty="0" err="1">
                <a:solidFill>
                  <a:schemeClr val="tx1"/>
                </a:solidFill>
                <a:effectLst/>
                <a:latin typeface="+mn-lt"/>
                <a:ea typeface="+mn-ea"/>
                <a:cs typeface="+mn-cs"/>
              </a:rPr>
              <a:t>ptp_uncertainty</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On the other side, </a:t>
            </a:r>
            <a:r>
              <a:rPr lang="en-US" sz="1200" b="0" i="0" kern="1200" dirty="0" err="1">
                <a:solidFill>
                  <a:schemeClr val="tx1"/>
                </a:solidFill>
                <a:effectLst/>
                <a:latin typeface="+mn-lt"/>
                <a:ea typeface="+mn-ea"/>
                <a:cs typeface="+mn-cs"/>
              </a:rPr>
              <a:t>libptp_unc.so</a:t>
            </a:r>
            <a:r>
              <a:rPr lang="en-US" sz="1200" b="0" i="0" kern="1200" dirty="0">
                <a:solidFill>
                  <a:schemeClr val="tx1"/>
                </a:solidFill>
                <a:effectLst/>
                <a:latin typeface="+mn-lt"/>
                <a:ea typeface="+mn-ea"/>
                <a:cs typeface="+mn-cs"/>
              </a:rPr>
              <a:t> maps that shared memory and, at </a:t>
            </a:r>
            <a:r>
              <a:rPr lang="en-US" sz="1200" b="0" i="1" kern="1200" dirty="0">
                <a:solidFill>
                  <a:schemeClr val="tx1"/>
                </a:solidFill>
                <a:effectLst/>
                <a:latin typeface="+mn-lt"/>
                <a:ea typeface="+mn-ea"/>
                <a:cs typeface="+mn-cs"/>
              </a:rPr>
              <a:t>read time</a:t>
            </a:r>
            <a:r>
              <a:rPr lang="en-US" sz="1200" b="0" i="0" kern="1200" dirty="0">
                <a:solidFill>
                  <a:schemeClr val="tx1"/>
                </a:solidFill>
                <a:effectLst/>
                <a:latin typeface="+mn-lt"/>
                <a:ea typeface="+mn-ea"/>
                <a:cs typeface="+mn-cs"/>
              </a:rPr>
              <a:t>, extrapolates the live bound. The application links the library and just asks for a number. [PAUSE]</a:t>
            </a:r>
          </a:p>
          <a:p>
            <a:r>
              <a:rPr lang="en-US" sz="1200" b="0" i="0" kern="1200" dirty="0">
                <a:solidFill>
                  <a:schemeClr val="tx1"/>
                </a:solidFill>
                <a:effectLst/>
                <a:latin typeface="+mn-lt"/>
                <a:ea typeface="+mn-ea"/>
                <a:cs typeface="+mn-cs"/>
              </a:rPr>
              <a:t>applications need </a:t>
            </a:r>
            <a:r>
              <a:rPr lang="en-US" sz="1200" b="0" i="1" kern="1200" dirty="0">
                <a:solidFill>
                  <a:schemeClr val="tx1"/>
                </a:solidFill>
                <a:effectLst/>
                <a:latin typeface="+mn-lt"/>
                <a:ea typeface="+mn-ea"/>
                <a:cs typeface="+mn-cs"/>
              </a:rPr>
              <a:t>no</a:t>
            </a:r>
            <a:r>
              <a:rPr lang="en-US" sz="1200" b="0" i="0" kern="1200" dirty="0">
                <a:solidFill>
                  <a:schemeClr val="tx1"/>
                </a:solidFill>
                <a:effectLst/>
                <a:latin typeface="+mn-lt"/>
                <a:ea typeface="+mn-ea"/>
                <a:cs typeface="+mn-cs"/>
              </a:rPr>
              <a:t> direct PTP connection and they get a </a:t>
            </a:r>
            <a:r>
              <a:rPr lang="en-US" sz="1200" b="0" i="1" kern="1200" dirty="0">
                <a:solidFill>
                  <a:schemeClr val="tx1"/>
                </a:solidFill>
                <a:effectLst/>
                <a:latin typeface="+mn-lt"/>
                <a:ea typeface="+mn-ea"/>
                <a:cs typeface="+mn-cs"/>
              </a:rPr>
              <a:t>live</a:t>
            </a:r>
            <a:r>
              <a:rPr lang="en-US" sz="1200" b="0" i="0" kern="1200" dirty="0">
                <a:solidFill>
                  <a:schemeClr val="tx1"/>
                </a:solidFill>
                <a:effectLst/>
                <a:latin typeface="+mn-lt"/>
                <a:ea typeface="+mn-ea"/>
                <a:cs typeface="+mn-cs"/>
              </a:rPr>
              <a:t> bound, extrapolated to now — not just the last stale offset snapshot.</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kern="1200" dirty="0">
                <a:solidFill>
                  <a:schemeClr val="tx1"/>
                </a:solidFill>
                <a:effectLst/>
                <a:latin typeface="+mn-lt"/>
                <a:ea typeface="+mn-ea"/>
                <a:cs typeface="+mn-cs"/>
              </a:rPr>
              <a:t>Concretely, the daemon collects offset, delay, and steps removed from CURRENT_DATA_SET; PMC message the port state and sync interval from PORT_DATA_SET; the ingress time and grandmaster ID from TIME_STATUS_NP; the PHC index from a ptp4l-custom PORT_HWCLOCK_NP.</a:t>
            </a:r>
          </a:p>
          <a:p>
            <a:r>
              <a:rPr lang="en-US" sz="1200" b="0" i="0" kern="1200" dirty="0">
                <a:solidFill>
                  <a:schemeClr val="tx1"/>
                </a:solidFill>
                <a:effectLst/>
                <a:latin typeface="+mn-lt"/>
                <a:ea typeface="+mn-ea"/>
                <a:cs typeface="+mn-cs"/>
              </a:rPr>
              <a:t>A couple of niceties: it can derive its poll interval automatically from the sync interval — polling at least twice the sync rate — and it can autodetect the PHC index. You point it at the socket and it configures itself.</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kern="1200" dirty="0">
                <a:solidFill>
                  <a:schemeClr val="tx1"/>
                </a:solidFill>
                <a:effectLst/>
                <a:latin typeface="+mn-lt"/>
                <a:ea typeface="+mn-ea"/>
                <a:cs typeface="+mn-cs"/>
              </a:rPr>
              <a:t>You open a handle. Then </a:t>
            </a:r>
            <a:r>
              <a:rPr lang="en-US" sz="1200" b="0" i="0" kern="1200" dirty="0" err="1">
                <a:solidFill>
                  <a:schemeClr val="tx1"/>
                </a:solidFill>
                <a:effectLst/>
                <a:latin typeface="+mn-lt"/>
                <a:ea typeface="+mn-ea"/>
                <a:cs typeface="+mn-cs"/>
              </a:rPr>
              <a:t>ptp_unc_get</a:t>
            </a:r>
            <a:r>
              <a:rPr lang="en-US" sz="1200" b="0" i="0" kern="1200" dirty="0">
                <a:solidFill>
                  <a:schemeClr val="tx1"/>
                </a:solidFill>
                <a:effectLst/>
                <a:latin typeface="+mn-lt"/>
                <a:ea typeface="+mn-ea"/>
                <a:cs typeface="+mn-cs"/>
              </a:rPr>
              <a:t> gives you the clock uncertainty </a:t>
            </a:r>
            <a:r>
              <a:rPr lang="en-US" sz="1200" b="0" i="1" kern="1200" dirty="0">
                <a:solidFill>
                  <a:schemeClr val="tx1"/>
                </a:solidFill>
                <a:effectLst/>
                <a:latin typeface="+mn-lt"/>
                <a:ea typeface="+mn-ea"/>
                <a:cs typeface="+mn-cs"/>
              </a:rPr>
              <a:t>at now</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And here's the important framing: what the daemon returns — </a:t>
            </a:r>
            <a:r>
              <a:rPr lang="en-US" sz="1200" b="0" i="0" kern="1200" dirty="0" err="1">
                <a:solidFill>
                  <a:schemeClr val="tx1"/>
                </a:solidFill>
                <a:effectLst/>
                <a:latin typeface="+mn-lt"/>
                <a:ea typeface="+mn-ea"/>
                <a:cs typeface="+mn-cs"/>
              </a:rPr>
              <a:t>total_uncertainty_ns</a:t>
            </a:r>
            <a:r>
              <a:rPr lang="en-US" sz="1200" b="0" i="0" kern="1200" dirty="0">
                <a:solidFill>
                  <a:schemeClr val="tx1"/>
                </a:solidFill>
                <a:effectLst/>
                <a:latin typeface="+mn-lt"/>
                <a:ea typeface="+mn-ea"/>
                <a:cs typeface="+mn-cs"/>
              </a:rPr>
              <a:t> — is </a:t>
            </a:r>
            <a:r>
              <a:rPr lang="en-US" sz="1200" b="1" i="0" kern="1200" dirty="0">
                <a:solidFill>
                  <a:schemeClr val="tx1"/>
                </a:solidFill>
                <a:effectLst/>
                <a:latin typeface="+mn-lt"/>
                <a:ea typeface="+mn-ea"/>
                <a:cs typeface="+mn-cs"/>
              </a:rPr>
              <a:t>U-clock</a:t>
            </a:r>
            <a:r>
              <a:rPr lang="en-US" sz="1200" b="0" i="0" kern="1200" dirty="0">
                <a:solidFill>
                  <a:schemeClr val="tx1"/>
                </a:solidFill>
                <a:effectLst/>
                <a:latin typeface="+mn-lt"/>
                <a:ea typeface="+mn-ea"/>
                <a:cs typeface="+mn-cs"/>
              </a:rPr>
              <a:t>, the clock-error envelope. It is </a:t>
            </a:r>
            <a:r>
              <a:rPr lang="en-US" sz="1200" b="0" i="1" kern="1200" dirty="0">
                <a:solidFill>
                  <a:schemeClr val="tx1"/>
                </a:solidFill>
                <a:effectLst/>
                <a:latin typeface="+mn-lt"/>
                <a:ea typeface="+mn-ea"/>
                <a:cs typeface="+mn-cs"/>
              </a:rPr>
              <a:t>not</a:t>
            </a:r>
            <a:r>
              <a:rPr lang="en-US" sz="1200" b="0" i="0" kern="1200" dirty="0">
                <a:solidFill>
                  <a:schemeClr val="tx1"/>
                </a:solidFill>
                <a:effectLst/>
                <a:latin typeface="+mn-lt"/>
                <a:ea typeface="+mn-ea"/>
                <a:cs typeface="+mn-cs"/>
              </a:rPr>
              <a:t> the whole story for an event. The application composes the event uncertainty itself: U-event equals U-clock plus U-capture, where U-capture is whatever the app knows about how </a:t>
            </a:r>
            <a:r>
              <a:rPr lang="en-US" sz="1200" b="0" i="1" kern="1200" dirty="0">
                <a:solidFill>
                  <a:schemeClr val="tx1"/>
                </a:solidFill>
                <a:effectLst/>
                <a:latin typeface="+mn-lt"/>
                <a:ea typeface="+mn-ea"/>
                <a:cs typeface="+mn-cs"/>
              </a:rPr>
              <a:t>it</a:t>
            </a:r>
            <a:r>
              <a:rPr lang="en-US" sz="1200" b="0" i="0" kern="1200" dirty="0">
                <a:solidFill>
                  <a:schemeClr val="tx1"/>
                </a:solidFill>
                <a:effectLst/>
                <a:latin typeface="+mn-lt"/>
                <a:ea typeface="+mn-ea"/>
                <a:cs typeface="+mn-cs"/>
              </a:rPr>
              <a:t> stamped the event — a NIC hardware timestamp, an SO_TIMESTAMPING stamp, a GPU counter converted to PHC. The daemon can't know that, so it doesn't pretend to. It gives you the clock half; you add the capture half.</a:t>
            </a:r>
          </a:p>
          <a:p>
            <a:r>
              <a:rPr lang="en-US" sz="1200" b="0" i="0" kern="1200" dirty="0">
                <a:solidFill>
                  <a:schemeClr val="tx1"/>
                </a:solidFill>
                <a:effectLst/>
                <a:latin typeface="+mn-lt"/>
                <a:ea typeface="+mn-ea"/>
                <a:cs typeface="+mn-cs"/>
              </a:rPr>
              <a:t>You also get whether you're synchronized, whether ptp4l is connected, and </a:t>
            </a:r>
            <a:r>
              <a:rPr lang="en-US" sz="1200" b="0" i="0" kern="1200" dirty="0" err="1">
                <a:solidFill>
                  <a:schemeClr val="tx1"/>
                </a:solidFill>
                <a:effectLst/>
                <a:latin typeface="+mn-lt"/>
                <a:ea typeface="+mn-ea"/>
                <a:cs typeface="+mn-cs"/>
              </a:rPr>
              <a:t>age_ns</a:t>
            </a:r>
            <a:r>
              <a:rPr lang="en-US" sz="1200" b="0" i="0" kern="1200" dirty="0">
                <a:solidFill>
                  <a:schemeClr val="tx1"/>
                </a:solidFill>
                <a:effectLst/>
                <a:latin typeface="+mn-lt"/>
                <a:ea typeface="+mn-ea"/>
                <a:cs typeface="+mn-cs"/>
              </a:rPr>
              <a:t>. [PAUSE] One clarification: </a:t>
            </a:r>
            <a:r>
              <a:rPr lang="en-US" sz="1200" b="0" i="0" kern="1200" dirty="0" err="1">
                <a:solidFill>
                  <a:schemeClr val="tx1"/>
                </a:solidFill>
                <a:effectLst/>
                <a:latin typeface="+mn-lt"/>
                <a:ea typeface="+mn-ea"/>
                <a:cs typeface="+mn-cs"/>
              </a:rPr>
              <a:t>age_ns</a:t>
            </a:r>
            <a:r>
              <a:rPr lang="en-US" sz="1200" b="0" i="0" kern="1200" dirty="0">
                <a:solidFill>
                  <a:schemeClr val="tx1"/>
                </a:solidFill>
                <a:effectLst/>
                <a:latin typeface="+mn-lt"/>
                <a:ea typeface="+mn-ea"/>
                <a:cs typeface="+mn-cs"/>
              </a:rPr>
              <a:t> is the freshness of the </a:t>
            </a:r>
            <a:r>
              <a:rPr lang="en-US" sz="1200" b="0" i="1" kern="1200" dirty="0">
                <a:solidFill>
                  <a:schemeClr val="tx1"/>
                </a:solidFill>
                <a:effectLst/>
                <a:latin typeface="+mn-lt"/>
                <a:ea typeface="+mn-ea"/>
                <a:cs typeface="+mn-cs"/>
              </a:rPr>
              <a:t>daemon's snapshot</a:t>
            </a:r>
            <a:r>
              <a:rPr lang="en-US" sz="1200" b="0" i="0" kern="1200" dirty="0">
                <a:solidFill>
                  <a:schemeClr val="tx1"/>
                </a:solidFill>
                <a:effectLst/>
                <a:latin typeface="+mn-lt"/>
                <a:ea typeface="+mn-ea"/>
                <a:cs typeface="+mn-cs"/>
              </a:rPr>
              <a:t> — how long since it last updated shared memory to make sure the daemon is still running.</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kern="1200" dirty="0">
                <a:solidFill>
                  <a:schemeClr val="tx1"/>
                </a:solidFill>
                <a:effectLst/>
                <a:latin typeface="+mn-lt"/>
                <a:ea typeface="+mn-ea"/>
                <a:cs typeface="+mn-cs"/>
              </a:rPr>
              <a:t>And this slide is really the whole thesis in code.</a:t>
            </a:r>
          </a:p>
          <a:p>
            <a:r>
              <a:rPr lang="en-US" sz="1200" b="0" i="0" kern="1200" dirty="0">
                <a:solidFill>
                  <a:schemeClr val="tx1"/>
                </a:solidFill>
                <a:effectLst/>
                <a:latin typeface="+mn-lt"/>
                <a:ea typeface="+mn-ea"/>
                <a:cs typeface="+mn-cs"/>
              </a:rPr>
              <a:t>When ptp4l restarts or drops, the daemon preserves the last valid anchor, sets ptp4l_connected to zero, and lets the drift keep growing from that held anchor. It does not pretend that nothing happened, and it does not blank out.</a:t>
            </a:r>
          </a:p>
          <a:p>
            <a:r>
              <a:rPr lang="en-US" sz="1200" b="0" i="0" kern="1200" dirty="0">
                <a:solidFill>
                  <a:schemeClr val="tx1"/>
                </a:solidFill>
                <a:effectLst/>
                <a:latin typeface="+mn-lt"/>
                <a:ea typeface="+mn-ea"/>
                <a:cs typeface="+mn-cs"/>
              </a:rPr>
              <a:t>So your application can write exactly this: if we're not connected to ptp4l, </a:t>
            </a:r>
            <a:r>
              <a:rPr lang="en-US" sz="1200" b="0" i="1" kern="1200" dirty="0">
                <a:solidFill>
                  <a:schemeClr val="tx1"/>
                </a:solidFill>
                <a:effectLst/>
                <a:latin typeface="+mn-lt"/>
                <a:ea typeface="+mn-ea"/>
                <a:cs typeface="+mn-cs"/>
              </a:rPr>
              <a:t>or</a:t>
            </a:r>
            <a:r>
              <a:rPr lang="en-US" sz="1200" b="0" i="0" kern="1200" dirty="0">
                <a:solidFill>
                  <a:schemeClr val="tx1"/>
                </a:solidFill>
                <a:effectLst/>
                <a:latin typeface="+mn-lt"/>
                <a:ea typeface="+mn-ea"/>
                <a:cs typeface="+mn-cs"/>
              </a:rPr>
              <a:t> the total uncertainty has exceeded our threshold — mark the event ordering as untrusted. [PAUSE]</a:t>
            </a:r>
          </a:p>
          <a:p>
            <a:r>
              <a:rPr lang="en-US" sz="1200" b="0" i="0" kern="1200" dirty="0">
                <a:solidFill>
                  <a:schemeClr val="tx1"/>
                </a:solidFill>
                <a:effectLst/>
                <a:latin typeface="+mn-lt"/>
                <a:ea typeface="+mn-ea"/>
                <a:cs typeface="+mn-cs"/>
              </a:rPr>
              <a:t>That is what my abstract means by "evaluate temporal correctness </a:t>
            </a:r>
            <a:r>
              <a:rPr lang="en-US" sz="1200" b="0" i="1" kern="1200" dirty="0">
                <a:solidFill>
                  <a:schemeClr val="tx1"/>
                </a:solidFill>
                <a:effectLst/>
                <a:latin typeface="+mn-lt"/>
                <a:ea typeface="+mn-ea"/>
                <a:cs typeface="+mn-cs"/>
              </a:rPr>
              <a:t>explicitly</a:t>
            </a:r>
            <a:r>
              <a:rPr lang="en-US" sz="1200" b="0" i="0" kern="1200" dirty="0">
                <a:solidFill>
                  <a:schemeClr val="tx1"/>
                </a:solidFill>
                <a:effectLst/>
                <a:latin typeface="+mn-lt"/>
                <a:ea typeface="+mn-ea"/>
                <a:cs typeface="+mn-cs"/>
              </a:rPr>
              <a:t>." It's three lines. The application, not the clock, decides what "trustworthy enough" means for its own job — and the daemon's only responsibility is to keep the bound honest.</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kern="1200" dirty="0">
                <a:solidFill>
                  <a:schemeClr val="tx1"/>
                </a:solidFill>
                <a:effectLst/>
                <a:latin typeface="+mn-lt"/>
                <a:ea typeface="+mn-ea"/>
                <a:cs typeface="+mn-cs"/>
              </a:rPr>
              <a:t>And before I show you my own numbers, I want to prove this isn't a fringe idea.</a:t>
            </a:r>
          </a:p>
          <a:p>
            <a:r>
              <a:rPr lang="en-US" sz="1200" b="0" i="0" kern="1200" dirty="0">
                <a:solidFill>
                  <a:schemeClr val="tx1"/>
                </a:solidFill>
                <a:effectLst/>
                <a:latin typeface="+mn-lt"/>
                <a:ea typeface="+mn-ea"/>
                <a:cs typeface="+mn-cs"/>
              </a:rPr>
              <a:t>Meta deployed exactly this model to a fleet of PTP clients. Their API is called </a:t>
            </a:r>
            <a:r>
              <a:rPr lang="en-US" sz="1200" b="0" i="0" kern="1200" dirty="0" err="1">
                <a:solidFill>
                  <a:schemeClr val="tx1"/>
                </a:solidFill>
                <a:effectLst/>
                <a:latin typeface="+mn-lt"/>
                <a:ea typeface="+mn-ea"/>
                <a:cs typeface="+mn-cs"/>
              </a:rPr>
              <a:t>fbclock</a:t>
            </a:r>
            <a:r>
              <a:rPr lang="en-US" sz="1200" b="0" i="0" kern="1200" dirty="0">
                <a:solidFill>
                  <a:schemeClr val="tx1"/>
                </a:solidFill>
                <a:effectLst/>
                <a:latin typeface="+mn-lt"/>
                <a:ea typeface="+mn-ea"/>
                <a:cs typeface="+mn-cs"/>
              </a:rPr>
              <a:t>, and it does not return a timestamp — it returns a </a:t>
            </a:r>
            <a:r>
              <a:rPr lang="en-US" sz="1200" b="0" i="1" kern="1200" dirty="0">
                <a:solidFill>
                  <a:schemeClr val="tx1"/>
                </a:solidFill>
                <a:effectLst/>
                <a:latin typeface="+mn-lt"/>
                <a:ea typeface="+mn-ea"/>
                <a:cs typeface="+mn-cs"/>
              </a:rPr>
              <a:t>Window of Uncertainty</a:t>
            </a:r>
            <a:r>
              <a:rPr lang="en-US" sz="1200" b="0" i="0" kern="1200" dirty="0">
                <a:solidFill>
                  <a:schemeClr val="tx1"/>
                </a:solidFill>
                <a:effectLst/>
                <a:latin typeface="+mn-lt"/>
                <a:ea typeface="+mn-ea"/>
                <a:cs typeface="+mn-cs"/>
              </a:rPr>
              <a:t>: an earliest and a latest. The same interval we've been building all talk. [PAUSE]</a:t>
            </a:r>
          </a:p>
          <a:p>
            <a:r>
              <a:rPr lang="en-US" sz="1200" b="0" i="0" kern="1200" dirty="0">
                <a:solidFill>
                  <a:schemeClr val="tx1"/>
                </a:solidFill>
                <a:effectLst/>
                <a:latin typeface="+mn-lt"/>
                <a:ea typeface="+mn-ea"/>
                <a:cs typeface="+mn-cs"/>
              </a:rPr>
              <a:t>Two honest differences, and they're the interesting part. First, the </a:t>
            </a:r>
            <a:r>
              <a:rPr lang="en-US" sz="1200" b="0" i="1" kern="1200" dirty="0">
                <a:solidFill>
                  <a:schemeClr val="tx1"/>
                </a:solidFill>
                <a:effectLst/>
                <a:latin typeface="+mn-lt"/>
                <a:ea typeface="+mn-ea"/>
                <a:cs typeface="+mn-cs"/>
              </a:rPr>
              <a:t>bound</a:t>
            </a:r>
            <a:r>
              <a:rPr lang="en-US" sz="1200" b="0" i="0" kern="1200" dirty="0">
                <a:solidFill>
                  <a:schemeClr val="tx1"/>
                </a:solidFill>
                <a:effectLst/>
                <a:latin typeface="+mn-lt"/>
                <a:ea typeface="+mn-ea"/>
                <a:cs typeface="+mn-cs"/>
              </a:rPr>
              <a:t>: Meta computes a statistical, sigma-based window and targets six-nines certainty; I default to a conservative worst-case bound. Both are defensible — two points on the same spectrum. Second, </a:t>
            </a:r>
            <a:r>
              <a:rPr lang="en-US" sz="1200" b="0" i="1" kern="1200" dirty="0">
                <a:solidFill>
                  <a:schemeClr val="tx1"/>
                </a:solidFill>
                <a:effectLst/>
                <a:latin typeface="+mn-lt"/>
                <a:ea typeface="+mn-ea"/>
                <a:cs typeface="+mn-cs"/>
              </a:rPr>
              <a:t>holdover</a:t>
            </a:r>
            <a:r>
              <a:rPr lang="en-US" sz="1200" b="0" i="0" kern="1200" dirty="0">
                <a:solidFill>
                  <a:schemeClr val="tx1"/>
                </a:solidFill>
                <a:effectLst/>
                <a:latin typeface="+mn-lt"/>
                <a:ea typeface="+mn-ea"/>
                <a:cs typeface="+mn-cs"/>
              </a:rPr>
              <a:t>: Meta estimates the drift rate empirically, from the recent history of the clock's frequency adjustments, and I use a single configured drift bound. [PAUSE]</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Part six. And let me be scrupulously honest about what these next plots are, because it would be easy to oversell them. I am </a:t>
            </a:r>
            <a:r>
              <a:rPr lang="en-US" sz="1200" b="1" i="0" kern="1200" dirty="0">
                <a:solidFill>
                  <a:schemeClr val="tx1"/>
                </a:solidFill>
                <a:effectLst/>
                <a:latin typeface="+mn-lt"/>
                <a:ea typeface="+mn-ea"/>
                <a:cs typeface="+mn-cs"/>
              </a:rPr>
              <a:t>not</a:t>
            </a:r>
            <a:r>
              <a:rPr lang="en-US" sz="1200" b="0" i="0" kern="1200" dirty="0">
                <a:solidFill>
                  <a:schemeClr val="tx1"/>
                </a:solidFill>
                <a:effectLst/>
                <a:latin typeface="+mn-lt"/>
                <a:ea typeface="+mn-ea"/>
                <a:cs typeface="+mn-cs"/>
              </a:rPr>
              <a:t> putting four different oscillators on the bench. It's the same host, the same ptp4l, the same network. The only thing I change between runs is the daemon's configured drift bound, D-max — one model parameter. So what you're about to see is the </a:t>
            </a:r>
            <a:r>
              <a:rPr lang="en-US" sz="1200" b="0" i="1" kern="1200" dirty="0">
                <a:solidFill>
                  <a:schemeClr val="tx1"/>
                </a:solidFill>
                <a:effectLst/>
                <a:latin typeface="+mn-lt"/>
                <a:ea typeface="+mn-ea"/>
                <a:cs typeface="+mn-cs"/>
              </a:rPr>
              <a:t>model's</a:t>
            </a:r>
            <a:r>
              <a:rPr lang="en-US" sz="1200" b="0" i="0" kern="1200" dirty="0">
                <a:solidFill>
                  <a:schemeClr val="tx1"/>
                </a:solidFill>
                <a:effectLst/>
                <a:latin typeface="+mn-lt"/>
                <a:ea typeface="+mn-ea"/>
                <a:cs typeface="+mn-cs"/>
              </a:rPr>
              <a:t> output under four oscillator </a:t>
            </a:r>
            <a:r>
              <a:rPr lang="en-US" sz="1200" b="0" i="1" kern="1200" dirty="0">
                <a:solidFill>
                  <a:schemeClr val="tx1"/>
                </a:solidFill>
                <a:effectLst/>
                <a:latin typeface="+mn-lt"/>
                <a:ea typeface="+mn-ea"/>
                <a:cs typeface="+mn-cs"/>
              </a:rPr>
              <a:t>assumptions</a:t>
            </a:r>
            <a:r>
              <a:rPr lang="en-US" sz="1200" b="0" i="0" kern="1200" dirty="0">
                <a:solidFill>
                  <a:schemeClr val="tx1"/>
                </a:solidFill>
                <a:effectLst/>
                <a:latin typeface="+mn-lt"/>
                <a:ea typeface="+mn-ea"/>
                <a:cs typeface="+mn-cs"/>
              </a:rPr>
              <a:t>, not four measured crystals. </a:t>
            </a:r>
            <a:endParaRPr lang="en-US" dirty="0"/>
          </a:p>
        </p:txBody>
      </p:sp>
      <p:sp>
        <p:nvSpPr>
          <p:cNvPr id="4" name="Slide Number Placeholder 3"/>
          <p:cNvSpPr>
            <a:spLocks noGrp="1"/>
          </p:cNvSpPr>
          <p:nvPr>
            <p:ph type="sldNum" sz="quarter" idx="5"/>
          </p:nvPr>
        </p:nvSpPr>
        <p:spPr/>
        <p:txBody>
          <a:bodyPr/>
          <a:lstStyle/>
          <a:p>
            <a:fld id="{083EC2DE-F468-9749-BC91-10A9478E15E2}" type="slidenum">
              <a:rPr lang="en-US" smtClean="0"/>
              <a:t>29</a:t>
            </a:fld>
            <a:endParaRPr lang="en-US"/>
          </a:p>
        </p:txBody>
      </p:sp>
    </p:spTree>
    <p:extLst>
      <p:ext uri="{BB962C8B-B14F-4D97-AF65-F5344CB8AC3E}">
        <p14:creationId xmlns:p14="http://schemas.microsoft.com/office/powerpoint/2010/main" val="32557481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kern="1200" dirty="0">
                <a:solidFill>
                  <a:schemeClr val="tx1"/>
                </a:solidFill>
                <a:effectLst/>
                <a:latin typeface="+mn-lt"/>
                <a:ea typeface="+mn-ea"/>
                <a:cs typeface="+mn-cs"/>
              </a:rPr>
              <a:t>Here it is. That dashed line near the axis is the residual offset floor — tens of nanoseconds — what's left after the estimated path delay is compensated. [PAUSE]</a:t>
            </a:r>
          </a:p>
          <a:p>
            <a:r>
              <a:rPr lang="en-US" sz="1200" b="0" i="0" kern="1200" dirty="0">
                <a:solidFill>
                  <a:schemeClr val="tx1"/>
                </a:solidFill>
                <a:effectLst/>
                <a:latin typeface="+mn-lt"/>
                <a:ea typeface="+mn-ea"/>
                <a:cs typeface="+mn-cs"/>
              </a:rPr>
              <a:t>Now watch the blue line. Every second a sync arrives and the </a:t>
            </a:r>
            <a:r>
              <a:rPr lang="en-US" sz="1200" b="0" i="1" kern="1200" dirty="0">
                <a:solidFill>
                  <a:schemeClr val="tx1"/>
                </a:solidFill>
                <a:effectLst/>
                <a:latin typeface="+mn-lt"/>
                <a:ea typeface="+mn-ea"/>
                <a:cs typeface="+mn-cs"/>
              </a:rPr>
              <a:t>bound</a:t>
            </a:r>
            <a:r>
              <a:rPr lang="en-US" sz="1200" b="0" i="0" kern="1200" dirty="0">
                <a:solidFill>
                  <a:schemeClr val="tx1"/>
                </a:solidFill>
                <a:effectLst/>
                <a:latin typeface="+mn-lt"/>
                <a:ea typeface="+mn-ea"/>
                <a:cs typeface="+mn-cs"/>
              </a:rPr>
              <a:t> snaps back down. Then it climbs again. And I want to be precise about what that climb is: it is the uncertainty </a:t>
            </a:r>
            <a:r>
              <a:rPr lang="en-US" sz="1200" b="1" i="0" kern="1200" dirty="0">
                <a:solidFill>
                  <a:schemeClr val="tx1"/>
                </a:solidFill>
                <a:effectLst/>
                <a:latin typeface="+mn-lt"/>
                <a:ea typeface="+mn-ea"/>
                <a:cs typeface="+mn-cs"/>
              </a:rPr>
              <a:t>attributed to potential drift</a:t>
            </a:r>
            <a:r>
              <a:rPr lang="en-US" sz="1200" b="0" i="0" kern="1200" dirty="0">
                <a:solidFill>
                  <a:schemeClr val="tx1"/>
                </a:solidFill>
                <a:effectLst/>
                <a:latin typeface="+mn-lt"/>
                <a:ea typeface="+mn-ea"/>
                <a:cs typeface="+mn-cs"/>
              </a:rPr>
              <a:t> — age times D-max. It is </a:t>
            </a:r>
            <a:r>
              <a:rPr lang="en-US" sz="1200" b="0" i="1" kern="1200" dirty="0">
                <a:solidFill>
                  <a:schemeClr val="tx1"/>
                </a:solidFill>
                <a:effectLst/>
                <a:latin typeface="+mn-lt"/>
                <a:ea typeface="+mn-ea"/>
                <a:cs typeface="+mn-cs"/>
              </a:rPr>
              <a:t>not</a:t>
            </a:r>
            <a:r>
              <a:rPr lang="en-US" sz="1200" b="0" i="0" kern="1200" dirty="0">
                <a:solidFill>
                  <a:schemeClr val="tx1"/>
                </a:solidFill>
                <a:effectLst/>
                <a:latin typeface="+mn-lt"/>
                <a:ea typeface="+mn-ea"/>
                <a:cs typeface="+mn-cs"/>
              </a:rPr>
              <a:t> a measurement of the clock physically drifting; the PHC is disciplined, its frequency correction is still programmed. The plot demonstrates the </a:t>
            </a:r>
            <a:r>
              <a:rPr lang="en-US" sz="1200" b="0" i="1" kern="1200" dirty="0">
                <a:solidFill>
                  <a:schemeClr val="tx1"/>
                </a:solidFill>
                <a:effectLst/>
                <a:latin typeface="+mn-lt"/>
                <a:ea typeface="+mn-ea"/>
                <a:cs typeface="+mn-cs"/>
              </a:rPr>
              <a:t>growth of the bound</a:t>
            </a:r>
            <a:r>
              <a:rPr lang="en-US" sz="1200" b="0" i="0" kern="1200" dirty="0">
                <a:solidFill>
                  <a:schemeClr val="tx1"/>
                </a:solidFill>
                <a:effectLst/>
                <a:latin typeface="+mn-lt"/>
                <a:ea typeface="+mn-ea"/>
                <a:cs typeface="+mn-cs"/>
              </a:rPr>
              <a:t>, not observed oscillator drift. Climb, reset, climb, reset. [PAUSE]</a:t>
            </a:r>
          </a:p>
          <a:p>
            <a:r>
              <a:rPr lang="en-US" sz="1200" b="0" i="0" kern="1200" dirty="0">
                <a:solidFill>
                  <a:schemeClr val="tx1"/>
                </a:solidFill>
                <a:effectLst/>
                <a:latin typeface="+mn-lt"/>
                <a:ea typeface="+mn-ea"/>
                <a:cs typeface="+mn-cs"/>
              </a:rPr>
              <a:t>That sawtooth is the staleness term from slide eighteen, made visible. The envelope is widest right before the next sync — and most tools would only show you the offset, which down here looks like nothing.</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kern="1200" dirty="0">
                <a:solidFill>
                  <a:schemeClr val="tx1"/>
                </a:solidFill>
                <a:effectLst/>
                <a:latin typeface="+mn-lt"/>
                <a:ea typeface="+mn-ea"/>
                <a:cs typeface="+mn-cs"/>
              </a:rPr>
              <a:t>Now the same run, four times — one per configured drift bound — on a log scale, because the spread is enormous.</a:t>
            </a:r>
          </a:p>
          <a:p>
            <a:r>
              <a:rPr lang="en-US" sz="1200" b="0" i="0" kern="1200" dirty="0">
                <a:solidFill>
                  <a:schemeClr val="tx1"/>
                </a:solidFill>
                <a:effectLst/>
                <a:latin typeface="+mn-lt"/>
                <a:ea typeface="+mn-ea"/>
                <a:cs typeface="+mn-cs"/>
              </a:rPr>
              <a:t>Every line rides on the same residual offset floor, tens of nanoseconds, because the estimated path delay is compensated. Same PTP state, same host. The only thing that differs is the assumed D-max: an OCXO assumption at 100 parts per billion, a TCXO at 1 ppm, a quality crystal at 10 ppm, and a basic crystal at 100 ppm. [PAUSE]</a:t>
            </a:r>
          </a:p>
          <a:p>
            <a:r>
              <a:rPr lang="en-US" sz="1200" b="0" i="0" kern="1200" dirty="0">
                <a:solidFill>
                  <a:schemeClr val="tx1"/>
                </a:solidFill>
                <a:effectLst/>
                <a:latin typeface="+mn-lt"/>
                <a:ea typeface="+mn-ea"/>
                <a:cs typeface="+mn-cs"/>
              </a:rPr>
              <a:t>Look at the separation. The tight bound barely leaves the floor; the loose bound swings up past 100 microseconds between syncs. Same protocol, same second. The envelope is set by the </a:t>
            </a:r>
            <a:r>
              <a:rPr lang="en-US" sz="1200" b="0" i="1" kern="1200" dirty="0">
                <a:solidFill>
                  <a:schemeClr val="tx1"/>
                </a:solidFill>
                <a:effectLst/>
                <a:latin typeface="+mn-lt"/>
                <a:ea typeface="+mn-ea"/>
                <a:cs typeface="+mn-cs"/>
              </a:rPr>
              <a:t>configured bound modeling different oscillators</a:t>
            </a:r>
            <a:r>
              <a:rPr lang="en-US" sz="1200" b="0" i="0" kern="1200" dirty="0">
                <a:solidFill>
                  <a:schemeClr val="tx1"/>
                </a:solidFill>
                <a:effectLst/>
                <a:latin typeface="+mn-lt"/>
                <a:ea typeface="+mn-ea"/>
                <a:cs typeface="+mn-cs"/>
              </a:rPr>
              <a:t> — the assumption you feed the model — not by anything PTP measured.</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kern="1200" dirty="0">
                <a:solidFill>
                  <a:schemeClr val="tx1"/>
                </a:solidFill>
                <a:effectLst/>
                <a:latin typeface="+mn-lt"/>
                <a:ea typeface="+mn-ea"/>
                <a:cs typeface="+mn-cs"/>
              </a:rPr>
              <a:t>One more view — the worst-case moment for each assumption, split into its two parts: the residual offset estimate in gray, and the attributed drift in color.</a:t>
            </a:r>
          </a:p>
          <a:p>
            <a:r>
              <a:rPr lang="en-US" sz="1200" b="0" i="0" kern="1200" dirty="0">
                <a:solidFill>
                  <a:schemeClr val="tx1"/>
                </a:solidFill>
                <a:effectLst/>
                <a:latin typeface="+mn-lt"/>
                <a:ea typeface="+mn-ea"/>
                <a:cs typeface="+mn-cs"/>
              </a:rPr>
              <a:t>For the tight bound, the residual offset and the attributed drift are comparable — the whole envelope is a few hundred nanoseconds. Loosen the bound and the drift term takes over: ninety-nine percent, then essentially all of it. [PAUSE]</a:t>
            </a:r>
          </a:p>
          <a:p>
            <a:r>
              <a:rPr lang="en-US" sz="1200" b="0" i="0" kern="1200" dirty="0">
                <a:solidFill>
                  <a:schemeClr val="tx1"/>
                </a:solidFill>
                <a:effectLst/>
                <a:latin typeface="+mn-lt"/>
                <a:ea typeface="+mn-ea"/>
                <a:cs typeface="+mn-cs"/>
              </a:rPr>
              <a:t>Same network, same daemon, same model — and the peak envelope runs from about a third of a microsecond to a hundred and twenty microseconds, decided by the configured drift bound alone. That's the point, and I'll state it carefully: the </a:t>
            </a:r>
            <a:r>
              <a:rPr lang="en-US" sz="1200" b="0" i="1" kern="1200" dirty="0">
                <a:solidFill>
                  <a:schemeClr val="tx1"/>
                </a:solidFill>
                <a:effectLst/>
                <a:latin typeface="+mn-lt"/>
                <a:ea typeface="+mn-ea"/>
                <a:cs typeface="+mn-cs"/>
              </a:rPr>
              <a:t>assumed</a:t>
            </a:r>
            <a:r>
              <a:rPr lang="en-US" sz="1200" b="0" i="0" kern="1200" dirty="0">
                <a:solidFill>
                  <a:schemeClr val="tx1"/>
                </a:solidFill>
                <a:effectLst/>
                <a:latin typeface="+mn-lt"/>
                <a:ea typeface="+mn-ea"/>
                <a:cs typeface="+mn-cs"/>
              </a:rPr>
              <a:t> residual-frequency bound, not measured holdover, is what dominates between syncs. Which is exactly why that bound needs to be a first-class, explicitly-configured input — and why the kernel not exposing a coherent clock-state to hang it on is the real gap. Hold that for the last section.</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69EF0-2641-31D0-E7FD-31DA9FF9C1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622A0F-AF98-DA1F-ADC5-B945F2563FF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237990C-2C9B-CE83-EC07-35B603BD8C7D}"/>
              </a:ext>
            </a:extLst>
          </p:cNvPr>
          <p:cNvSpPr>
            <a:spLocks noGrp="1"/>
          </p:cNvSpPr>
          <p:nvPr>
            <p:ph type="body" sz="quarter" idx="3"/>
          </p:nvPr>
        </p:nvSpPr>
        <p:spPr/>
        <p:txBody>
          <a:bodyPr/>
          <a:lstStyle/>
          <a:p>
            <a:r>
              <a:rPr lang="en-US" sz="1200" b="0" i="0" kern="1200" dirty="0">
                <a:solidFill>
                  <a:schemeClr val="tx1"/>
                </a:solidFill>
                <a:effectLst/>
                <a:latin typeface="+mn-lt"/>
                <a:ea typeface="+mn-ea"/>
                <a:cs typeface="+mn-cs"/>
              </a:rPr>
              <a:t>One more view — the worst-case moment for each assumption, split into its two parts: the residual offset estimate in gray, and the attributed drift in color.</a:t>
            </a:r>
          </a:p>
          <a:p>
            <a:r>
              <a:rPr lang="en-US" sz="1200" b="0" i="0" kern="1200" dirty="0">
                <a:solidFill>
                  <a:schemeClr val="tx1"/>
                </a:solidFill>
                <a:effectLst/>
                <a:latin typeface="+mn-lt"/>
                <a:ea typeface="+mn-ea"/>
                <a:cs typeface="+mn-cs"/>
              </a:rPr>
              <a:t>For the tight bound, the residual offset and the attributed drift are comparable — the whole envelope is a few hundred nanoseconds. Loosen the bound and the drift term takes over: ninety-nine percent, then essentially all of it. [PAUSE]</a:t>
            </a:r>
          </a:p>
          <a:p>
            <a:r>
              <a:rPr lang="en-US" sz="1200" b="0" i="0" kern="1200" dirty="0">
                <a:solidFill>
                  <a:schemeClr val="tx1"/>
                </a:solidFill>
                <a:effectLst/>
                <a:latin typeface="+mn-lt"/>
                <a:ea typeface="+mn-ea"/>
                <a:cs typeface="+mn-cs"/>
              </a:rPr>
              <a:t>Same network, same daemon, same model — and the peak envelope runs from about a third of a microsecond to a hundred and twenty microseconds, decided by the configured drift bound alone. That's the point, and I'll state it carefully: the </a:t>
            </a:r>
            <a:r>
              <a:rPr lang="en-US" sz="1200" b="0" i="1" kern="1200" dirty="0">
                <a:solidFill>
                  <a:schemeClr val="tx1"/>
                </a:solidFill>
                <a:effectLst/>
                <a:latin typeface="+mn-lt"/>
                <a:ea typeface="+mn-ea"/>
                <a:cs typeface="+mn-cs"/>
              </a:rPr>
              <a:t>assumed</a:t>
            </a:r>
            <a:r>
              <a:rPr lang="en-US" sz="1200" b="0" i="0" kern="1200" dirty="0">
                <a:solidFill>
                  <a:schemeClr val="tx1"/>
                </a:solidFill>
                <a:effectLst/>
                <a:latin typeface="+mn-lt"/>
                <a:ea typeface="+mn-ea"/>
                <a:cs typeface="+mn-cs"/>
              </a:rPr>
              <a:t> residual-frequency bound, not measured holdover, is what dominates between syncs. Which is exactly why that bound needs to be a first-class, explicitly-configured input — and why the kernel not exposing a coherent clock-state to hang it on is the real gap. Hold that for the last section.</a:t>
            </a:r>
          </a:p>
        </p:txBody>
      </p:sp>
      <p:sp>
        <p:nvSpPr>
          <p:cNvPr id="4" name="Slide Number Placeholder 3">
            <a:extLst>
              <a:ext uri="{FF2B5EF4-FFF2-40B4-BE49-F238E27FC236}">
                <a16:creationId xmlns:a16="http://schemas.microsoft.com/office/drawing/2014/main" id="{80E26380-62B7-12A3-6D65-A68A1B30136A}"/>
              </a:ext>
            </a:extLst>
          </p:cNvPr>
          <p:cNvSpPr>
            <a:spLocks noGrp="1"/>
          </p:cNvSpPr>
          <p:nvPr>
            <p:ph type="sldNum" sz="quarter" idx="5"/>
          </p:nvPr>
        </p:nvSpPr>
        <p:spPr/>
      </p:sp>
    </p:spTree>
    <p:extLst>
      <p:ext uri="{BB962C8B-B14F-4D97-AF65-F5344CB8AC3E}">
        <p14:creationId xmlns:p14="http://schemas.microsoft.com/office/powerpoint/2010/main" val="13436813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kern="1200" dirty="0">
                <a:solidFill>
                  <a:schemeClr val="tx1"/>
                </a:solidFill>
                <a:effectLst/>
                <a:latin typeface="+mn-lt"/>
                <a:ea typeface="+mn-ea"/>
                <a:cs typeface="+mn-cs"/>
              </a:rPr>
              <a:t>Here's the bridge, and it's the second line I want you to remember.</a:t>
            </a:r>
          </a:p>
          <a:p>
            <a:r>
              <a:rPr lang="en-US" sz="1200" b="0" i="0" kern="1200" dirty="0">
                <a:solidFill>
                  <a:schemeClr val="tx1"/>
                </a:solidFill>
                <a:effectLst/>
                <a:latin typeface="+mn-lt"/>
                <a:ea typeface="+mn-ea"/>
                <a:cs typeface="+mn-cs"/>
              </a:rPr>
              <a:t>Last year's talk made reading the clock </a:t>
            </a:r>
            <a:r>
              <a:rPr lang="en-US" sz="1200" b="0" i="1" kern="1200" dirty="0">
                <a:solidFill>
                  <a:schemeClr val="tx1"/>
                </a:solidFill>
                <a:effectLst/>
                <a:latin typeface="+mn-lt"/>
                <a:ea typeface="+mn-ea"/>
                <a:cs typeface="+mn-cs"/>
              </a:rPr>
              <a:t>fast</a:t>
            </a:r>
            <a:r>
              <a:rPr lang="en-US" sz="1200" b="0" i="0" kern="1200" dirty="0">
                <a:solidFill>
                  <a:schemeClr val="tx1"/>
                </a:solidFill>
                <a:effectLst/>
                <a:latin typeface="+mn-lt"/>
                <a:ea typeface="+mn-ea"/>
                <a:cs typeface="+mn-cs"/>
              </a:rPr>
              <a:t> — the Hermóðr approximation gets you the device time in tens of nanoseconds instead of microseconds, without the </a:t>
            </a:r>
            <a:r>
              <a:rPr lang="en-US" sz="1200" b="0" i="0" kern="1200" dirty="0" err="1">
                <a:solidFill>
                  <a:schemeClr val="tx1"/>
                </a:solidFill>
                <a:effectLst/>
                <a:latin typeface="+mn-lt"/>
                <a:ea typeface="+mn-ea"/>
                <a:cs typeface="+mn-cs"/>
              </a:rPr>
              <a:t>syscall</a:t>
            </a:r>
            <a:r>
              <a:rPr lang="en-US" sz="1200" b="0" i="0" kern="1200" dirty="0">
                <a:solidFill>
                  <a:schemeClr val="tx1"/>
                </a:solidFill>
                <a:effectLst/>
                <a:latin typeface="+mn-lt"/>
                <a:ea typeface="+mn-ea"/>
                <a:cs typeface="+mn-cs"/>
              </a:rPr>
              <a:t> and PCIe overhead. </a:t>
            </a:r>
          </a:p>
          <a:p>
            <a:r>
              <a:rPr lang="en-US" sz="1200" b="0" i="0" kern="1200" dirty="0">
                <a:solidFill>
                  <a:schemeClr val="tx1"/>
                </a:solidFill>
                <a:effectLst/>
                <a:latin typeface="+mn-lt"/>
                <a:ea typeface="+mn-ea"/>
                <a:cs typeface="+mn-cs"/>
              </a:rPr>
              <a:t>What this talk adds is the other half: </a:t>
            </a:r>
            <a:r>
              <a:rPr lang="en-US" sz="1200" b="1" i="0" kern="1200" dirty="0">
                <a:solidFill>
                  <a:schemeClr val="tx1"/>
                </a:solidFill>
                <a:effectLst/>
                <a:latin typeface="+mn-lt"/>
                <a:ea typeface="+mn-ea"/>
                <a:cs typeface="+mn-cs"/>
              </a:rPr>
              <a:t>it puts an error bar on that time.</a:t>
            </a:r>
            <a:r>
              <a:rPr lang="en-US" sz="1200" b="0" i="0" kern="1200" dirty="0">
                <a:solidFill>
                  <a:schemeClr val="tx1"/>
                </a:solidFill>
                <a:effectLst/>
                <a:latin typeface="+mn-lt"/>
                <a:ea typeface="+mn-ea"/>
                <a:cs typeface="+mn-cs"/>
              </a:rPr>
              <a:t> [PAUSE]</a:t>
            </a:r>
          </a:p>
          <a:p>
            <a:r>
              <a:rPr lang="en-US" sz="1200" b="0" i="0" kern="1200" dirty="0">
                <a:solidFill>
                  <a:schemeClr val="tx1"/>
                </a:solidFill>
                <a:effectLst/>
                <a:latin typeface="+mn-lt"/>
                <a:ea typeface="+mn-ea"/>
                <a:cs typeface="+mn-cs"/>
              </a:rPr>
              <a:t>Fast access gives you the time cheaply. Uncertainty tells you how far to trust it. A timestamp you can read cheaply </a:t>
            </a:r>
            <a:r>
              <a:rPr lang="en-US" sz="1200" b="0" i="1" kern="1200" dirty="0">
                <a:solidFill>
                  <a:schemeClr val="tx1"/>
                </a:solidFill>
                <a:effectLst/>
                <a:latin typeface="+mn-lt"/>
                <a:ea typeface="+mn-ea"/>
                <a:cs typeface="+mn-cs"/>
              </a:rPr>
              <a:t>and</a:t>
            </a:r>
            <a:r>
              <a:rPr lang="en-US" sz="1200" b="0" i="0" kern="1200" dirty="0">
                <a:solidFill>
                  <a:schemeClr val="tx1"/>
                </a:solidFill>
                <a:effectLst/>
                <a:latin typeface="+mn-lt"/>
                <a:ea typeface="+mn-ea"/>
                <a:cs typeface="+mn-cs"/>
              </a:rPr>
              <a:t> trust explicitly — that's a complete time primitive, and it takes both halves to build it.</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kern="1200" dirty="0">
                <a:solidFill>
                  <a:schemeClr val="tx1"/>
                </a:solidFill>
                <a:effectLst/>
                <a:latin typeface="+mn-lt"/>
                <a:ea typeface="+mn-ea"/>
                <a:cs typeface="+mn-cs"/>
              </a:rPr>
              <a:t>Make it concrete. A fast read alone gives you a low-overhead timestamp — that's the first row, and it's genuinely valuable. But on its own it's still just a point: you compare two events point-to-point, you can't tell when the order is ambiguous, and you can't gate a decision on how trustworthy the time is.</a:t>
            </a:r>
          </a:p>
          <a:p>
            <a:r>
              <a:rPr lang="en-US" sz="1200" b="0" i="0" kern="1200" dirty="0">
                <a:solidFill>
                  <a:schemeClr val="tx1"/>
                </a:solidFill>
                <a:effectLst/>
                <a:latin typeface="+mn-lt"/>
                <a:ea typeface="+mn-ea"/>
                <a:cs typeface="+mn-cs"/>
              </a:rPr>
              <a:t>Two events 200 nanoseconds apart, each known to within about 150 nanoseconds — the fast read alone happily says "A before B." With the uncertainty bound, that ordering is honestly </a:t>
            </a:r>
            <a:r>
              <a:rPr lang="en-US" sz="1200" b="0" i="1" kern="1200" dirty="0">
                <a:solidFill>
                  <a:schemeClr val="tx1"/>
                </a:solidFill>
                <a:effectLst/>
                <a:latin typeface="+mn-lt"/>
                <a:ea typeface="+mn-ea"/>
                <a:cs typeface="+mn-cs"/>
              </a:rPr>
              <a:t>ambiguous</a:t>
            </a:r>
            <a:r>
              <a:rPr lang="en-US" sz="1200" b="0" i="0" kern="1200" dirty="0">
                <a:solidFill>
                  <a:schemeClr val="tx1"/>
                </a:solidFill>
                <a:effectLst/>
                <a:latin typeface="+mn-lt"/>
                <a:ea typeface="+mn-ea"/>
                <a:cs typeface="+mn-cs"/>
              </a:rPr>
              <a:t>, and the system knows it. [PAUSE]</a:t>
            </a:r>
          </a:p>
          <a:p>
            <a:r>
              <a:rPr lang="en-US" sz="1200" b="0" i="0" kern="1200" dirty="0">
                <a:solidFill>
                  <a:schemeClr val="tx1"/>
                </a:solidFill>
                <a:effectLst/>
                <a:latin typeface="+mn-lt"/>
                <a:ea typeface="+mn-ea"/>
                <a:cs typeface="+mn-cs"/>
              </a:rPr>
              <a:t>Add uncertainty and every row upgrades. Point comparison becomes </a:t>
            </a:r>
            <a:r>
              <a:rPr lang="en-US" sz="1200" b="0" i="1" kern="1200" dirty="0">
                <a:solidFill>
                  <a:schemeClr val="tx1"/>
                </a:solidFill>
                <a:effectLst/>
                <a:latin typeface="+mn-lt"/>
                <a:ea typeface="+mn-ea"/>
                <a:cs typeface="+mn-cs"/>
              </a:rPr>
              <a:t>interval</a:t>
            </a:r>
            <a:r>
              <a:rPr lang="en-US" sz="1200" b="0" i="0" kern="1200" dirty="0">
                <a:solidFill>
                  <a:schemeClr val="tx1"/>
                </a:solidFill>
                <a:effectLst/>
                <a:latin typeface="+mn-lt"/>
                <a:ea typeface="+mn-ea"/>
                <a:cs typeface="+mn-cs"/>
              </a:rPr>
              <a:t> comparison. Ambiguity becomes </a:t>
            </a:r>
            <a:r>
              <a:rPr lang="en-US" sz="1200" b="0" i="1" kern="1200" dirty="0">
                <a:solidFill>
                  <a:schemeClr val="tx1"/>
                </a:solidFill>
                <a:effectLst/>
                <a:latin typeface="+mn-lt"/>
                <a:ea typeface="+mn-ea"/>
                <a:cs typeface="+mn-cs"/>
              </a:rPr>
              <a:t>explicit</a:t>
            </a:r>
            <a:r>
              <a:rPr lang="en-US" sz="1200" b="0" i="0" kern="1200" dirty="0">
                <a:solidFill>
                  <a:schemeClr val="tx1"/>
                </a:solidFill>
                <a:effectLst/>
                <a:latin typeface="+mn-lt"/>
                <a:ea typeface="+mn-ea"/>
                <a:cs typeface="+mn-cs"/>
              </a:rPr>
              <a:t> instead of buried. Decisions can be </a:t>
            </a:r>
            <a:r>
              <a:rPr lang="en-US" sz="1200" b="0" i="1" kern="1200" dirty="0">
                <a:solidFill>
                  <a:schemeClr val="tx1"/>
                </a:solidFill>
                <a:effectLst/>
                <a:latin typeface="+mn-lt"/>
                <a:ea typeface="+mn-ea"/>
                <a:cs typeface="+mn-cs"/>
              </a:rPr>
              <a:t>gated</a:t>
            </a:r>
            <a:r>
              <a:rPr lang="en-US" sz="1200" b="0" i="0" kern="1200" dirty="0">
                <a:solidFill>
                  <a:schemeClr val="tx1"/>
                </a:solidFill>
                <a:effectLst/>
                <a:latin typeface="+mn-lt"/>
                <a:ea typeface="+mn-ea"/>
                <a:cs typeface="+mn-cs"/>
              </a:rPr>
              <a:t> on a threshold over U. And any correlation or merge window can </a:t>
            </a:r>
            <a:r>
              <a:rPr lang="en-US" sz="1200" b="0" i="1" kern="1200" dirty="0">
                <a:solidFill>
                  <a:schemeClr val="tx1"/>
                </a:solidFill>
                <a:effectLst/>
                <a:latin typeface="+mn-lt"/>
                <a:ea typeface="+mn-ea"/>
                <a:cs typeface="+mn-cs"/>
              </a:rPr>
              <a:t>adapt</a:t>
            </a:r>
            <a:r>
              <a:rPr lang="en-US" sz="1200" b="0" i="0" kern="1200" dirty="0">
                <a:solidFill>
                  <a:schemeClr val="tx1"/>
                </a:solidFill>
                <a:effectLst/>
                <a:latin typeface="+mn-lt"/>
                <a:ea typeface="+mn-ea"/>
                <a:cs typeface="+mn-cs"/>
              </a:rPr>
              <a:t> to the live quality of the clock — tight when it's good, wider when it's drifting. That's fast time and its uncertainty, composed into one primitive.</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kern="1200" dirty="0">
                <a:solidFill>
                  <a:schemeClr val="tx1"/>
                </a:solidFill>
                <a:effectLst/>
                <a:latin typeface="+mn-lt"/>
                <a:ea typeface="+mn-ea"/>
                <a:cs typeface="+mn-cs"/>
              </a:rPr>
              <a:t>The kernel gives us </a:t>
            </a:r>
            <a:r>
              <a:rPr lang="en-US" sz="1200" b="0" i="1" kern="1200" dirty="0">
                <a:solidFill>
                  <a:schemeClr val="tx1"/>
                </a:solidFill>
                <a:effectLst/>
                <a:latin typeface="+mn-lt"/>
                <a:ea typeface="+mn-ea"/>
                <a:cs typeface="+mn-cs"/>
              </a:rPr>
              <a:t>ingredients</a:t>
            </a:r>
            <a:r>
              <a:rPr lang="en-US" sz="1200" b="0" i="0" kern="1200" dirty="0">
                <a:solidFill>
                  <a:schemeClr val="tx1"/>
                </a:solidFill>
                <a:effectLst/>
                <a:latin typeface="+mn-lt"/>
                <a:ea typeface="+mn-ea"/>
                <a:cs typeface="+mn-cs"/>
              </a:rPr>
              <a:t>. On the left: SO_TIMESTAMPING for hardware and software timestamps; PTP_SYS_OFFSET to cross-reference the PHC against the system clock; and /dev/</a:t>
            </a:r>
            <a:r>
              <a:rPr lang="en-US" sz="1200" b="0" i="0" kern="1200" dirty="0" err="1">
                <a:solidFill>
                  <a:schemeClr val="tx1"/>
                </a:solidFill>
                <a:effectLst/>
                <a:latin typeface="+mn-lt"/>
                <a:ea typeface="+mn-ea"/>
                <a:cs typeface="+mn-cs"/>
              </a:rPr>
              <a:t>ptpN</a:t>
            </a:r>
            <a:r>
              <a:rPr lang="en-US" sz="1200" b="0" i="0" kern="1200" dirty="0">
                <a:solidFill>
                  <a:schemeClr val="tx1"/>
                </a:solidFill>
                <a:effectLst/>
                <a:latin typeface="+mn-lt"/>
                <a:ea typeface="+mn-ea"/>
                <a:cs typeface="+mn-cs"/>
              </a:rPr>
              <a:t> for frequency adjustment and external timestamps.</a:t>
            </a:r>
          </a:p>
          <a:p>
            <a:r>
              <a:rPr lang="en-US" sz="1200" b="0" i="0" kern="1200" dirty="0">
                <a:solidFill>
                  <a:schemeClr val="tx1"/>
                </a:solidFill>
                <a:effectLst/>
                <a:latin typeface="+mn-lt"/>
                <a:ea typeface="+mn-ea"/>
                <a:cs typeface="+mn-cs"/>
              </a:rPr>
              <a:t>But notice the ptp4l management socket. It lives in </a:t>
            </a:r>
            <a:r>
              <a:rPr lang="en-US" sz="1200" b="0" i="1" kern="1200" dirty="0" err="1">
                <a:solidFill>
                  <a:schemeClr val="tx1"/>
                </a:solidFill>
                <a:effectLst/>
                <a:latin typeface="+mn-lt"/>
                <a:ea typeface="+mn-ea"/>
                <a:cs typeface="+mn-cs"/>
              </a:rPr>
              <a:t>userspace</a:t>
            </a:r>
            <a:r>
              <a:rPr lang="en-US" sz="1200" b="0" i="0" kern="1200" dirty="0">
                <a:solidFill>
                  <a:schemeClr val="tx1"/>
                </a:solidFill>
                <a:effectLst/>
                <a:latin typeface="+mn-lt"/>
                <a:ea typeface="+mn-ea"/>
                <a:cs typeface="+mn-cs"/>
              </a:rPr>
              <a:t>. So the one thing we actually need — the disciplined PTP sync state — exists only inside ptp4l, and the only way to get it today is to talk to that daemon out-of-band.</a:t>
            </a:r>
          </a:p>
          <a:p>
            <a:r>
              <a:rPr lang="en-US" sz="1200" b="0" i="0" kern="1200" dirty="0">
                <a:solidFill>
                  <a:schemeClr val="tx1"/>
                </a:solidFill>
                <a:effectLst/>
                <a:latin typeface="+mn-lt"/>
                <a:ea typeface="+mn-ea"/>
                <a:cs typeface="+mn-cs"/>
              </a:rPr>
              <a:t>That's the gap I want to close. The problem isn't merely that the data lives in </a:t>
            </a:r>
            <a:r>
              <a:rPr lang="en-US" sz="1200" b="0" i="0" kern="1200" dirty="0" err="1">
                <a:solidFill>
                  <a:schemeClr val="tx1"/>
                </a:solidFill>
                <a:effectLst/>
                <a:latin typeface="+mn-lt"/>
                <a:ea typeface="+mn-ea"/>
                <a:cs typeface="+mn-cs"/>
              </a:rPr>
              <a:t>userspace</a:t>
            </a:r>
            <a:r>
              <a:rPr lang="en-US" sz="1200" b="0" i="0" kern="1200" dirty="0">
                <a:solidFill>
                  <a:schemeClr val="tx1"/>
                </a:solidFill>
                <a:effectLst/>
                <a:latin typeface="+mn-lt"/>
                <a:ea typeface="+mn-ea"/>
                <a:cs typeface="+mn-cs"/>
              </a:rPr>
              <a:t>. It's that Linux and PTP expose no </a:t>
            </a:r>
            <a:r>
              <a:rPr lang="en-US" sz="1200" b="0" i="1" kern="1200" dirty="0">
                <a:solidFill>
                  <a:schemeClr val="tx1"/>
                </a:solidFill>
                <a:effectLst/>
                <a:latin typeface="+mn-lt"/>
                <a:ea typeface="+mn-ea"/>
                <a:cs typeface="+mn-cs"/>
              </a:rPr>
              <a:t>coherent</a:t>
            </a:r>
            <a:r>
              <a:rPr lang="en-US" sz="1200" b="0" i="0" kern="1200" dirty="0">
                <a:solidFill>
                  <a:schemeClr val="tx1"/>
                </a:solidFill>
                <a:effectLst/>
                <a:latin typeface="+mn-lt"/>
                <a:ea typeface="+mn-ea"/>
                <a:cs typeface="+mn-cs"/>
              </a:rPr>
              <a:t> clock-state at a single observation epoch. Remember slide twenty-one: offset comes from one dataset, ingress from another, polled independently — I had to stitch non-atomic observations into one "now." So the primitive I'd add isn't just "expose </a:t>
            </a:r>
            <a:r>
              <a:rPr lang="en-US" sz="1200" b="0" i="0" kern="1200" dirty="0" err="1">
                <a:solidFill>
                  <a:schemeClr val="tx1"/>
                </a:solidFill>
                <a:effectLst/>
                <a:latin typeface="+mn-lt"/>
                <a:ea typeface="+mn-ea"/>
                <a:cs typeface="+mn-cs"/>
              </a:rPr>
              <a:t>max_drift_ppb</a:t>
            </a:r>
            <a:r>
              <a:rPr lang="en-US" sz="1200" b="0" i="0" kern="1200" dirty="0">
                <a:solidFill>
                  <a:schemeClr val="tx1"/>
                </a:solidFill>
                <a:effectLst/>
                <a:latin typeface="+mn-lt"/>
                <a:ea typeface="+mn-ea"/>
                <a:cs typeface="+mn-cs"/>
              </a:rPr>
              <a:t>." It's </a:t>
            </a:r>
            <a:r>
              <a:rPr lang="en-US" sz="1200" b="0" i="1" kern="1200" dirty="0">
                <a:solidFill>
                  <a:schemeClr val="tx1"/>
                </a:solidFill>
                <a:effectLst/>
                <a:latin typeface="+mn-lt"/>
                <a:ea typeface="+mn-ea"/>
                <a:cs typeface="+mn-cs"/>
              </a:rPr>
              <a:t>one atomic snapshot at a defined epoch</a:t>
            </a:r>
            <a:r>
              <a:rPr lang="en-US" sz="1200" b="0" i="0" kern="1200" dirty="0">
                <a:solidFill>
                  <a:schemeClr val="tx1"/>
                </a:solidFill>
                <a:effectLst/>
                <a:latin typeface="+mn-lt"/>
                <a:ea typeface="+mn-ea"/>
                <a:cs typeface="+mn-cs"/>
              </a:rPr>
              <a:t>, built on the structure this daemon already publishes: </a:t>
            </a:r>
            <a:r>
              <a:rPr lang="en-US" sz="1200" b="0" i="0" kern="1200" dirty="0" err="1">
                <a:solidFill>
                  <a:schemeClr val="tx1"/>
                </a:solidFill>
                <a:effectLst/>
                <a:latin typeface="+mn-lt"/>
                <a:ea typeface="+mn-ea"/>
                <a:cs typeface="+mn-cs"/>
              </a:rPr>
              <a:t>master_offset_ns</a:t>
            </a:r>
            <a:r>
              <a:rPr lang="en-US" sz="1200" b="0" i="0" kern="1200" dirty="0">
                <a:solidFill>
                  <a:schemeClr val="tx1"/>
                </a:solidFill>
                <a:effectLst/>
                <a:latin typeface="+mn-lt"/>
                <a:ea typeface="+mn-ea"/>
                <a:cs typeface="+mn-cs"/>
              </a:rPr>
              <a:t> and </a:t>
            </a:r>
            <a:r>
              <a:rPr lang="en-US" sz="1200" b="0" i="0" kern="1200" dirty="0" err="1">
                <a:solidFill>
                  <a:schemeClr val="tx1"/>
                </a:solidFill>
                <a:effectLst/>
                <a:latin typeface="+mn-lt"/>
                <a:ea typeface="+mn-ea"/>
                <a:cs typeface="+mn-cs"/>
              </a:rPr>
              <a:t>ingress_time_ns</a:t>
            </a:r>
            <a:r>
              <a:rPr lang="en-US" sz="1200" b="0" i="0" kern="1200" dirty="0">
                <a:solidFill>
                  <a:schemeClr val="tx1"/>
                </a:solidFill>
                <a:effectLst/>
                <a:latin typeface="+mn-lt"/>
                <a:ea typeface="+mn-ea"/>
                <a:cs typeface="+mn-cs"/>
              </a:rPr>
              <a:t> together as the anchor; </a:t>
            </a:r>
            <a:r>
              <a:rPr lang="en-US" sz="1200" b="0" i="0" kern="1200" dirty="0" err="1">
                <a:solidFill>
                  <a:schemeClr val="tx1"/>
                </a:solidFill>
                <a:effectLst/>
                <a:latin typeface="+mn-lt"/>
                <a:ea typeface="+mn-ea"/>
                <a:cs typeface="+mn-cs"/>
              </a:rPr>
              <a:t>max_drift_ppb</a:t>
            </a:r>
            <a:r>
              <a:rPr lang="en-US" sz="1200" b="0" i="0" kern="1200" dirty="0">
                <a:solidFill>
                  <a:schemeClr val="tx1"/>
                </a:solidFill>
                <a:effectLst/>
                <a:latin typeface="+mn-lt"/>
                <a:ea typeface="+mn-ea"/>
                <a:cs typeface="+mn-cs"/>
              </a:rPr>
              <a:t> as the assumed frequency-error bound; the grandmaster identity and </a:t>
            </a:r>
            <a:r>
              <a:rPr lang="en-US" sz="1200" b="0" i="0" kern="1200" dirty="0" err="1">
                <a:solidFill>
                  <a:schemeClr val="tx1"/>
                </a:solidFill>
                <a:effectLst/>
                <a:latin typeface="+mn-lt"/>
                <a:ea typeface="+mn-ea"/>
                <a:cs typeface="+mn-cs"/>
              </a:rPr>
              <a:t>steps_removed</a:t>
            </a:r>
            <a:r>
              <a:rPr lang="en-US" sz="1200" b="0" i="0" kern="1200" dirty="0">
                <a:solidFill>
                  <a:schemeClr val="tx1"/>
                </a:solidFill>
                <a:effectLst/>
                <a:latin typeface="+mn-lt"/>
                <a:ea typeface="+mn-ea"/>
                <a:cs typeface="+mn-cs"/>
              </a:rPr>
              <a:t> — though I'll be honest that per-hop error is a crude policy, not a physical bound, since a transparent clock and a boundary clock fail differently. Enough metadata, at one epoch, to derive an uncertainty envelope under stated assumptions. [PAUSE]</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kern="1200" dirty="0">
                <a:solidFill>
                  <a:schemeClr val="tx1"/>
                </a:solidFill>
                <a:effectLst/>
                <a:latin typeface="+mn-lt"/>
                <a:ea typeface="+mn-ea"/>
                <a:cs typeface="+mn-cs"/>
              </a:rPr>
              <a:t>Six things to take with you.</a:t>
            </a:r>
          </a:p>
          <a:p>
            <a:r>
              <a:rPr lang="en-US" sz="1200" b="0" i="0" kern="1200" dirty="0">
                <a:solidFill>
                  <a:schemeClr val="tx1"/>
                </a:solidFill>
                <a:effectLst/>
                <a:latin typeface="+mn-lt"/>
                <a:ea typeface="+mn-ea"/>
                <a:cs typeface="+mn-cs"/>
              </a:rPr>
              <a:t>One: timestamps are intervals. Design your systems around </a:t>
            </a:r>
            <a:r>
              <a:rPr lang="en-US" sz="1200" b="0" i="1" kern="1200" dirty="0">
                <a:solidFill>
                  <a:schemeClr val="tx1"/>
                </a:solidFill>
                <a:effectLst/>
                <a:latin typeface="+mn-lt"/>
                <a:ea typeface="+mn-ea"/>
                <a:cs typeface="+mn-cs"/>
              </a:rPr>
              <a:t>t plus-or-minus U</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Two, and this is the honest one: Uncertainty is a </a:t>
            </a:r>
            <a:r>
              <a:rPr lang="en-US" sz="1200" b="0" i="1" kern="1200" dirty="0">
                <a:solidFill>
                  <a:schemeClr val="tx1"/>
                </a:solidFill>
                <a:effectLst/>
                <a:latin typeface="+mn-lt"/>
                <a:ea typeface="+mn-ea"/>
                <a:cs typeface="+mn-cs"/>
              </a:rPr>
              <a:t>computed envelope under stated assumptions</a:t>
            </a:r>
            <a:r>
              <a:rPr lang="en-US" sz="1200" b="0" i="0" kern="1200" dirty="0">
                <a:solidFill>
                  <a:schemeClr val="tx1"/>
                </a:solidFill>
                <a:effectLst/>
                <a:latin typeface="+mn-lt"/>
                <a:ea typeface="+mn-ea"/>
                <a:cs typeface="+mn-cs"/>
              </a:rPr>
              <a:t>, not a proven upper bound. Name the assumptions and it's defensible.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Three: separate the two owners — U-clock, which the daemon bounds, and U-capture, which the application knows. The event uncertainty is their sum.</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Four: staleness is an </a:t>
            </a:r>
            <a:r>
              <a:rPr lang="en-US" sz="1200" b="0" i="1" kern="1200" dirty="0">
                <a:solidFill>
                  <a:schemeClr val="tx1"/>
                </a:solidFill>
                <a:effectLst/>
                <a:latin typeface="+mn-lt"/>
                <a:ea typeface="+mn-ea"/>
                <a:cs typeface="+mn-cs"/>
              </a:rPr>
              <a:t>attributed</a:t>
            </a:r>
            <a:r>
              <a:rPr lang="en-US" sz="1200" b="0" i="0" kern="1200" dirty="0">
                <a:solidFill>
                  <a:schemeClr val="tx1"/>
                </a:solidFill>
                <a:effectLst/>
                <a:latin typeface="+mn-lt"/>
                <a:ea typeface="+mn-ea"/>
                <a:cs typeface="+mn-cs"/>
              </a:rPr>
              <a:t> drift bound — age times a configured frequency-error limit, not measured oscillator drift. It's the term most tools ignore; don't.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Five: the real missing kernel primitive isn't a drift number — it's a </a:t>
            </a:r>
            <a:r>
              <a:rPr lang="en-US" sz="1200" b="0" i="1" kern="1200" dirty="0">
                <a:solidFill>
                  <a:schemeClr val="tx1"/>
                </a:solidFill>
                <a:effectLst/>
                <a:latin typeface="+mn-lt"/>
                <a:ea typeface="+mn-ea"/>
                <a:cs typeface="+mn-cs"/>
              </a:rPr>
              <a:t>coherent clock-state at one observation epoch</a:t>
            </a:r>
            <a:r>
              <a:rPr lang="en-US" sz="1200" b="0" i="0" kern="1200" dirty="0">
                <a:solidFill>
                  <a:schemeClr val="tx1"/>
                </a:solidFill>
                <a:effectLst/>
                <a:latin typeface="+mn-lt"/>
                <a:ea typeface="+mn-ea"/>
                <a:cs typeface="+mn-cs"/>
              </a:rPr>
              <a:t>, with enough metadata to derive an envelope.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And six, the one that ties the two talks together: fast access gives you the time cheaply, and uncertainty tells you how far to trust it — fast access to the time </a:t>
            </a:r>
            <a:r>
              <a:rPr lang="en-US" sz="1200" b="0" i="1" kern="1200" dirty="0">
                <a:solidFill>
                  <a:schemeClr val="tx1"/>
                </a:solidFill>
                <a:effectLst/>
                <a:latin typeface="+mn-lt"/>
                <a:ea typeface="+mn-ea"/>
                <a:cs typeface="+mn-cs"/>
              </a:rPr>
              <a:t>and</a:t>
            </a:r>
            <a:r>
              <a:rPr lang="en-US" sz="1200" b="0" i="0" kern="1200" dirty="0">
                <a:solidFill>
                  <a:schemeClr val="tx1"/>
                </a:solidFill>
                <a:effectLst/>
                <a:latin typeface="+mn-lt"/>
                <a:ea typeface="+mn-ea"/>
                <a:cs typeface="+mn-cs"/>
              </a:rPr>
              <a:t> its associated uncertainty.</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Offer to collaborate with profiling-tool authors. Have the demo plot ready as a backup.</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kern="1200" dirty="0">
                <a:solidFill>
                  <a:schemeClr val="tx1"/>
                </a:solidFill>
                <a:effectLst/>
                <a:latin typeface="+mn-lt"/>
                <a:ea typeface="+mn-ea"/>
                <a:cs typeface="+mn-cs"/>
              </a:rPr>
              <a:t>One more piece before we build it: the port state gates whether the bound even means anything.</a:t>
            </a:r>
          </a:p>
          <a:p>
            <a:r>
              <a:rPr lang="en-US" sz="1200" b="0" i="0" kern="1200" dirty="0">
                <a:solidFill>
                  <a:schemeClr val="tx1"/>
                </a:solidFill>
                <a:effectLst/>
                <a:latin typeface="+mn-lt"/>
                <a:ea typeface="+mn-ea"/>
                <a:cs typeface="+mn-cs"/>
              </a:rPr>
              <a:t>In the SLAVE state, we're actively disciplining — the bounds are meaningful. In UNCALIBRATED we're still converging — the bounds are unstable, don't lean on them. In LISTENING or FAULTY, don't trust ordering claims at all.</a:t>
            </a:r>
          </a:p>
          <a:p>
            <a:r>
              <a:rPr lang="en-US" sz="1200" b="0" i="0" kern="1200" dirty="0">
                <a:solidFill>
                  <a:schemeClr val="tx1"/>
                </a:solidFill>
                <a:effectLst/>
                <a:latin typeface="+mn-lt"/>
                <a:ea typeface="+mn-ea"/>
                <a:cs typeface="+mn-cs"/>
              </a:rPr>
              <a:t>And the interesting one: </a:t>
            </a:r>
            <a:r>
              <a:rPr lang="en-US" sz="1200" b="1" i="0" kern="1200" dirty="0">
                <a:solidFill>
                  <a:schemeClr val="tx1"/>
                </a:solidFill>
                <a:effectLst/>
                <a:latin typeface="+mn-lt"/>
                <a:ea typeface="+mn-ea"/>
                <a:cs typeface="+mn-cs"/>
              </a:rPr>
              <a:t>when ptp4l disconnects.</a:t>
            </a:r>
            <a:r>
              <a:rPr lang="en-US" sz="1200" b="0" i="0" kern="1200" dirty="0">
                <a:solidFill>
                  <a:schemeClr val="tx1"/>
                </a:solidFill>
                <a:effectLst/>
                <a:latin typeface="+mn-lt"/>
                <a:ea typeface="+mn-ea"/>
                <a:cs typeface="+mn-cs"/>
              </a:rPr>
              <a:t> We hold the last anchor — and the drift just keeps growing from it. The bound doesn't freeze; it inflates, honestly reflecting that we're flying on a stale correction. Synchronization status is a </a:t>
            </a:r>
            <a:r>
              <a:rPr lang="en-US" sz="1200" b="0" i="1" kern="1200" dirty="0">
                <a:solidFill>
                  <a:schemeClr val="tx1"/>
                </a:solidFill>
                <a:effectLst/>
                <a:latin typeface="+mn-lt"/>
                <a:ea typeface="+mn-ea"/>
                <a:cs typeface="+mn-cs"/>
              </a:rPr>
              <a:t>prerequisite</a:t>
            </a:r>
            <a:r>
              <a:rPr lang="en-US" sz="1200" b="0" i="0" kern="1200" dirty="0">
                <a:solidFill>
                  <a:schemeClr val="tx1"/>
                </a:solidFill>
                <a:effectLst/>
                <a:latin typeface="+mn-lt"/>
                <a:ea typeface="+mn-ea"/>
                <a:cs typeface="+mn-cs"/>
              </a:rPr>
              <a:t> for trust — it is never a </a:t>
            </a:r>
            <a:r>
              <a:rPr lang="en-US" sz="1200" b="0" i="1" kern="1200" dirty="0">
                <a:solidFill>
                  <a:schemeClr val="tx1"/>
                </a:solidFill>
                <a:effectLst/>
                <a:latin typeface="+mn-lt"/>
                <a:ea typeface="+mn-ea"/>
                <a:cs typeface="+mn-cs"/>
              </a:rPr>
              <a:t>proof</a:t>
            </a:r>
            <a:r>
              <a:rPr lang="en-US" sz="1200" b="0" i="0" kern="1200" dirty="0">
                <a:solidFill>
                  <a:schemeClr val="tx1"/>
                </a:solidFill>
                <a:effectLst/>
                <a:latin typeface="+mn-lt"/>
                <a:ea typeface="+mn-ea"/>
                <a:cs typeface="+mn-cs"/>
              </a:rPr>
              <a:t> of it.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1D29"/>
        </a:solidFill>
        <a:effectLst/>
      </p:bgPr>
    </p:bg>
    <p:spTree>
      <p:nvGrpSpPr>
        <p:cNvPr id="1" name=""/>
        <p:cNvGrpSpPr/>
        <p:nvPr/>
      </p:nvGrpSpPr>
      <p:grpSpPr>
        <a:xfrm>
          <a:off x="0" y="0"/>
          <a:ext cx="0" cy="0"/>
          <a:chOff x="0" y="0"/>
          <a:chExt cx="0" cy="0"/>
        </a:xfrm>
      </p:grpSpPr>
      <p:sp>
        <p:nvSpPr>
          <p:cNvPr id="2" name="Rectangle 1"/>
          <p:cNvSpPr/>
          <p:nvPr/>
        </p:nvSpPr>
        <p:spPr>
          <a:xfrm>
            <a:off x="0" y="3246120"/>
            <a:ext cx="12191695" cy="82296"/>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3328416"/>
            <a:ext cx="3840480" cy="82296"/>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234440"/>
            <a:ext cx="10881360" cy="1920240"/>
          </a:xfrm>
          <a:prstGeom prst="rect">
            <a:avLst/>
          </a:prstGeom>
          <a:noFill/>
        </p:spPr>
        <p:txBody>
          <a:bodyPr wrap="square" lIns="0" tIns="0" rIns="0" bIns="0" anchor="t">
            <a:spAutoFit/>
          </a:bodyPr>
          <a:lstStyle/>
          <a:p>
            <a:pPr algn="l">
              <a:spcBef>
                <a:spcPts val="0"/>
              </a:spcBef>
              <a:spcAft>
                <a:spcPts val="600"/>
              </a:spcAft>
            </a:pPr>
            <a:r>
              <a:rPr sz="3800" b="1" i="0">
                <a:solidFill>
                  <a:srgbClr val="FFFFFF"/>
                </a:solidFill>
                <a:latin typeface="Calibri"/>
              </a:rPr>
              <a:t>Making Time Uncertainty a First-Class Concept in Linux Timing</a:t>
            </a:r>
          </a:p>
        </p:txBody>
      </p:sp>
      <p:sp>
        <p:nvSpPr>
          <p:cNvPr id="5" name="TextBox 4"/>
          <p:cNvSpPr txBox="1"/>
          <p:nvPr/>
        </p:nvSpPr>
        <p:spPr>
          <a:xfrm>
            <a:off x="841248" y="3520440"/>
            <a:ext cx="10515600" cy="731520"/>
          </a:xfrm>
          <a:prstGeom prst="rect">
            <a:avLst/>
          </a:prstGeom>
          <a:noFill/>
        </p:spPr>
        <p:txBody>
          <a:bodyPr wrap="square" lIns="0" tIns="0" rIns="0" bIns="0" anchor="t">
            <a:spAutoFit/>
          </a:bodyPr>
          <a:lstStyle/>
          <a:p>
            <a:pPr algn="l">
              <a:spcBef>
                <a:spcPts val="0"/>
              </a:spcBef>
              <a:spcAft>
                <a:spcPts val="600"/>
              </a:spcAft>
            </a:pPr>
            <a:r>
              <a:rPr sz="2200" b="0" i="0">
                <a:solidFill>
                  <a:srgbClr val="C7D2F0"/>
                </a:solidFill>
                <a:latin typeface="Calibri"/>
              </a:rPr>
              <a:t>Trustworthy timestamps for distributed and AI systems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1143000"/>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0972800" cy="365760"/>
          </a:xfrm>
          <a:prstGeom prst="rect">
            <a:avLst/>
          </a:prstGeom>
          <a:noFill/>
        </p:spPr>
        <p:txBody>
          <a:bodyPr wrap="square" lIns="0" tIns="0" rIns="0" bIns="0" anchor="t">
            <a:spAutoFit/>
          </a:bodyPr>
          <a:lstStyle/>
          <a:p>
            <a:pPr algn="l">
              <a:spcBef>
                <a:spcPts val="0"/>
              </a:spcBef>
              <a:spcAft>
                <a:spcPts val="600"/>
              </a:spcAft>
            </a:pPr>
            <a:r>
              <a:rPr sz="1300" b="1" i="0">
                <a:solidFill>
                  <a:srgbClr val="2E6BE6"/>
                </a:solidFill>
                <a:latin typeface="Calibri"/>
              </a:rPr>
              <a:t>OPENING</a:t>
            </a:r>
          </a:p>
        </p:txBody>
      </p:sp>
      <p:sp>
        <p:nvSpPr>
          <p:cNvPr id="4" name="TextBox 3"/>
          <p:cNvSpPr txBox="1"/>
          <p:nvPr/>
        </p:nvSpPr>
        <p:spPr>
          <a:xfrm>
            <a:off x="502920" y="566928"/>
            <a:ext cx="11155680" cy="822960"/>
          </a:xfrm>
          <a:prstGeom prst="rect">
            <a:avLst/>
          </a:prstGeom>
          <a:noFill/>
        </p:spPr>
        <p:txBody>
          <a:bodyPr wrap="square" lIns="0" tIns="0" rIns="0" bIns="0" anchor="t">
            <a:spAutoFit/>
          </a:bodyPr>
          <a:lstStyle/>
          <a:p>
            <a:pPr algn="l">
              <a:spcBef>
                <a:spcPts val="0"/>
              </a:spcBef>
              <a:spcAft>
                <a:spcPts val="600"/>
              </a:spcAft>
            </a:pPr>
            <a:r>
              <a:rPr sz="3000" b="1" i="0">
                <a:solidFill>
                  <a:srgbClr val="1A1D29"/>
                </a:solidFill>
                <a:latin typeface="Calibri"/>
              </a:rPr>
              <a:t>We make this decision constantly</a:t>
            </a:r>
          </a:p>
        </p:txBody>
      </p:sp>
      <p:sp>
        <p:nvSpPr>
          <p:cNvPr id="5" name="TextBox 4"/>
          <p:cNvSpPr txBox="1"/>
          <p:nvPr/>
        </p:nvSpPr>
        <p:spPr>
          <a:xfrm>
            <a:off x="640080" y="1554480"/>
            <a:ext cx="10972800" cy="4754880"/>
          </a:xfrm>
          <a:prstGeom prst="rect">
            <a:avLst/>
          </a:prstGeom>
          <a:noFill/>
        </p:spPr>
        <p:txBody>
          <a:bodyPr wrap="square" lIns="0" tIns="0" rIns="0" bIns="0" anchor="t">
            <a:spAutoFit/>
          </a:bodyPr>
          <a:lstStyle/>
          <a:p>
            <a:pPr algn="l">
              <a:spcBef>
                <a:spcPts val="0"/>
              </a:spcBef>
              <a:spcAft>
                <a:spcPts val="1000"/>
              </a:spcAft>
            </a:pPr>
            <a:r>
              <a:rPr sz="1800" b="1" i="0" dirty="0">
                <a:solidFill>
                  <a:srgbClr val="2E6BE6"/>
                </a:solidFill>
                <a:latin typeface="Calibri"/>
              </a:rPr>
              <a:t>▸  </a:t>
            </a:r>
            <a:r>
              <a:rPr sz="1800" b="0" i="0" dirty="0">
                <a:solidFill>
                  <a:srgbClr val="1A1D29"/>
                </a:solidFill>
                <a:latin typeface="Calibri"/>
              </a:rPr>
              <a:t>event A at T₁   →   event B at T₂   →   “A happened before B”</a:t>
            </a:r>
          </a:p>
          <a:p>
            <a:pPr algn="l">
              <a:spcBef>
                <a:spcPts val="0"/>
              </a:spcBef>
              <a:spcAft>
                <a:spcPts val="1000"/>
              </a:spcAft>
            </a:pPr>
            <a:r>
              <a:rPr sz="1600" b="0" i="0" dirty="0">
                <a:solidFill>
                  <a:srgbClr val="5B6172"/>
                </a:solidFill>
                <a:latin typeface="Calibri"/>
              </a:rPr>
              <a:t>        –  Ordering. Causality. “Which write won?” “What caused the stall?”</a:t>
            </a:r>
          </a:p>
          <a:p>
            <a:pPr algn="l">
              <a:spcBef>
                <a:spcPts val="0"/>
              </a:spcBef>
              <a:spcAft>
                <a:spcPts val="1000"/>
              </a:spcAft>
            </a:pPr>
            <a:r>
              <a:rPr sz="1800" b="1" i="0" dirty="0">
                <a:solidFill>
                  <a:srgbClr val="2E6BE6"/>
                </a:solidFill>
                <a:latin typeface="Calibri"/>
              </a:rPr>
              <a:t>▸  </a:t>
            </a:r>
            <a:r>
              <a:rPr sz="1800" b="0" i="0" dirty="0">
                <a:solidFill>
                  <a:srgbClr val="1A1D29"/>
                </a:solidFill>
                <a:latin typeface="Calibri"/>
              </a:rPr>
              <a:t>The hidden assumption: both timestamps are exact points.</a:t>
            </a:r>
          </a:p>
          <a:p>
            <a:pPr algn="l">
              <a:spcBef>
                <a:spcPts val="0"/>
              </a:spcBef>
              <a:spcAft>
                <a:spcPts val="1000"/>
              </a:spcAft>
            </a:pPr>
            <a:r>
              <a:rPr sz="1600" b="0" i="0" dirty="0">
                <a:solidFill>
                  <a:srgbClr val="5B6172"/>
                </a:solidFill>
                <a:latin typeface="Calibri"/>
              </a:rPr>
              <a:t>        –  Clocks disagree. Timestamps are captured at different layers.</a:t>
            </a:r>
          </a:p>
          <a:p>
            <a:pPr algn="l">
              <a:spcBef>
                <a:spcPts val="0"/>
              </a:spcBef>
              <a:spcAft>
                <a:spcPts val="1000"/>
              </a:spcAft>
            </a:pPr>
            <a:r>
              <a:rPr sz="1600" b="0" i="0" dirty="0">
                <a:solidFill>
                  <a:srgbClr val="5B6172"/>
                </a:solidFill>
                <a:latin typeface="Calibri"/>
              </a:rPr>
              <a:t>        –  Synchronization data goes stale between updates.</a:t>
            </a:r>
          </a:p>
        </p:txBody>
      </p:sp>
      <p:sp>
        <p:nvSpPr>
          <p:cNvPr id="6" name="Rectangle 5"/>
          <p:cNvSpPr/>
          <p:nvPr/>
        </p:nvSpPr>
        <p:spPr>
          <a:xfrm>
            <a:off x="0" y="6601968"/>
            <a:ext cx="12191695" cy="256032"/>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83680"/>
            <a:ext cx="8229600" cy="256032"/>
          </a:xfrm>
          <a:prstGeom prst="rect">
            <a:avLst/>
          </a:prstGeom>
          <a:noFill/>
        </p:spPr>
        <p:txBody>
          <a:bodyPr wrap="square" lIns="0" tIns="0" rIns="0" bIns="0" anchor="ctr">
            <a:spAutoFit/>
          </a:bodyPr>
          <a:lstStyle/>
          <a:p>
            <a:pPr algn="l">
              <a:spcBef>
                <a:spcPts val="0"/>
              </a:spcBef>
              <a:spcAft>
                <a:spcPts val="600"/>
              </a:spcAft>
            </a:pPr>
            <a:r>
              <a:rPr sz="1000" b="0" i="0">
                <a:solidFill>
                  <a:srgbClr val="FFFFFF"/>
                </a:solidFill>
                <a:latin typeface="Calibri"/>
              </a:rPr>
              <a:t>Time Uncertainty as a First-Class Concept</a:t>
            </a:r>
          </a:p>
        </p:txBody>
      </p:sp>
      <p:sp>
        <p:nvSpPr>
          <p:cNvPr id="8" name="TextBox 7"/>
          <p:cNvSpPr txBox="1"/>
          <p:nvPr/>
        </p:nvSpPr>
        <p:spPr>
          <a:xfrm>
            <a:off x="11002975" y="6583680"/>
            <a:ext cx="731520" cy="256032"/>
          </a:xfrm>
          <a:prstGeom prst="rect">
            <a:avLst/>
          </a:prstGeom>
          <a:noFill/>
        </p:spPr>
        <p:txBody>
          <a:bodyPr wrap="square" lIns="0" tIns="0" rIns="0" bIns="0" anchor="ctr">
            <a:spAutoFit/>
          </a:bodyPr>
          <a:lstStyle/>
          <a:p>
            <a:pPr algn="r">
              <a:spcBef>
                <a:spcPts val="0"/>
              </a:spcBef>
              <a:spcAft>
                <a:spcPts val="600"/>
              </a:spcAft>
            </a:pPr>
            <a:r>
              <a:rPr sz="1000" b="1" i="0">
                <a:solidFill>
                  <a:srgbClr val="FFFFFF"/>
                </a:solidFill>
                <a:latin typeface="Calibri"/>
              </a:rPr>
              <a:t>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0" end="0"/>
                                            </p:txEl>
                                          </p:spTgt>
                                        </p:tgtEl>
                                        <p:attrNameLst>
                                          <p:attrName>ppt_c</p:attrName>
                                        </p:attrNameLst>
                                      </p:cBhvr>
                                      <p:to>
                                        <a:srgbClr val="9EA0A0"/>
                                      </p:to>
                                    </p:animClr>
                                  </p:sub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1" end="1"/>
                                            </p:txEl>
                                          </p:spTgt>
                                        </p:tgtEl>
                                        <p:attrNameLst>
                                          <p:attrName>ppt_c</p:attrName>
                                        </p:attrNameLst>
                                      </p:cBhvr>
                                      <p:to>
                                        <a:srgbClr val="9EA0A0"/>
                                      </p:to>
                                    </p:animClr>
                                  </p:sub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1143000"/>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0972800" cy="365760"/>
          </a:xfrm>
          <a:prstGeom prst="rect">
            <a:avLst/>
          </a:prstGeom>
          <a:noFill/>
        </p:spPr>
        <p:txBody>
          <a:bodyPr wrap="square" lIns="0" tIns="0" rIns="0" bIns="0" anchor="t">
            <a:spAutoFit/>
          </a:bodyPr>
          <a:lstStyle/>
          <a:p>
            <a:pPr algn="l">
              <a:spcBef>
                <a:spcPts val="0"/>
              </a:spcBef>
              <a:spcAft>
                <a:spcPts val="600"/>
              </a:spcAft>
            </a:pPr>
            <a:r>
              <a:rPr sz="1300" b="1" i="0">
                <a:solidFill>
                  <a:srgbClr val="2E6BE6"/>
                </a:solidFill>
                <a:latin typeface="Calibri"/>
              </a:rPr>
              <a:t>ROADMAP</a:t>
            </a:r>
          </a:p>
        </p:txBody>
      </p:sp>
      <p:sp>
        <p:nvSpPr>
          <p:cNvPr id="4" name="TextBox 3"/>
          <p:cNvSpPr txBox="1"/>
          <p:nvPr/>
        </p:nvSpPr>
        <p:spPr>
          <a:xfrm>
            <a:off x="502920" y="566928"/>
            <a:ext cx="11155680" cy="822960"/>
          </a:xfrm>
          <a:prstGeom prst="rect">
            <a:avLst/>
          </a:prstGeom>
          <a:noFill/>
        </p:spPr>
        <p:txBody>
          <a:bodyPr wrap="square" lIns="0" tIns="0" rIns="0" bIns="0" anchor="t">
            <a:spAutoFit/>
          </a:bodyPr>
          <a:lstStyle/>
          <a:p>
            <a:pPr algn="l">
              <a:spcBef>
                <a:spcPts val="0"/>
              </a:spcBef>
              <a:spcAft>
                <a:spcPts val="600"/>
              </a:spcAft>
            </a:pPr>
            <a:r>
              <a:rPr sz="3000" b="1" i="0">
                <a:solidFill>
                  <a:srgbClr val="1A1D29"/>
                </a:solidFill>
                <a:latin typeface="Calibri"/>
              </a:rPr>
              <a:t>Two talks, one story</a:t>
            </a:r>
          </a:p>
        </p:txBody>
      </p:sp>
      <p:sp>
        <p:nvSpPr>
          <p:cNvPr id="5" name="Rectangle 4"/>
          <p:cNvSpPr/>
          <p:nvPr/>
        </p:nvSpPr>
        <p:spPr>
          <a:xfrm>
            <a:off x="640080" y="1691640"/>
            <a:ext cx="5349240" cy="4297680"/>
          </a:xfrm>
          <a:prstGeom prst="rect">
            <a:avLst/>
          </a:prstGeom>
          <a:solidFill>
            <a:srgbClr val="ED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56232"/>
            <a:ext cx="4892040" cy="457200"/>
          </a:xfrm>
          <a:prstGeom prst="rect">
            <a:avLst/>
          </a:prstGeom>
          <a:noFill/>
        </p:spPr>
        <p:txBody>
          <a:bodyPr wrap="square" lIns="0" tIns="0" rIns="0" bIns="0" anchor="t">
            <a:spAutoFit/>
          </a:bodyPr>
          <a:lstStyle/>
          <a:p>
            <a:pPr algn="l">
              <a:spcBef>
                <a:spcPts val="0"/>
              </a:spcBef>
              <a:spcAft>
                <a:spcPts val="600"/>
              </a:spcAft>
            </a:pPr>
            <a:r>
              <a:rPr sz="1800" b="1" i="0">
                <a:solidFill>
                  <a:srgbClr val="2E6BE6"/>
                </a:solidFill>
                <a:latin typeface="Calibri"/>
              </a:rPr>
              <a:t>This talk</a:t>
            </a:r>
          </a:p>
        </p:txBody>
      </p:sp>
      <p:sp>
        <p:nvSpPr>
          <p:cNvPr id="7" name="TextBox 6"/>
          <p:cNvSpPr txBox="1"/>
          <p:nvPr/>
        </p:nvSpPr>
        <p:spPr>
          <a:xfrm>
            <a:off x="868680" y="2468880"/>
            <a:ext cx="4892040" cy="3291840"/>
          </a:xfrm>
          <a:prstGeom prst="rect">
            <a:avLst/>
          </a:prstGeom>
          <a:noFill/>
        </p:spPr>
        <p:txBody>
          <a:bodyPr wrap="square" lIns="0" tIns="0" rIns="0" bIns="0" anchor="t">
            <a:spAutoFit/>
          </a:bodyPr>
          <a:lstStyle/>
          <a:p>
            <a:pPr algn="l">
              <a:spcBef>
                <a:spcPts val="0"/>
              </a:spcBef>
              <a:spcAft>
                <a:spcPts val="900"/>
              </a:spcAft>
            </a:pPr>
            <a:r>
              <a:rPr sz="1500" b="1" i="0">
                <a:solidFill>
                  <a:srgbClr val="2E6BE6"/>
                </a:solidFill>
                <a:latin typeface="Calibri"/>
              </a:rPr>
              <a:t>•  </a:t>
            </a:r>
            <a:r>
              <a:rPr sz="1500" b="0" i="0">
                <a:solidFill>
                  <a:srgbClr val="1A1D29"/>
                </a:solidFill>
                <a:latin typeface="Calibri"/>
              </a:rPr>
              <a:t>What is the error bar on a timestamp?</a:t>
            </a:r>
          </a:p>
          <a:p>
            <a:pPr algn="l">
              <a:spcBef>
                <a:spcPts val="0"/>
              </a:spcBef>
              <a:spcAft>
                <a:spcPts val="900"/>
              </a:spcAft>
            </a:pPr>
            <a:r>
              <a:rPr sz="1500" b="1" i="0">
                <a:solidFill>
                  <a:srgbClr val="2E6BE6"/>
                </a:solidFill>
                <a:latin typeface="Calibri"/>
              </a:rPr>
              <a:t>•  </a:t>
            </a:r>
            <a:r>
              <a:rPr sz="1500" b="0" i="0">
                <a:solidFill>
                  <a:srgbClr val="1A1D29"/>
                </a:solidFill>
                <a:latin typeface="Calibri"/>
              </a:rPr>
              <a:t>Timestamps as intervals</a:t>
            </a:r>
          </a:p>
          <a:p>
            <a:pPr algn="l">
              <a:spcBef>
                <a:spcPts val="0"/>
              </a:spcBef>
              <a:spcAft>
                <a:spcPts val="900"/>
              </a:spcAft>
            </a:pPr>
            <a:r>
              <a:rPr sz="1500" b="1" i="0">
                <a:solidFill>
                  <a:srgbClr val="2E6BE6"/>
                </a:solidFill>
                <a:latin typeface="Calibri"/>
              </a:rPr>
              <a:t>•  </a:t>
            </a:r>
            <a:r>
              <a:rPr sz="1500" b="0" i="0">
                <a:solidFill>
                  <a:srgbClr val="1A1D29"/>
                </a:solidFill>
                <a:latin typeface="Calibri"/>
              </a:rPr>
              <a:t>Explicit correctness criteria</a:t>
            </a:r>
          </a:p>
          <a:p>
            <a:pPr algn="l">
              <a:spcBef>
                <a:spcPts val="0"/>
              </a:spcBef>
              <a:spcAft>
                <a:spcPts val="900"/>
              </a:spcAft>
            </a:pPr>
            <a:r>
              <a:rPr sz="1500" b="1" i="0">
                <a:solidFill>
                  <a:srgbClr val="2E6BE6"/>
                </a:solidFill>
                <a:latin typeface="Calibri"/>
              </a:rPr>
              <a:t>•  </a:t>
            </a:r>
            <a:r>
              <a:rPr sz="1500" b="0" i="0">
                <a:solidFill>
                  <a:srgbClr val="1A1D29"/>
                </a:solidFill>
                <a:latin typeface="Calibri"/>
              </a:rPr>
              <a:t>“Can I trust this time?”</a:t>
            </a:r>
          </a:p>
        </p:txBody>
      </p:sp>
      <p:sp>
        <p:nvSpPr>
          <p:cNvPr id="8" name="Rectangle 7"/>
          <p:cNvSpPr/>
          <p:nvPr/>
        </p:nvSpPr>
        <p:spPr>
          <a:xfrm>
            <a:off x="6355080" y="1691640"/>
            <a:ext cx="5349240" cy="4297680"/>
          </a:xfrm>
          <a:prstGeom prst="rect">
            <a:avLst/>
          </a:prstGeom>
          <a:solidFill>
            <a:srgbClr val="EA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0" y="1856232"/>
            <a:ext cx="4892040" cy="457200"/>
          </a:xfrm>
          <a:prstGeom prst="rect">
            <a:avLst/>
          </a:prstGeom>
          <a:noFill/>
        </p:spPr>
        <p:txBody>
          <a:bodyPr wrap="square" lIns="0" tIns="0" rIns="0" bIns="0" anchor="t">
            <a:spAutoFit/>
          </a:bodyPr>
          <a:lstStyle/>
          <a:p>
            <a:pPr algn="l">
              <a:spcBef>
                <a:spcPts val="0"/>
              </a:spcBef>
              <a:spcAft>
                <a:spcPts val="600"/>
              </a:spcAft>
            </a:pPr>
            <a:r>
              <a:rPr sz="1800" b="1" i="0" dirty="0">
                <a:solidFill>
                  <a:srgbClr val="14B8A6"/>
                </a:solidFill>
                <a:latin typeface="Calibri"/>
              </a:rPr>
              <a:t>Prior talk — fast PHC access</a:t>
            </a:r>
          </a:p>
        </p:txBody>
      </p:sp>
      <p:sp>
        <p:nvSpPr>
          <p:cNvPr id="10" name="TextBox 9"/>
          <p:cNvSpPr txBox="1"/>
          <p:nvPr/>
        </p:nvSpPr>
        <p:spPr>
          <a:xfrm>
            <a:off x="6583680" y="2468880"/>
            <a:ext cx="4892040" cy="3291840"/>
          </a:xfrm>
          <a:prstGeom prst="rect">
            <a:avLst/>
          </a:prstGeom>
          <a:noFill/>
        </p:spPr>
        <p:txBody>
          <a:bodyPr wrap="square" lIns="0" tIns="0" rIns="0" bIns="0" anchor="t">
            <a:spAutoFit/>
          </a:bodyPr>
          <a:lstStyle/>
          <a:p>
            <a:pPr algn="l">
              <a:spcBef>
                <a:spcPts val="0"/>
              </a:spcBef>
              <a:spcAft>
                <a:spcPts val="900"/>
              </a:spcAft>
            </a:pPr>
            <a:r>
              <a:rPr sz="1500" b="1" i="0" dirty="0">
                <a:solidFill>
                  <a:srgbClr val="14B8A6"/>
                </a:solidFill>
                <a:latin typeface="Calibri"/>
              </a:rPr>
              <a:t>•  </a:t>
            </a:r>
            <a:r>
              <a:rPr sz="1500" b="0" i="0" dirty="0">
                <a:solidFill>
                  <a:srgbClr val="1A1D29"/>
                </a:solidFill>
                <a:latin typeface="Calibri"/>
              </a:rPr>
              <a:t>How do we read the clock cheaply?</a:t>
            </a:r>
          </a:p>
          <a:p>
            <a:pPr algn="l">
              <a:spcBef>
                <a:spcPts val="0"/>
              </a:spcBef>
              <a:spcAft>
                <a:spcPts val="900"/>
              </a:spcAft>
            </a:pPr>
            <a:r>
              <a:rPr sz="1500" b="1" i="0" dirty="0">
                <a:solidFill>
                  <a:srgbClr val="14B8A6"/>
                </a:solidFill>
                <a:latin typeface="Calibri"/>
              </a:rPr>
              <a:t>•  </a:t>
            </a:r>
            <a:r>
              <a:rPr sz="1500" b="0" i="0" dirty="0">
                <a:solidFill>
                  <a:srgbClr val="1A1D29"/>
                </a:solidFill>
                <a:latin typeface="Calibri"/>
              </a:rPr>
              <a:t>PHC reads without </a:t>
            </a:r>
            <a:r>
              <a:rPr sz="1500" b="0" i="0" dirty="0" err="1">
                <a:solidFill>
                  <a:srgbClr val="1A1D29"/>
                </a:solidFill>
                <a:latin typeface="Calibri"/>
              </a:rPr>
              <a:t>syscall</a:t>
            </a:r>
            <a:r>
              <a:rPr sz="1500" b="0" i="0" dirty="0">
                <a:solidFill>
                  <a:srgbClr val="1A1D29"/>
                </a:solidFill>
                <a:latin typeface="Calibri"/>
              </a:rPr>
              <a:t> / PCIe overhead</a:t>
            </a:r>
          </a:p>
          <a:p>
            <a:pPr algn="l">
              <a:spcBef>
                <a:spcPts val="0"/>
              </a:spcBef>
              <a:spcAft>
                <a:spcPts val="900"/>
              </a:spcAft>
            </a:pPr>
            <a:r>
              <a:rPr sz="1500" b="1" i="0" dirty="0">
                <a:solidFill>
                  <a:srgbClr val="14B8A6"/>
                </a:solidFill>
                <a:latin typeface="Calibri"/>
              </a:rPr>
              <a:t>•  </a:t>
            </a:r>
            <a:r>
              <a:rPr sz="1500" b="0" i="0" dirty="0" err="1">
                <a:solidFill>
                  <a:srgbClr val="1A1D29"/>
                </a:solidFill>
                <a:latin typeface="Calibri"/>
              </a:rPr>
              <a:t>Userspace</a:t>
            </a:r>
            <a:r>
              <a:rPr sz="1500" b="0" i="0" dirty="0">
                <a:solidFill>
                  <a:srgbClr val="1A1D29"/>
                </a:solidFill>
                <a:latin typeface="Calibri"/>
              </a:rPr>
              <a:t> PHC approximation (Hermóðr)</a:t>
            </a:r>
          </a:p>
          <a:p>
            <a:pPr algn="l">
              <a:spcBef>
                <a:spcPts val="0"/>
              </a:spcBef>
              <a:spcAft>
                <a:spcPts val="900"/>
              </a:spcAft>
            </a:pPr>
            <a:r>
              <a:rPr sz="1500" b="1" i="0" dirty="0">
                <a:solidFill>
                  <a:srgbClr val="14B8A6"/>
                </a:solidFill>
                <a:latin typeface="Calibri"/>
              </a:rPr>
              <a:t>•  </a:t>
            </a:r>
            <a:r>
              <a:rPr sz="1500" b="0" i="0" dirty="0">
                <a:solidFill>
                  <a:srgbClr val="1A1D29"/>
                </a:solidFill>
                <a:latin typeface="Calibri"/>
              </a:rPr>
              <a:t>~5 µs </a:t>
            </a:r>
            <a:r>
              <a:rPr sz="1500" b="0" i="0" dirty="0" err="1">
                <a:solidFill>
                  <a:srgbClr val="1A1D29"/>
                </a:solidFill>
                <a:latin typeface="Calibri"/>
              </a:rPr>
              <a:t>syscall+PCIe</a:t>
            </a:r>
            <a:r>
              <a:rPr sz="1500" b="0" i="0" dirty="0">
                <a:solidFill>
                  <a:srgbClr val="1A1D29"/>
                </a:solidFill>
                <a:latin typeface="Calibri"/>
              </a:rPr>
              <a:t> read → ~60 ns</a:t>
            </a:r>
          </a:p>
        </p:txBody>
      </p:sp>
      <p:sp>
        <p:nvSpPr>
          <p:cNvPr id="11" name="Rectangle 10"/>
          <p:cNvSpPr/>
          <p:nvPr/>
        </p:nvSpPr>
        <p:spPr>
          <a:xfrm>
            <a:off x="0" y="6601968"/>
            <a:ext cx="12191695" cy="256032"/>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6583680"/>
            <a:ext cx="8229600" cy="256032"/>
          </a:xfrm>
          <a:prstGeom prst="rect">
            <a:avLst/>
          </a:prstGeom>
          <a:noFill/>
        </p:spPr>
        <p:txBody>
          <a:bodyPr wrap="square" lIns="0" tIns="0" rIns="0" bIns="0" anchor="ctr">
            <a:spAutoFit/>
          </a:bodyPr>
          <a:lstStyle/>
          <a:p>
            <a:pPr algn="l">
              <a:spcBef>
                <a:spcPts val="0"/>
              </a:spcBef>
              <a:spcAft>
                <a:spcPts val="600"/>
              </a:spcAft>
            </a:pPr>
            <a:r>
              <a:rPr sz="1000" b="0" i="0">
                <a:solidFill>
                  <a:srgbClr val="FFFFFF"/>
                </a:solidFill>
                <a:latin typeface="Calibri"/>
              </a:rPr>
              <a:t>Time Uncertainty as a First-Class Concept</a:t>
            </a:r>
          </a:p>
        </p:txBody>
      </p:sp>
      <p:sp>
        <p:nvSpPr>
          <p:cNvPr id="13" name="TextBox 12"/>
          <p:cNvSpPr txBox="1"/>
          <p:nvPr/>
        </p:nvSpPr>
        <p:spPr>
          <a:xfrm>
            <a:off x="11002975" y="6583680"/>
            <a:ext cx="731520" cy="256032"/>
          </a:xfrm>
          <a:prstGeom prst="rect">
            <a:avLst/>
          </a:prstGeom>
          <a:noFill/>
        </p:spPr>
        <p:txBody>
          <a:bodyPr wrap="square" lIns="0" tIns="0" rIns="0" bIns="0" anchor="ctr">
            <a:spAutoFit/>
          </a:bodyPr>
          <a:lstStyle/>
          <a:p>
            <a:pPr algn="r">
              <a:spcBef>
                <a:spcPts val="0"/>
              </a:spcBef>
              <a:spcAft>
                <a:spcPts val="600"/>
              </a:spcAft>
            </a:pPr>
            <a:r>
              <a:rPr sz="1000" b="1" i="0">
                <a:solidFill>
                  <a:srgbClr val="FFFFFF"/>
                </a:solidFill>
                <a:latin typeface="Calibri"/>
              </a:rPr>
              <a:t>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subTnLst>
                                    <p:animClr clrSpc="rgb" dir="cw">
                                      <p:cBhvr override="childStyle">
                                        <p:cTn dur="1" fill="hold" display="0" masterRel="nextClick" afterEffect="1"/>
                                        <p:tgtEl>
                                          <p:spTgt spid="8"/>
                                        </p:tgtEl>
                                        <p:attrNameLst>
                                          <p:attrName>ppt_c</p:attrName>
                                        </p:attrNameLst>
                                      </p:cBhvr>
                                      <p:to>
                                        <a:schemeClr val="bg1"/>
                                      </p:to>
                                    </p:animClr>
                                  </p:sub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subTnLst>
                                    <p:animClr clrSpc="rgb" dir="cw">
                                      <p:cBhvr override="childStyle">
                                        <p:cTn dur="1" fill="hold" display="0" masterRel="nextClick" afterEffect="1"/>
                                        <p:tgtEl>
                                          <p:spTgt spid="9"/>
                                        </p:tgtEl>
                                        <p:attrNameLst>
                                          <p:attrName>ppt_c</p:attrName>
                                        </p:attrNameLst>
                                      </p:cBhvr>
                                      <p:to>
                                        <a:srgbClr val="9EA0A0"/>
                                      </p:to>
                                    </p:animClr>
                                  </p:sub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subTnLst>
                                    <p:animClr clrSpc="rgb" dir="cw">
                                      <p:cBhvr override="childStyle">
                                        <p:cTn dur="1" fill="hold" display="0" masterRel="nextClick" afterEffect="1"/>
                                        <p:tgtEl>
                                          <p:spTgt spid="10"/>
                                        </p:tgtEl>
                                        <p:attrNameLst>
                                          <p:attrName>ppt_c</p:attrName>
                                        </p:attrNameLst>
                                      </p:cBhvr>
                                      <p:to>
                                        <a:srgbClr val="9EA0A0"/>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p:bldP spid="8" grpId="0" animBg="1"/>
      <p:bldP spid="9"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E6BE6"/>
        </a:solidFill>
        <a:effectLst/>
      </p:bgPr>
    </p:bg>
    <p:spTree>
      <p:nvGrpSpPr>
        <p:cNvPr id="1" name=""/>
        <p:cNvGrpSpPr/>
        <p:nvPr/>
      </p:nvGrpSpPr>
      <p:grpSpPr>
        <a:xfrm>
          <a:off x="0" y="0"/>
          <a:ext cx="0" cy="0"/>
          <a:chOff x="0" y="0"/>
          <a:chExt cx="0" cy="0"/>
        </a:xfrm>
      </p:grpSpPr>
      <p:sp>
        <p:nvSpPr>
          <p:cNvPr id="2" name="Rectangle 1"/>
          <p:cNvSpPr/>
          <p:nvPr/>
        </p:nvSpPr>
        <p:spPr>
          <a:xfrm>
            <a:off x="0" y="2468880"/>
            <a:ext cx="3200400" cy="9144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1828800"/>
            <a:ext cx="10058400" cy="548640"/>
          </a:xfrm>
          <a:prstGeom prst="rect">
            <a:avLst/>
          </a:prstGeom>
          <a:noFill/>
        </p:spPr>
        <p:txBody>
          <a:bodyPr wrap="square" lIns="0" tIns="0" rIns="0" bIns="0" anchor="t">
            <a:spAutoFit/>
          </a:bodyPr>
          <a:lstStyle/>
          <a:p>
            <a:pPr algn="l">
              <a:spcBef>
                <a:spcPts val="0"/>
              </a:spcBef>
              <a:spcAft>
                <a:spcPts val="600"/>
              </a:spcAft>
            </a:pPr>
            <a:r>
              <a:rPr sz="2000" b="1" i="0">
                <a:solidFill>
                  <a:srgbClr val="C7D2F0"/>
                </a:solidFill>
                <a:latin typeface="Calibri"/>
              </a:rPr>
              <a:t>PART 1</a:t>
            </a:r>
          </a:p>
        </p:txBody>
      </p:sp>
      <p:sp>
        <p:nvSpPr>
          <p:cNvPr id="4" name="TextBox 3"/>
          <p:cNvSpPr txBox="1"/>
          <p:nvPr/>
        </p:nvSpPr>
        <p:spPr>
          <a:xfrm>
            <a:off x="804672" y="2697480"/>
            <a:ext cx="10515600" cy="1828800"/>
          </a:xfrm>
          <a:prstGeom prst="rect">
            <a:avLst/>
          </a:prstGeom>
          <a:noFill/>
        </p:spPr>
        <p:txBody>
          <a:bodyPr wrap="square" lIns="0" tIns="0" rIns="0" bIns="0" anchor="t">
            <a:spAutoFit/>
          </a:bodyPr>
          <a:lstStyle/>
          <a:p>
            <a:pPr algn="l">
              <a:spcBef>
                <a:spcPts val="0"/>
              </a:spcBef>
              <a:spcAft>
                <a:spcPts val="600"/>
              </a:spcAft>
            </a:pPr>
            <a:r>
              <a:rPr sz="4000" b="1" i="0">
                <a:solidFill>
                  <a:srgbClr val="FFFFFF"/>
                </a:solidFill>
                <a:latin typeface="Calibri"/>
              </a:rPr>
              <a:t>Precise is not the same as correct</a:t>
            </a:r>
          </a:p>
        </p:txBody>
      </p:sp>
      <p:sp>
        <p:nvSpPr>
          <p:cNvPr id="5" name="TextBox 4"/>
          <p:cNvSpPr txBox="1"/>
          <p:nvPr/>
        </p:nvSpPr>
        <p:spPr>
          <a:xfrm>
            <a:off x="11002975" y="6263640"/>
            <a:ext cx="822960" cy="365760"/>
          </a:xfrm>
          <a:prstGeom prst="rect">
            <a:avLst/>
          </a:prstGeom>
          <a:noFill/>
        </p:spPr>
        <p:txBody>
          <a:bodyPr wrap="square" lIns="0" tIns="0" rIns="0" bIns="0" anchor="t">
            <a:spAutoFit/>
          </a:bodyPr>
          <a:lstStyle/>
          <a:p>
            <a:pPr algn="r">
              <a:spcBef>
                <a:spcPts val="0"/>
              </a:spcBef>
              <a:spcAft>
                <a:spcPts val="600"/>
              </a:spcAft>
            </a:pPr>
            <a:r>
              <a:rPr sz="1200" b="1" i="0">
                <a:solidFill>
                  <a:srgbClr val="FFFFFF"/>
                </a:solidFill>
                <a:latin typeface="Calibri"/>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1143000"/>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0972800" cy="365760"/>
          </a:xfrm>
          <a:prstGeom prst="rect">
            <a:avLst/>
          </a:prstGeom>
          <a:noFill/>
        </p:spPr>
        <p:txBody>
          <a:bodyPr wrap="square" lIns="0" tIns="0" rIns="0" bIns="0" anchor="t">
            <a:spAutoFit/>
          </a:bodyPr>
          <a:lstStyle/>
          <a:p>
            <a:pPr algn="l">
              <a:spcBef>
                <a:spcPts val="0"/>
              </a:spcBef>
              <a:spcAft>
                <a:spcPts val="600"/>
              </a:spcAft>
            </a:pPr>
            <a:r>
              <a:rPr sz="1300" b="1" i="0">
                <a:solidFill>
                  <a:srgbClr val="2E6BE6"/>
                </a:solidFill>
                <a:latin typeface="Calibri"/>
              </a:rPr>
              <a:t>THE PROBLEM</a:t>
            </a:r>
          </a:p>
        </p:txBody>
      </p:sp>
      <p:sp>
        <p:nvSpPr>
          <p:cNvPr id="4" name="TextBox 3"/>
          <p:cNvSpPr txBox="1"/>
          <p:nvPr/>
        </p:nvSpPr>
        <p:spPr>
          <a:xfrm>
            <a:off x="502920" y="566928"/>
            <a:ext cx="11155680" cy="822960"/>
          </a:xfrm>
          <a:prstGeom prst="rect">
            <a:avLst/>
          </a:prstGeom>
          <a:noFill/>
        </p:spPr>
        <p:txBody>
          <a:bodyPr wrap="square" lIns="0" tIns="0" rIns="0" bIns="0" anchor="t">
            <a:spAutoFit/>
          </a:bodyPr>
          <a:lstStyle/>
          <a:p>
            <a:pPr algn="l">
              <a:spcBef>
                <a:spcPts val="0"/>
              </a:spcBef>
              <a:spcAft>
                <a:spcPts val="600"/>
              </a:spcAft>
            </a:pPr>
            <a:r>
              <a:rPr sz="3000" b="1" i="0">
                <a:solidFill>
                  <a:srgbClr val="1A1D29"/>
                </a:solidFill>
                <a:latin typeface="Calibri"/>
              </a:rPr>
              <a:t>We spent two decades chasing precision</a:t>
            </a:r>
          </a:p>
        </p:txBody>
      </p:sp>
      <p:sp>
        <p:nvSpPr>
          <p:cNvPr id="5" name="TextBox 4"/>
          <p:cNvSpPr txBox="1"/>
          <p:nvPr/>
        </p:nvSpPr>
        <p:spPr>
          <a:xfrm>
            <a:off x="640080" y="1554480"/>
            <a:ext cx="10972800" cy="4754880"/>
          </a:xfrm>
          <a:prstGeom prst="rect">
            <a:avLst/>
          </a:prstGeom>
          <a:noFill/>
        </p:spPr>
        <p:txBody>
          <a:bodyPr wrap="square" lIns="0" tIns="0" rIns="0" bIns="0" anchor="t">
            <a:spAutoFit/>
          </a:bodyPr>
          <a:lstStyle/>
          <a:p>
            <a:pPr algn="l">
              <a:spcBef>
                <a:spcPts val="0"/>
              </a:spcBef>
              <a:spcAft>
                <a:spcPts val="1000"/>
              </a:spcAft>
            </a:pPr>
            <a:r>
              <a:rPr sz="1800" b="1" i="0" dirty="0">
                <a:solidFill>
                  <a:srgbClr val="2E6BE6"/>
                </a:solidFill>
                <a:latin typeface="Calibri"/>
              </a:rPr>
              <a:t>▸  </a:t>
            </a:r>
            <a:r>
              <a:rPr sz="1800" b="0" i="0" dirty="0">
                <a:solidFill>
                  <a:srgbClr val="1A1D29"/>
                </a:solidFill>
                <a:latin typeface="Calibri"/>
              </a:rPr>
              <a:t>Sub-microsecond PTP is now common on data-center and AI fabrics</a:t>
            </a:r>
          </a:p>
          <a:p>
            <a:pPr algn="l">
              <a:spcBef>
                <a:spcPts val="0"/>
              </a:spcBef>
              <a:spcAft>
                <a:spcPts val="1000"/>
              </a:spcAft>
            </a:pPr>
            <a:r>
              <a:rPr sz="1800" b="1" i="0" dirty="0">
                <a:solidFill>
                  <a:srgbClr val="2E6BE6"/>
                </a:solidFill>
                <a:latin typeface="Calibri"/>
              </a:rPr>
              <a:t>▸  </a:t>
            </a:r>
            <a:r>
              <a:rPr sz="1800" b="0" i="0" dirty="0">
                <a:solidFill>
                  <a:srgbClr val="1A1D29"/>
                </a:solidFill>
                <a:latin typeface="Calibri"/>
              </a:rPr>
              <a:t>Hardware timestamping in NICs, </a:t>
            </a:r>
            <a:r>
              <a:rPr sz="1800" b="0" i="0" dirty="0" err="1">
                <a:solidFill>
                  <a:srgbClr val="1A1D29"/>
                </a:solidFill>
                <a:latin typeface="Calibri"/>
              </a:rPr>
              <a:t>SmartNICs</a:t>
            </a:r>
            <a:r>
              <a:rPr sz="1800" b="0" i="0" dirty="0">
                <a:solidFill>
                  <a:srgbClr val="1A1D29"/>
                </a:solidFill>
                <a:latin typeface="Calibri"/>
              </a:rPr>
              <a:t>, DPUs</a:t>
            </a:r>
          </a:p>
          <a:p>
            <a:pPr algn="l">
              <a:spcBef>
                <a:spcPts val="0"/>
              </a:spcBef>
              <a:spcAft>
                <a:spcPts val="1000"/>
              </a:spcAft>
            </a:pPr>
            <a:r>
              <a:rPr sz="1800" b="1" i="0" dirty="0">
                <a:solidFill>
                  <a:srgbClr val="2E6BE6"/>
                </a:solidFill>
                <a:latin typeface="Calibri"/>
              </a:rPr>
              <a:t>▸  </a:t>
            </a:r>
            <a:r>
              <a:rPr sz="1800" b="0" i="0" dirty="0">
                <a:solidFill>
                  <a:srgbClr val="1A1D29"/>
                </a:solidFill>
                <a:latin typeface="Calibri"/>
              </a:rPr>
              <a:t>Multi-node GPU traces spanning thousands of ranks</a:t>
            </a:r>
          </a:p>
          <a:p>
            <a:pPr algn="l">
              <a:spcBef>
                <a:spcPts val="0"/>
              </a:spcBef>
              <a:spcAft>
                <a:spcPts val="1000"/>
              </a:spcAft>
            </a:pPr>
            <a:r>
              <a:rPr sz="1800" b="1" i="0" dirty="0">
                <a:solidFill>
                  <a:srgbClr val="2E6BE6"/>
                </a:solidFill>
                <a:latin typeface="Calibri"/>
              </a:rPr>
              <a:t>▸  </a:t>
            </a:r>
            <a:r>
              <a:rPr sz="1800" b="0" i="0" dirty="0">
                <a:solidFill>
                  <a:srgbClr val="1A1D29"/>
                </a:solidFill>
                <a:latin typeface="Calibri"/>
              </a:rPr>
              <a:t>The better our clocks got, the more we trusted them — implicitly</a:t>
            </a:r>
          </a:p>
          <a:p>
            <a:pPr algn="l">
              <a:spcBef>
                <a:spcPts val="0"/>
              </a:spcBef>
              <a:spcAft>
                <a:spcPts val="1000"/>
              </a:spcAft>
            </a:pPr>
            <a:r>
              <a:rPr sz="1600" b="0" i="0" dirty="0">
                <a:solidFill>
                  <a:srgbClr val="5B6172"/>
                </a:solidFill>
                <a:latin typeface="Calibri"/>
              </a:rPr>
              <a:t>        –  Precision raised confidence faster than it raised correctness</a:t>
            </a:r>
          </a:p>
        </p:txBody>
      </p:sp>
      <p:sp>
        <p:nvSpPr>
          <p:cNvPr id="6" name="Rectangle 5"/>
          <p:cNvSpPr/>
          <p:nvPr/>
        </p:nvSpPr>
        <p:spPr>
          <a:xfrm>
            <a:off x="0" y="6601968"/>
            <a:ext cx="12191695" cy="256032"/>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83680"/>
            <a:ext cx="8229600" cy="256032"/>
          </a:xfrm>
          <a:prstGeom prst="rect">
            <a:avLst/>
          </a:prstGeom>
          <a:noFill/>
        </p:spPr>
        <p:txBody>
          <a:bodyPr wrap="square" lIns="0" tIns="0" rIns="0" bIns="0" anchor="ctr">
            <a:spAutoFit/>
          </a:bodyPr>
          <a:lstStyle/>
          <a:p>
            <a:pPr algn="l">
              <a:spcBef>
                <a:spcPts val="0"/>
              </a:spcBef>
              <a:spcAft>
                <a:spcPts val="600"/>
              </a:spcAft>
            </a:pPr>
            <a:r>
              <a:rPr sz="1000" b="0" i="0">
                <a:solidFill>
                  <a:srgbClr val="FFFFFF"/>
                </a:solidFill>
                <a:latin typeface="Calibri"/>
              </a:rPr>
              <a:t>Time Uncertainty as a First-Class Concept</a:t>
            </a:r>
          </a:p>
        </p:txBody>
      </p:sp>
      <p:sp>
        <p:nvSpPr>
          <p:cNvPr id="8" name="TextBox 7"/>
          <p:cNvSpPr txBox="1"/>
          <p:nvPr/>
        </p:nvSpPr>
        <p:spPr>
          <a:xfrm>
            <a:off x="11002975" y="6583680"/>
            <a:ext cx="731520" cy="256032"/>
          </a:xfrm>
          <a:prstGeom prst="rect">
            <a:avLst/>
          </a:prstGeom>
          <a:noFill/>
        </p:spPr>
        <p:txBody>
          <a:bodyPr wrap="square" lIns="0" tIns="0" rIns="0" bIns="0" anchor="ctr">
            <a:spAutoFit/>
          </a:bodyPr>
          <a:lstStyle/>
          <a:p>
            <a:pPr algn="r">
              <a:spcBef>
                <a:spcPts val="0"/>
              </a:spcBef>
              <a:spcAft>
                <a:spcPts val="600"/>
              </a:spcAft>
            </a:pPr>
            <a:r>
              <a:rPr sz="1000" b="1" i="0">
                <a:solidFill>
                  <a:srgbClr val="FFFFFF"/>
                </a:solidFill>
                <a:latin typeface="Calibri"/>
              </a:rPr>
              <a:t>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0" end="0"/>
                                            </p:txEl>
                                          </p:spTgt>
                                        </p:tgtEl>
                                        <p:attrNameLst>
                                          <p:attrName>ppt_c</p:attrName>
                                        </p:attrNameLst>
                                      </p:cBhvr>
                                      <p:to>
                                        <a:srgbClr val="9EA0A0"/>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1" end="1"/>
                                            </p:txEl>
                                          </p:spTgt>
                                        </p:tgtEl>
                                        <p:attrNameLst>
                                          <p:attrName>ppt_c</p:attrName>
                                        </p:attrNameLst>
                                      </p:cBhvr>
                                      <p:to>
                                        <a:srgbClr val="9EA0A0"/>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2" end="2"/>
                                            </p:txEl>
                                          </p:spTgt>
                                        </p:tgtEl>
                                        <p:attrNameLst>
                                          <p:attrName>ppt_c</p:attrName>
                                        </p:attrNameLst>
                                      </p:cBhvr>
                                      <p:to>
                                        <a:srgbClr val="9EA0A0"/>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1143000"/>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0972800" cy="365760"/>
          </a:xfrm>
          <a:prstGeom prst="rect">
            <a:avLst/>
          </a:prstGeom>
          <a:noFill/>
        </p:spPr>
        <p:txBody>
          <a:bodyPr wrap="square" lIns="0" tIns="0" rIns="0" bIns="0" anchor="t">
            <a:spAutoFit/>
          </a:bodyPr>
          <a:lstStyle/>
          <a:p>
            <a:pPr algn="l">
              <a:spcBef>
                <a:spcPts val="0"/>
              </a:spcBef>
              <a:spcAft>
                <a:spcPts val="600"/>
              </a:spcAft>
            </a:pPr>
            <a:r>
              <a:rPr sz="1300" b="1" i="0">
                <a:solidFill>
                  <a:srgbClr val="2E6BE6"/>
                </a:solidFill>
                <a:latin typeface="Calibri"/>
              </a:rPr>
              <a:t>THE PROBLEM</a:t>
            </a:r>
          </a:p>
        </p:txBody>
      </p:sp>
      <p:sp>
        <p:nvSpPr>
          <p:cNvPr id="4" name="TextBox 3"/>
          <p:cNvSpPr txBox="1"/>
          <p:nvPr/>
        </p:nvSpPr>
        <p:spPr>
          <a:xfrm>
            <a:off x="502920" y="566928"/>
            <a:ext cx="11155680" cy="822960"/>
          </a:xfrm>
          <a:prstGeom prst="rect">
            <a:avLst/>
          </a:prstGeom>
          <a:noFill/>
        </p:spPr>
        <p:txBody>
          <a:bodyPr wrap="square" lIns="0" tIns="0" rIns="0" bIns="0" anchor="t">
            <a:spAutoFit/>
          </a:bodyPr>
          <a:lstStyle/>
          <a:p>
            <a:pPr algn="l">
              <a:spcBef>
                <a:spcPts val="0"/>
              </a:spcBef>
              <a:spcAft>
                <a:spcPts val="600"/>
              </a:spcAft>
            </a:pPr>
            <a:r>
              <a:rPr sz="3000" b="1" i="0">
                <a:solidFill>
                  <a:srgbClr val="1A1D29"/>
                </a:solidFill>
                <a:latin typeface="Calibri"/>
              </a:rPr>
              <a:t>Ways timestamps quietly mislead</a:t>
            </a:r>
          </a:p>
        </p:txBody>
      </p:sp>
      <p:graphicFrame>
        <p:nvGraphicFramePr>
          <p:cNvPr id="5" name="Table 4"/>
          <p:cNvGraphicFramePr>
            <a:graphicFrameLocks noGrp="1"/>
          </p:cNvGraphicFramePr>
          <p:nvPr/>
        </p:nvGraphicFramePr>
        <p:xfrm>
          <a:off x="640080" y="1645920"/>
          <a:ext cx="10881360" cy="4754880"/>
        </p:xfrm>
        <a:graphic>
          <a:graphicData uri="http://schemas.openxmlformats.org/drawingml/2006/table">
            <a:tbl>
              <a:tblPr firstRow="1" bandRow="1">
                <a:tableStyleId>{5C22544A-7EE6-4342-B048-85BDC9FD1C3A}</a:tableStyleId>
              </a:tblPr>
              <a:tblGrid>
                <a:gridCol w="3627120">
                  <a:extLst>
                    <a:ext uri="{9D8B030D-6E8A-4147-A177-3AD203B41FA5}">
                      <a16:colId xmlns:a16="http://schemas.microsoft.com/office/drawing/2014/main" val="20000"/>
                    </a:ext>
                  </a:extLst>
                </a:gridCol>
                <a:gridCol w="3627120">
                  <a:extLst>
                    <a:ext uri="{9D8B030D-6E8A-4147-A177-3AD203B41FA5}">
                      <a16:colId xmlns:a16="http://schemas.microsoft.com/office/drawing/2014/main" val="20001"/>
                    </a:ext>
                  </a:extLst>
                </a:gridCol>
                <a:gridCol w="3627120">
                  <a:extLst>
                    <a:ext uri="{9D8B030D-6E8A-4147-A177-3AD203B41FA5}">
                      <a16:colId xmlns:a16="http://schemas.microsoft.com/office/drawing/2014/main" val="20002"/>
                    </a:ext>
                  </a:extLst>
                </a:gridCol>
              </a:tblGrid>
              <a:tr h="396240">
                <a:tc>
                  <a:txBody>
                    <a:bodyPr/>
                    <a:lstStyle/>
                    <a:p>
                      <a:r>
                        <a:rPr sz="1500" b="1">
                          <a:solidFill>
                            <a:srgbClr val="FFFFFF"/>
                          </a:solidFill>
                          <a:latin typeface="Calibri"/>
                        </a:rPr>
                        <a:t>Domain</a:t>
                      </a:r>
                    </a:p>
                  </a:txBody>
                  <a:tcPr marL="109728">
                    <a:solidFill>
                      <a:srgbClr val="2E6BE6"/>
                    </a:solidFill>
                  </a:tcPr>
                </a:tc>
                <a:tc>
                  <a:txBody>
                    <a:bodyPr/>
                    <a:lstStyle/>
                    <a:p>
                      <a:r>
                        <a:rPr sz="1500" b="1">
                          <a:solidFill>
                            <a:srgbClr val="FFFFFF"/>
                          </a:solidFill>
                          <a:latin typeface="Calibri"/>
                        </a:rPr>
                        <a:t>Naive claim</a:t>
                      </a:r>
                    </a:p>
                  </a:txBody>
                  <a:tcPr marL="109728">
                    <a:solidFill>
                      <a:srgbClr val="2E6BE6"/>
                    </a:solidFill>
                  </a:tcPr>
                </a:tc>
                <a:tc>
                  <a:txBody>
                    <a:bodyPr/>
                    <a:lstStyle/>
                    <a:p>
                      <a:r>
                        <a:rPr sz="1500" b="1">
                          <a:solidFill>
                            <a:srgbClr val="FFFFFF"/>
                          </a:solidFill>
                          <a:latin typeface="Calibri"/>
                        </a:rPr>
                        <a:t>What can go wrong</a:t>
                      </a:r>
                    </a:p>
                  </a:txBody>
                  <a:tcPr marL="109728">
                    <a:solidFill>
                      <a:srgbClr val="2E6BE6"/>
                    </a:solidFill>
                  </a:tcPr>
                </a:tc>
                <a:extLst>
                  <a:ext uri="{0D108BD9-81ED-4DB2-BD59-A6C34878D82A}">
                    <a16:rowId xmlns:a16="http://schemas.microsoft.com/office/drawing/2014/main" val="10000"/>
                  </a:ext>
                </a:extLst>
              </a:tr>
              <a:tr h="396240">
                <a:tc>
                  <a:txBody>
                    <a:bodyPr/>
                    <a:lstStyle/>
                    <a:p>
                      <a:r>
                        <a:rPr sz="1200" b="1">
                          <a:solidFill>
                            <a:srgbClr val="1A1D29"/>
                          </a:solidFill>
                          <a:latin typeface="Calibri"/>
                        </a:rPr>
                        <a:t>Ordering</a:t>
                      </a:r>
                    </a:p>
                  </a:txBody>
                  <a:tcPr marL="109728" marT="36576" marB="36576">
                    <a:solidFill>
                      <a:srgbClr val="FFFFFF"/>
                    </a:solidFill>
                  </a:tcPr>
                </a:tc>
                <a:tc>
                  <a:txBody>
                    <a:bodyPr/>
                    <a:lstStyle/>
                    <a:p>
                      <a:r>
                        <a:rPr sz="1200" b="0">
                          <a:solidFill>
                            <a:srgbClr val="5B6172"/>
                          </a:solidFill>
                          <a:latin typeface="Calibri"/>
                        </a:rPr>
                        <a:t>A before B</a:t>
                      </a:r>
                    </a:p>
                  </a:txBody>
                  <a:tcPr marL="109728" marT="36576" marB="36576">
                    <a:solidFill>
                      <a:srgbClr val="FFFFFF"/>
                    </a:solidFill>
                  </a:tcPr>
                </a:tc>
                <a:tc>
                  <a:txBody>
                    <a:bodyPr/>
                    <a:lstStyle/>
                    <a:p>
                      <a:r>
                        <a:rPr sz="1200" b="0">
                          <a:solidFill>
                            <a:srgbClr val="5B6172"/>
                          </a:solidFill>
                          <a:latin typeface="Calibri"/>
                        </a:rPr>
                        <a:t>intervals overlap → order is unknown</a:t>
                      </a:r>
                    </a:p>
                  </a:txBody>
                  <a:tcPr marL="109728" marT="36576" marB="36576">
                    <a:solidFill>
                      <a:srgbClr val="FFFFFF"/>
                    </a:solidFill>
                  </a:tcPr>
                </a:tc>
                <a:extLst>
                  <a:ext uri="{0D108BD9-81ED-4DB2-BD59-A6C34878D82A}">
                    <a16:rowId xmlns:a16="http://schemas.microsoft.com/office/drawing/2014/main" val="10001"/>
                  </a:ext>
                </a:extLst>
              </a:tr>
              <a:tr h="396240">
                <a:tc>
                  <a:txBody>
                    <a:bodyPr/>
                    <a:lstStyle/>
                    <a:p>
                      <a:r>
                        <a:rPr sz="1200" b="1">
                          <a:solidFill>
                            <a:srgbClr val="1A1D29"/>
                          </a:solidFill>
                          <a:latin typeface="Calibri"/>
                        </a:rPr>
                        <a:t>Causality</a:t>
                      </a:r>
                    </a:p>
                  </a:txBody>
                  <a:tcPr marL="109728" marT="36576" marB="36576">
                    <a:solidFill>
                      <a:srgbClr val="EDF1FB"/>
                    </a:solidFill>
                  </a:tcPr>
                </a:tc>
                <a:tc>
                  <a:txBody>
                    <a:bodyPr/>
                    <a:lstStyle/>
                    <a:p>
                      <a:r>
                        <a:rPr sz="1200" b="0">
                          <a:solidFill>
                            <a:srgbClr val="5B6172"/>
                          </a:solidFill>
                          <a:latin typeface="Calibri"/>
                        </a:rPr>
                        <a:t>A caused B</a:t>
                      </a:r>
                    </a:p>
                  </a:txBody>
                  <a:tcPr marL="109728" marT="36576" marB="36576">
                    <a:solidFill>
                      <a:srgbClr val="EDF1FB"/>
                    </a:solidFill>
                  </a:tcPr>
                </a:tc>
                <a:tc>
                  <a:txBody>
                    <a:bodyPr/>
                    <a:lstStyle/>
                    <a:p>
                      <a:r>
                        <a:rPr sz="1200" b="0">
                          <a:solidFill>
                            <a:srgbClr val="5B6172"/>
                          </a:solidFill>
                          <a:latin typeface="Calibri"/>
                        </a:rPr>
                        <a:t>off-by-one across nodes → false cause</a:t>
                      </a:r>
                    </a:p>
                  </a:txBody>
                  <a:tcPr marL="109728" marT="36576" marB="36576">
                    <a:solidFill>
                      <a:srgbClr val="EDF1FB"/>
                    </a:solidFill>
                  </a:tcPr>
                </a:tc>
                <a:extLst>
                  <a:ext uri="{0D108BD9-81ED-4DB2-BD59-A6C34878D82A}">
                    <a16:rowId xmlns:a16="http://schemas.microsoft.com/office/drawing/2014/main" val="10002"/>
                  </a:ext>
                </a:extLst>
              </a:tr>
              <a:tr h="396240">
                <a:tc>
                  <a:txBody>
                    <a:bodyPr/>
                    <a:lstStyle/>
                    <a:p>
                      <a:r>
                        <a:rPr sz="1200" b="1">
                          <a:solidFill>
                            <a:srgbClr val="1A1D29"/>
                          </a:solidFill>
                          <a:latin typeface="Calibri"/>
                        </a:rPr>
                        <a:t>Compliance</a:t>
                      </a:r>
                    </a:p>
                  </a:txBody>
                  <a:tcPr marL="109728" marT="36576" marB="36576">
                    <a:solidFill>
                      <a:srgbClr val="FFFFFF"/>
                    </a:solidFill>
                  </a:tcPr>
                </a:tc>
                <a:tc>
                  <a:txBody>
                    <a:bodyPr/>
                    <a:lstStyle/>
                    <a:p>
                      <a:r>
                        <a:rPr sz="1200" b="0">
                          <a:solidFill>
                            <a:srgbClr val="5B6172"/>
                          </a:solidFill>
                          <a:latin typeface="Calibri"/>
                        </a:rPr>
                        <a:t>log is ordered</a:t>
                      </a:r>
                    </a:p>
                  </a:txBody>
                  <a:tcPr marL="109728" marT="36576" marB="36576">
                    <a:solidFill>
                      <a:srgbClr val="FFFFFF"/>
                    </a:solidFill>
                  </a:tcPr>
                </a:tc>
                <a:tc>
                  <a:txBody>
                    <a:bodyPr/>
                    <a:lstStyle/>
                    <a:p>
                      <a:r>
                        <a:rPr sz="1200" b="0">
                          <a:solidFill>
                            <a:srgbClr val="5B6172"/>
                          </a:solidFill>
                          <a:latin typeface="Calibri"/>
                        </a:rPr>
                        <a:t>cannot prove ordering is defensible</a:t>
                      </a:r>
                    </a:p>
                  </a:txBody>
                  <a:tcPr marL="109728" marT="36576" marB="36576">
                    <a:solidFill>
                      <a:srgbClr val="FFFFFF"/>
                    </a:solidFill>
                  </a:tcPr>
                </a:tc>
                <a:extLst>
                  <a:ext uri="{0D108BD9-81ED-4DB2-BD59-A6C34878D82A}">
                    <a16:rowId xmlns:a16="http://schemas.microsoft.com/office/drawing/2014/main" val="10003"/>
                  </a:ext>
                </a:extLst>
              </a:tr>
              <a:tr h="396240">
                <a:tc>
                  <a:txBody>
                    <a:bodyPr/>
                    <a:lstStyle/>
                    <a:p>
                      <a:r>
                        <a:rPr sz="1200" b="1">
                          <a:solidFill>
                            <a:srgbClr val="1A1D29"/>
                          </a:solidFill>
                          <a:latin typeface="Calibri"/>
                        </a:rPr>
                        <a:t>Consistency</a:t>
                      </a:r>
                    </a:p>
                  </a:txBody>
                  <a:tcPr marL="109728" marT="36576" marB="36576">
                    <a:solidFill>
                      <a:srgbClr val="EDF1FB"/>
                    </a:solidFill>
                  </a:tcPr>
                </a:tc>
                <a:tc>
                  <a:txBody>
                    <a:bodyPr/>
                    <a:lstStyle/>
                    <a:p>
                      <a:r>
                        <a:rPr sz="1200" b="0">
                          <a:solidFill>
                            <a:srgbClr val="5B6172"/>
                          </a:solidFill>
                          <a:latin typeface="Calibri"/>
                        </a:rPr>
                        <a:t>commit A visible before B</a:t>
                      </a:r>
                    </a:p>
                  </a:txBody>
                  <a:tcPr marL="109728" marT="36576" marB="36576">
                    <a:solidFill>
                      <a:srgbClr val="EDF1FB"/>
                    </a:solidFill>
                  </a:tcPr>
                </a:tc>
                <a:tc>
                  <a:txBody>
                    <a:bodyPr/>
                    <a:lstStyle/>
                    <a:p>
                      <a:r>
                        <a:rPr sz="1200" b="0">
                          <a:solidFill>
                            <a:srgbClr val="5B6172"/>
                          </a:solidFill>
                          <a:latin typeface="Calibri"/>
                        </a:rPr>
                        <a:t>overlap breaks external consistency</a:t>
                      </a:r>
                    </a:p>
                  </a:txBody>
                  <a:tcPr marL="109728" marT="36576" marB="36576">
                    <a:solidFill>
                      <a:srgbClr val="EDF1FB"/>
                    </a:solidFill>
                  </a:tcPr>
                </a:tc>
                <a:extLst>
                  <a:ext uri="{0D108BD9-81ED-4DB2-BD59-A6C34878D82A}">
                    <a16:rowId xmlns:a16="http://schemas.microsoft.com/office/drawing/2014/main" val="10004"/>
                  </a:ext>
                </a:extLst>
              </a:tr>
              <a:tr h="396240">
                <a:tc>
                  <a:txBody>
                    <a:bodyPr/>
                    <a:lstStyle/>
                    <a:p>
                      <a:r>
                        <a:rPr sz="1200" b="1">
                          <a:solidFill>
                            <a:srgbClr val="1A1D29"/>
                          </a:solidFill>
                          <a:latin typeface="Calibri"/>
                        </a:rPr>
                        <a:t>Profiling</a:t>
                      </a:r>
                    </a:p>
                  </a:txBody>
                  <a:tcPr marL="109728" marT="36576" marB="36576">
                    <a:solidFill>
                      <a:srgbClr val="FFFFFF"/>
                    </a:solidFill>
                  </a:tcPr>
                </a:tc>
                <a:tc>
                  <a:txBody>
                    <a:bodyPr/>
                    <a:lstStyle/>
                    <a:p>
                      <a:r>
                        <a:rPr sz="1200" b="0">
                          <a:solidFill>
                            <a:srgbClr val="5B6172"/>
                          </a:solidFill>
                          <a:latin typeface="Calibri"/>
                        </a:rPr>
                        <a:t>span A nested in span B</a:t>
                      </a:r>
                    </a:p>
                  </a:txBody>
                  <a:tcPr marL="109728" marT="36576" marB="36576">
                    <a:solidFill>
                      <a:srgbClr val="FFFFFF"/>
                    </a:solidFill>
                  </a:tcPr>
                </a:tc>
                <a:tc>
                  <a:txBody>
                    <a:bodyPr/>
                    <a:lstStyle/>
                    <a:p>
                      <a:r>
                        <a:rPr sz="1200" b="0">
                          <a:solidFill>
                            <a:srgbClr val="5B6172"/>
                          </a:solidFill>
                          <a:latin typeface="Calibri"/>
                        </a:rPr>
                        <a:t>cross-node spans misorder</a:t>
                      </a:r>
                    </a:p>
                  </a:txBody>
                  <a:tcPr marL="109728" marT="36576" marB="36576">
                    <a:solidFill>
                      <a:srgbClr val="FFFFFF"/>
                    </a:solidFill>
                  </a:tcPr>
                </a:tc>
                <a:extLst>
                  <a:ext uri="{0D108BD9-81ED-4DB2-BD59-A6C34878D82A}">
                    <a16:rowId xmlns:a16="http://schemas.microsoft.com/office/drawing/2014/main" val="10005"/>
                  </a:ext>
                </a:extLst>
              </a:tr>
              <a:tr h="396240">
                <a:tc>
                  <a:txBody>
                    <a:bodyPr/>
                    <a:lstStyle/>
                    <a:p>
                      <a:r>
                        <a:rPr sz="1200" b="1">
                          <a:solidFill>
                            <a:srgbClr val="1A1D29"/>
                          </a:solidFill>
                          <a:latin typeface="Calibri"/>
                        </a:rPr>
                        <a:t>Leases / locks</a:t>
                      </a:r>
                    </a:p>
                  </a:txBody>
                  <a:tcPr marL="109728" marT="36576" marB="36576">
                    <a:solidFill>
                      <a:srgbClr val="EDF1FB"/>
                    </a:solidFill>
                  </a:tcPr>
                </a:tc>
                <a:tc>
                  <a:txBody>
                    <a:bodyPr/>
                    <a:lstStyle/>
                    <a:p>
                      <a:r>
                        <a:rPr sz="1200" b="0">
                          <a:solidFill>
                            <a:srgbClr val="5B6172"/>
                          </a:solidFill>
                          <a:latin typeface="Calibri"/>
                        </a:rPr>
                        <a:t>lease expired before regrant</a:t>
                      </a:r>
                    </a:p>
                  </a:txBody>
                  <a:tcPr marL="109728" marT="36576" marB="36576">
                    <a:solidFill>
                      <a:srgbClr val="EDF1FB"/>
                    </a:solidFill>
                  </a:tcPr>
                </a:tc>
                <a:tc>
                  <a:txBody>
                    <a:bodyPr/>
                    <a:lstStyle/>
                    <a:p>
                      <a:r>
                        <a:rPr sz="1200" b="0">
                          <a:solidFill>
                            <a:srgbClr val="5B6172"/>
                          </a:solidFill>
                          <a:latin typeface="Calibri"/>
                        </a:rPr>
                        <a:t>overlap → split brain / two leaders</a:t>
                      </a:r>
                    </a:p>
                  </a:txBody>
                  <a:tcPr marL="109728" marT="36576" marB="36576">
                    <a:solidFill>
                      <a:srgbClr val="EDF1FB"/>
                    </a:solidFill>
                  </a:tcPr>
                </a:tc>
                <a:extLst>
                  <a:ext uri="{0D108BD9-81ED-4DB2-BD59-A6C34878D82A}">
                    <a16:rowId xmlns:a16="http://schemas.microsoft.com/office/drawing/2014/main" val="10006"/>
                  </a:ext>
                </a:extLst>
              </a:tr>
              <a:tr h="396240">
                <a:tc>
                  <a:txBody>
                    <a:bodyPr/>
                    <a:lstStyle/>
                    <a:p>
                      <a:r>
                        <a:rPr sz="1200" b="1">
                          <a:solidFill>
                            <a:srgbClr val="1A1D29"/>
                          </a:solidFill>
                          <a:latin typeface="Calibri"/>
                        </a:rPr>
                        <a:t>Telemetry</a:t>
                      </a:r>
                    </a:p>
                  </a:txBody>
                  <a:tcPr marL="109728" marT="36576" marB="36576">
                    <a:solidFill>
                      <a:srgbClr val="FFFFFF"/>
                    </a:solidFill>
                  </a:tcPr>
                </a:tc>
                <a:tc>
                  <a:txBody>
                    <a:bodyPr/>
                    <a:lstStyle/>
                    <a:p>
                      <a:r>
                        <a:rPr sz="1200" b="0">
                          <a:solidFill>
                            <a:srgbClr val="5B6172"/>
                          </a:solidFill>
                          <a:latin typeface="Calibri"/>
                        </a:rPr>
                        <a:t>counters sampled together</a:t>
                      </a:r>
                    </a:p>
                  </a:txBody>
                  <a:tcPr marL="109728" marT="36576" marB="36576">
                    <a:solidFill>
                      <a:srgbClr val="FFFFFF"/>
                    </a:solidFill>
                  </a:tcPr>
                </a:tc>
                <a:tc>
                  <a:txBody>
                    <a:bodyPr/>
                    <a:lstStyle/>
                    <a:p>
                      <a:r>
                        <a:rPr sz="1200" b="0">
                          <a:solidFill>
                            <a:srgbClr val="5B6172"/>
                          </a:solidFill>
                          <a:latin typeface="Calibri"/>
                        </a:rPr>
                        <a:t>inter-node skew → phantom correlations</a:t>
                      </a:r>
                    </a:p>
                  </a:txBody>
                  <a:tcPr marL="109728" marT="36576" marB="36576">
                    <a:solidFill>
                      <a:srgbClr val="FFFFFF"/>
                    </a:solidFill>
                  </a:tcPr>
                </a:tc>
                <a:extLst>
                  <a:ext uri="{0D108BD9-81ED-4DB2-BD59-A6C34878D82A}">
                    <a16:rowId xmlns:a16="http://schemas.microsoft.com/office/drawing/2014/main" val="10007"/>
                  </a:ext>
                </a:extLst>
              </a:tr>
              <a:tr h="396240">
                <a:tc>
                  <a:txBody>
                    <a:bodyPr/>
                    <a:lstStyle/>
                    <a:p>
                      <a:r>
                        <a:rPr sz="1200" b="1">
                          <a:solidFill>
                            <a:srgbClr val="1A1D29"/>
                          </a:solidFill>
                          <a:latin typeface="Calibri"/>
                        </a:rPr>
                        <a:t>Forensics</a:t>
                      </a:r>
                    </a:p>
                  </a:txBody>
                  <a:tcPr marL="109728" marT="36576" marB="36576">
                    <a:solidFill>
                      <a:srgbClr val="EDF1FB"/>
                    </a:solidFill>
                  </a:tcPr>
                </a:tc>
                <a:tc>
                  <a:txBody>
                    <a:bodyPr/>
                    <a:lstStyle/>
                    <a:p>
                      <a:r>
                        <a:rPr sz="1200" b="0">
                          <a:solidFill>
                            <a:srgbClr val="5B6172"/>
                          </a:solidFill>
                          <a:latin typeface="Calibri"/>
                        </a:rPr>
                        <a:t>log A caused log B</a:t>
                      </a:r>
                    </a:p>
                  </a:txBody>
                  <a:tcPr marL="109728" marT="36576" marB="36576">
                    <a:solidFill>
                      <a:srgbClr val="EDF1FB"/>
                    </a:solidFill>
                  </a:tcPr>
                </a:tc>
                <a:tc>
                  <a:txBody>
                    <a:bodyPr/>
                    <a:lstStyle/>
                    <a:p>
                      <a:r>
                        <a:rPr sz="1200" b="0">
                          <a:solidFill>
                            <a:srgbClr val="5B6172"/>
                          </a:solidFill>
                          <a:latin typeface="Calibri"/>
                        </a:rPr>
                        <a:t>causal chain is indefensible</a:t>
                      </a:r>
                    </a:p>
                  </a:txBody>
                  <a:tcPr marL="109728" marT="36576" marB="36576">
                    <a:solidFill>
                      <a:srgbClr val="EDF1FB"/>
                    </a:solidFill>
                  </a:tcPr>
                </a:tc>
                <a:extLst>
                  <a:ext uri="{0D108BD9-81ED-4DB2-BD59-A6C34878D82A}">
                    <a16:rowId xmlns:a16="http://schemas.microsoft.com/office/drawing/2014/main" val="10008"/>
                  </a:ext>
                </a:extLst>
              </a:tr>
              <a:tr h="396240">
                <a:tc>
                  <a:txBody>
                    <a:bodyPr/>
                    <a:lstStyle/>
                    <a:p>
                      <a:r>
                        <a:rPr sz="1200" b="1">
                          <a:solidFill>
                            <a:srgbClr val="1A1D29"/>
                          </a:solidFill>
                          <a:latin typeface="Calibri"/>
                        </a:rPr>
                        <a:t>Sensor fusion</a:t>
                      </a:r>
                    </a:p>
                  </a:txBody>
                  <a:tcPr marL="109728" marT="36576" marB="36576">
                    <a:solidFill>
                      <a:srgbClr val="FFFFFF"/>
                    </a:solidFill>
                  </a:tcPr>
                </a:tc>
                <a:tc>
                  <a:txBody>
                    <a:bodyPr/>
                    <a:lstStyle/>
                    <a:p>
                      <a:r>
                        <a:rPr sz="1200" b="0">
                          <a:solidFill>
                            <a:srgbClr val="5B6172"/>
                          </a:solidFill>
                          <a:latin typeface="Calibri"/>
                        </a:rPr>
                        <a:t>radar + camera aligned</a:t>
                      </a:r>
                    </a:p>
                  </a:txBody>
                  <a:tcPr marL="109728" marT="36576" marB="36576">
                    <a:solidFill>
                      <a:srgbClr val="FFFFFF"/>
                    </a:solidFill>
                  </a:tcPr>
                </a:tc>
                <a:tc>
                  <a:txBody>
                    <a:bodyPr/>
                    <a:lstStyle/>
                    <a:p>
                      <a:r>
                        <a:rPr sz="1200" b="0">
                          <a:solidFill>
                            <a:srgbClr val="5B6172"/>
                          </a:solidFill>
                          <a:latin typeface="Calibri"/>
                        </a:rPr>
                        <a:t>physical-world misalignment</a:t>
                      </a:r>
                    </a:p>
                  </a:txBody>
                  <a:tcPr marL="109728" marT="36576" marB="36576">
                    <a:solidFill>
                      <a:srgbClr val="FFFFFF"/>
                    </a:solidFill>
                  </a:tcPr>
                </a:tc>
                <a:extLst>
                  <a:ext uri="{0D108BD9-81ED-4DB2-BD59-A6C34878D82A}">
                    <a16:rowId xmlns:a16="http://schemas.microsoft.com/office/drawing/2014/main" val="10009"/>
                  </a:ext>
                </a:extLst>
              </a:tr>
              <a:tr h="396240">
                <a:tc>
                  <a:txBody>
                    <a:bodyPr/>
                    <a:lstStyle/>
                    <a:p>
                      <a:r>
                        <a:rPr sz="1200" b="1">
                          <a:solidFill>
                            <a:srgbClr val="1A1D29"/>
                          </a:solidFill>
                          <a:latin typeface="Calibri"/>
                        </a:rPr>
                        <a:t>Finance</a:t>
                      </a:r>
                    </a:p>
                  </a:txBody>
                  <a:tcPr marL="109728" marT="36576" marB="36576">
                    <a:solidFill>
                      <a:srgbClr val="EDF1FB"/>
                    </a:solidFill>
                  </a:tcPr>
                </a:tc>
                <a:tc>
                  <a:txBody>
                    <a:bodyPr/>
                    <a:lstStyle/>
                    <a:p>
                      <a:r>
                        <a:rPr sz="1200" b="0">
                          <a:solidFill>
                            <a:srgbClr val="5B6172"/>
                          </a:solidFill>
                          <a:latin typeface="Calibri"/>
                        </a:rPr>
                        <a:t>trade timestamped correctly</a:t>
                      </a:r>
                    </a:p>
                  </a:txBody>
                  <a:tcPr marL="109728" marT="36576" marB="36576">
                    <a:solidFill>
                      <a:srgbClr val="EDF1FB"/>
                    </a:solidFill>
                  </a:tcPr>
                </a:tc>
                <a:tc>
                  <a:txBody>
                    <a:bodyPr/>
                    <a:lstStyle/>
                    <a:p>
                      <a:r>
                        <a:rPr sz="1200" b="0">
                          <a:solidFill>
                            <a:srgbClr val="5B6172"/>
                          </a:solidFill>
                          <a:latin typeface="Calibri"/>
                        </a:rPr>
                        <a:t>can't prove mandated window (MiFID II)</a:t>
                      </a:r>
                    </a:p>
                  </a:txBody>
                  <a:tcPr marL="109728" marT="36576" marB="36576">
                    <a:solidFill>
                      <a:srgbClr val="EDF1FB"/>
                    </a:solidFill>
                  </a:tcPr>
                </a:tc>
                <a:extLst>
                  <a:ext uri="{0D108BD9-81ED-4DB2-BD59-A6C34878D82A}">
                    <a16:rowId xmlns:a16="http://schemas.microsoft.com/office/drawing/2014/main" val="10010"/>
                  </a:ext>
                </a:extLst>
              </a:tr>
              <a:tr h="396240">
                <a:tc>
                  <a:txBody>
                    <a:bodyPr/>
                    <a:lstStyle/>
                    <a:p>
                      <a:r>
                        <a:rPr sz="1200" b="1">
                          <a:solidFill>
                            <a:srgbClr val="1A1D29"/>
                          </a:solidFill>
                          <a:latin typeface="Calibri"/>
                        </a:rPr>
                        <a:t>Launch time load balancing</a:t>
                      </a:r>
                    </a:p>
                  </a:txBody>
                  <a:tcPr marL="109728" marT="36576" marB="36576">
                    <a:solidFill>
                      <a:srgbClr val="FFFFFF"/>
                    </a:solidFill>
                  </a:tcPr>
                </a:tc>
                <a:tc>
                  <a:txBody>
                    <a:bodyPr/>
                    <a:lstStyle/>
                    <a:p>
                      <a:r>
                        <a:rPr sz="1200" b="0">
                          <a:solidFill>
                            <a:srgbClr val="5B6172"/>
                          </a:solidFill>
                          <a:latin typeface="Calibri"/>
                        </a:rPr>
                        <a:t>packets will have their dedicated slots</a:t>
                      </a:r>
                    </a:p>
                  </a:txBody>
                  <a:tcPr marL="109728" marT="36576" marB="36576">
                    <a:solidFill>
                      <a:srgbClr val="FFFFFF"/>
                    </a:solidFill>
                  </a:tcPr>
                </a:tc>
                <a:tc>
                  <a:txBody>
                    <a:bodyPr/>
                    <a:lstStyle/>
                    <a:p>
                      <a:r>
                        <a:rPr sz="1200" b="0">
                          <a:solidFill>
                            <a:srgbClr val="5B6172"/>
                          </a:solidFill>
                          <a:latin typeface="Calibri"/>
                        </a:rPr>
                        <a:t>packet collisions</a:t>
                      </a:r>
                    </a:p>
                  </a:txBody>
                  <a:tcPr marL="109728" marT="36576" marB="36576">
                    <a:solidFill>
                      <a:srgbClr val="FFFFFF"/>
                    </a:solidFill>
                  </a:tcPr>
                </a:tc>
                <a:extLst>
                  <a:ext uri="{0D108BD9-81ED-4DB2-BD59-A6C34878D82A}">
                    <a16:rowId xmlns:a16="http://schemas.microsoft.com/office/drawing/2014/main" val="10011"/>
                  </a:ext>
                </a:extLst>
              </a:tr>
            </a:tbl>
          </a:graphicData>
        </a:graphic>
      </p:graphicFrame>
      <p:sp>
        <p:nvSpPr>
          <p:cNvPr id="6" name="Rectangle 5"/>
          <p:cNvSpPr/>
          <p:nvPr/>
        </p:nvSpPr>
        <p:spPr>
          <a:xfrm>
            <a:off x="0" y="6601968"/>
            <a:ext cx="12191695" cy="256032"/>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83680"/>
            <a:ext cx="8229600" cy="256032"/>
          </a:xfrm>
          <a:prstGeom prst="rect">
            <a:avLst/>
          </a:prstGeom>
          <a:noFill/>
        </p:spPr>
        <p:txBody>
          <a:bodyPr wrap="square" lIns="0" tIns="0" rIns="0" bIns="0" anchor="ctr">
            <a:spAutoFit/>
          </a:bodyPr>
          <a:lstStyle/>
          <a:p>
            <a:pPr algn="l">
              <a:spcBef>
                <a:spcPts val="0"/>
              </a:spcBef>
              <a:spcAft>
                <a:spcPts val="600"/>
              </a:spcAft>
            </a:pPr>
            <a:r>
              <a:rPr sz="1000" b="0" i="0">
                <a:solidFill>
                  <a:srgbClr val="FFFFFF"/>
                </a:solidFill>
                <a:latin typeface="Calibri"/>
              </a:rPr>
              <a:t>Time Uncertainty as a First-Class Concept</a:t>
            </a:r>
          </a:p>
        </p:txBody>
      </p:sp>
      <p:sp>
        <p:nvSpPr>
          <p:cNvPr id="8" name="TextBox 7"/>
          <p:cNvSpPr txBox="1"/>
          <p:nvPr/>
        </p:nvSpPr>
        <p:spPr>
          <a:xfrm>
            <a:off x="11002975" y="6583680"/>
            <a:ext cx="731520" cy="256032"/>
          </a:xfrm>
          <a:prstGeom prst="rect">
            <a:avLst/>
          </a:prstGeom>
          <a:noFill/>
        </p:spPr>
        <p:txBody>
          <a:bodyPr wrap="square" lIns="0" tIns="0" rIns="0" bIns="0" anchor="ctr">
            <a:spAutoFit/>
          </a:bodyPr>
          <a:lstStyle/>
          <a:p>
            <a:pPr algn="r">
              <a:spcBef>
                <a:spcPts val="0"/>
              </a:spcBef>
              <a:spcAft>
                <a:spcPts val="600"/>
              </a:spcAft>
            </a:pPr>
            <a:r>
              <a:rPr sz="1000" b="1" i="0">
                <a:solidFill>
                  <a:srgbClr val="FFFFFF"/>
                </a:solidFill>
                <a:latin typeface="Calibri"/>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DF1FB"/>
        </a:solidFill>
        <a:effectLst/>
      </p:bgPr>
    </p:bg>
    <p:spTree>
      <p:nvGrpSpPr>
        <p:cNvPr id="1" name=""/>
        <p:cNvGrpSpPr/>
        <p:nvPr/>
      </p:nvGrpSpPr>
      <p:grpSpPr>
        <a:xfrm>
          <a:off x="0" y="0"/>
          <a:ext cx="0" cy="0"/>
          <a:chOff x="0" y="0"/>
          <a:chExt cx="0" cy="0"/>
        </a:xfrm>
      </p:grpSpPr>
      <p:sp>
        <p:nvSpPr>
          <p:cNvPr id="2" name="Rectangle 1"/>
          <p:cNvSpPr/>
          <p:nvPr/>
        </p:nvSpPr>
        <p:spPr>
          <a:xfrm>
            <a:off x="822960" y="932688"/>
            <a:ext cx="2377440" cy="91440"/>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1078992"/>
            <a:ext cx="10698480" cy="914400"/>
          </a:xfrm>
          <a:prstGeom prst="rect">
            <a:avLst/>
          </a:prstGeom>
          <a:noFill/>
        </p:spPr>
        <p:txBody>
          <a:bodyPr wrap="square" lIns="0" tIns="0" rIns="0" bIns="0" anchor="t">
            <a:spAutoFit/>
          </a:bodyPr>
          <a:lstStyle/>
          <a:p>
            <a:pPr algn="l">
              <a:spcBef>
                <a:spcPts val="0"/>
              </a:spcBef>
              <a:spcAft>
                <a:spcPts val="600"/>
              </a:spcAft>
            </a:pPr>
            <a:r>
              <a:rPr sz="3000" b="1" i="0">
                <a:solidFill>
                  <a:srgbClr val="1A1D29"/>
                </a:solidFill>
                <a:latin typeface="Calibri"/>
              </a:rPr>
              <a:t>Two events 200 ns apart, each known to ±150 ns.</a:t>
            </a:r>
          </a:p>
        </p:txBody>
      </p:sp>
      <p:sp>
        <p:nvSpPr>
          <p:cNvPr id="4" name="Rectangle 3"/>
          <p:cNvSpPr/>
          <p:nvPr/>
        </p:nvSpPr>
        <p:spPr>
          <a:xfrm>
            <a:off x="5349230" y="2697480"/>
            <a:ext cx="1188700" cy="1920240"/>
          </a:xfrm>
          <a:prstGeom prst="rect">
            <a:avLst/>
          </a:prstGeom>
          <a:solidFill>
            <a:srgbClr val="FBE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349230" y="2743200"/>
            <a:ext cx="1188700" cy="365760"/>
          </a:xfrm>
          <a:prstGeom prst="rect">
            <a:avLst/>
          </a:prstGeom>
          <a:noFill/>
        </p:spPr>
        <p:txBody>
          <a:bodyPr wrap="square" lIns="0" tIns="0" rIns="0" bIns="0" anchor="ctr">
            <a:spAutoFit/>
          </a:bodyPr>
          <a:lstStyle/>
          <a:p>
            <a:pPr algn="ctr">
              <a:spcBef>
                <a:spcPts val="0"/>
              </a:spcBef>
              <a:spcAft>
                <a:spcPts val="600"/>
              </a:spcAft>
            </a:pPr>
            <a:r>
              <a:rPr sz="1400" b="1" i="0" dirty="0">
                <a:solidFill>
                  <a:srgbClr val="B4760A"/>
                </a:solidFill>
                <a:latin typeface="Calibri"/>
              </a:rPr>
              <a:t>overlap</a:t>
            </a:r>
          </a:p>
        </p:txBody>
      </p:sp>
      <p:sp>
        <p:nvSpPr>
          <p:cNvPr id="6" name="Rectangle 5"/>
          <p:cNvSpPr/>
          <p:nvPr/>
        </p:nvSpPr>
        <p:spPr>
          <a:xfrm>
            <a:off x="2377480" y="4617720"/>
            <a:ext cx="7132200" cy="25400"/>
          </a:xfrm>
          <a:prstGeom prst="rect">
            <a:avLst/>
          </a:prstGeom>
          <a:solidFill>
            <a:srgbClr val="5B61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754880" y="3063240"/>
            <a:ext cx="19050" cy="1554480"/>
          </a:xfrm>
          <a:prstGeom prst="rect">
            <a:avLst/>
          </a:prstGeom>
          <a:solidFill>
            <a:srgbClr val="C2C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971830" y="2980944"/>
            <a:ext cx="3566100" cy="164592"/>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971830" y="2898648"/>
            <a:ext cx="50800" cy="329184"/>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87130" y="2898648"/>
            <a:ext cx="50800" cy="329184"/>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716780" y="2852928"/>
            <a:ext cx="76200" cy="420624"/>
          </a:xfrm>
          <a:prstGeom prst="rect">
            <a:avLst/>
          </a:prstGeom>
          <a:solidFill>
            <a:srgbClr val="1A1D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404902" y="2880360"/>
            <a:ext cx="457200" cy="365760"/>
          </a:xfrm>
          <a:prstGeom prst="rect">
            <a:avLst/>
          </a:prstGeom>
          <a:noFill/>
        </p:spPr>
        <p:txBody>
          <a:bodyPr wrap="square" lIns="0" tIns="0" rIns="0" bIns="0" anchor="ctr">
            <a:spAutoFit/>
          </a:bodyPr>
          <a:lstStyle/>
          <a:p>
            <a:pPr algn="ctr">
              <a:spcBef>
                <a:spcPts val="0"/>
              </a:spcBef>
              <a:spcAft>
                <a:spcPts val="600"/>
              </a:spcAft>
            </a:pPr>
            <a:r>
              <a:rPr sz="1800" b="1" i="0">
                <a:solidFill>
                  <a:srgbClr val="2E6BE6"/>
                </a:solidFill>
                <a:latin typeface="Calibri"/>
              </a:rPr>
              <a:t>A</a:t>
            </a:r>
          </a:p>
        </p:txBody>
      </p:sp>
      <p:sp>
        <p:nvSpPr>
          <p:cNvPr id="13" name="Rectangle 12"/>
          <p:cNvSpPr/>
          <p:nvPr/>
        </p:nvSpPr>
        <p:spPr>
          <a:xfrm>
            <a:off x="7132280" y="3977639"/>
            <a:ext cx="19050" cy="640081"/>
          </a:xfrm>
          <a:prstGeom prst="rect">
            <a:avLst/>
          </a:prstGeom>
          <a:solidFill>
            <a:srgbClr val="C2C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349230" y="3895343"/>
            <a:ext cx="3566100" cy="164592"/>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349230" y="3813047"/>
            <a:ext cx="50800" cy="329184"/>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864530" y="3813047"/>
            <a:ext cx="50800" cy="329184"/>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094180" y="3767327"/>
            <a:ext cx="76200" cy="420624"/>
          </a:xfrm>
          <a:prstGeom prst="rect">
            <a:avLst/>
          </a:prstGeom>
          <a:solidFill>
            <a:srgbClr val="1A1D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782302" y="3794759"/>
            <a:ext cx="457200" cy="365760"/>
          </a:xfrm>
          <a:prstGeom prst="rect">
            <a:avLst/>
          </a:prstGeom>
          <a:noFill/>
        </p:spPr>
        <p:txBody>
          <a:bodyPr wrap="square" lIns="0" tIns="0" rIns="0" bIns="0" anchor="ctr">
            <a:spAutoFit/>
          </a:bodyPr>
          <a:lstStyle/>
          <a:p>
            <a:pPr algn="ctr">
              <a:spcBef>
                <a:spcPts val="0"/>
              </a:spcBef>
              <a:spcAft>
                <a:spcPts val="600"/>
              </a:spcAft>
            </a:pPr>
            <a:r>
              <a:rPr sz="1800" b="1" i="0">
                <a:solidFill>
                  <a:srgbClr val="14B8A6"/>
                </a:solidFill>
                <a:latin typeface="Calibri"/>
              </a:rPr>
              <a:t>B</a:t>
            </a:r>
          </a:p>
        </p:txBody>
      </p:sp>
      <p:sp>
        <p:nvSpPr>
          <p:cNvPr id="19" name="Rectangle 18"/>
          <p:cNvSpPr/>
          <p:nvPr/>
        </p:nvSpPr>
        <p:spPr>
          <a:xfrm>
            <a:off x="2971830" y="3246120"/>
            <a:ext cx="3566100" cy="19050"/>
          </a:xfrm>
          <a:prstGeom prst="rect">
            <a:avLst/>
          </a:prstGeom>
          <a:solidFill>
            <a:srgbClr val="5B61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971830" y="3209544"/>
            <a:ext cx="19050" cy="100584"/>
          </a:xfrm>
          <a:prstGeom prst="rect">
            <a:avLst/>
          </a:prstGeom>
          <a:solidFill>
            <a:srgbClr val="5B61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754880" y="3209544"/>
            <a:ext cx="19050" cy="100584"/>
          </a:xfrm>
          <a:prstGeom prst="rect">
            <a:avLst/>
          </a:prstGeom>
          <a:solidFill>
            <a:srgbClr val="5B61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537930" y="3209544"/>
            <a:ext cx="19050" cy="100584"/>
          </a:xfrm>
          <a:prstGeom prst="rect">
            <a:avLst/>
          </a:prstGeom>
          <a:solidFill>
            <a:srgbClr val="5B61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971830" y="3291840"/>
            <a:ext cx="1783050" cy="274320"/>
          </a:xfrm>
          <a:prstGeom prst="rect">
            <a:avLst/>
          </a:prstGeom>
          <a:noFill/>
        </p:spPr>
        <p:txBody>
          <a:bodyPr wrap="square" lIns="0" tIns="0" rIns="0" bIns="0" anchor="ctr">
            <a:spAutoFit/>
          </a:bodyPr>
          <a:lstStyle/>
          <a:p>
            <a:pPr algn="ctr">
              <a:spcBef>
                <a:spcPts val="0"/>
              </a:spcBef>
              <a:spcAft>
                <a:spcPts val="600"/>
              </a:spcAft>
            </a:pPr>
            <a:r>
              <a:rPr sz="1200" b="0" i="1">
                <a:solidFill>
                  <a:srgbClr val="1A1D29"/>
                </a:solidFill>
                <a:latin typeface="Calibri"/>
              </a:rPr>
              <a:t>150 ns</a:t>
            </a:r>
          </a:p>
        </p:txBody>
      </p:sp>
      <p:sp>
        <p:nvSpPr>
          <p:cNvPr id="24" name="TextBox 23"/>
          <p:cNvSpPr txBox="1"/>
          <p:nvPr/>
        </p:nvSpPr>
        <p:spPr>
          <a:xfrm>
            <a:off x="4754880" y="3291840"/>
            <a:ext cx="1783050" cy="274320"/>
          </a:xfrm>
          <a:prstGeom prst="rect">
            <a:avLst/>
          </a:prstGeom>
          <a:noFill/>
        </p:spPr>
        <p:txBody>
          <a:bodyPr wrap="square" lIns="0" tIns="0" rIns="0" bIns="0" anchor="ctr">
            <a:spAutoFit/>
          </a:bodyPr>
          <a:lstStyle/>
          <a:p>
            <a:pPr algn="ctr">
              <a:spcBef>
                <a:spcPts val="0"/>
              </a:spcBef>
              <a:spcAft>
                <a:spcPts val="600"/>
              </a:spcAft>
            </a:pPr>
            <a:r>
              <a:rPr sz="1200" b="0" i="1">
                <a:solidFill>
                  <a:srgbClr val="1A1D29"/>
                </a:solidFill>
                <a:latin typeface="Calibri"/>
              </a:rPr>
              <a:t>150 ns</a:t>
            </a:r>
          </a:p>
        </p:txBody>
      </p:sp>
      <p:sp>
        <p:nvSpPr>
          <p:cNvPr id="25" name="TextBox 24"/>
          <p:cNvSpPr txBox="1"/>
          <p:nvPr/>
        </p:nvSpPr>
        <p:spPr>
          <a:xfrm>
            <a:off x="4754880" y="5029200"/>
            <a:ext cx="2377400" cy="320040"/>
          </a:xfrm>
          <a:prstGeom prst="rect">
            <a:avLst/>
          </a:prstGeom>
          <a:noFill/>
        </p:spPr>
        <p:txBody>
          <a:bodyPr wrap="square" lIns="0" tIns="0" rIns="0" bIns="0" anchor="ctr">
            <a:spAutoFit/>
          </a:bodyPr>
          <a:lstStyle/>
          <a:p>
            <a:pPr algn="ctr">
              <a:spcBef>
                <a:spcPts val="0"/>
              </a:spcBef>
              <a:spcAft>
                <a:spcPts val="600"/>
              </a:spcAft>
            </a:pPr>
            <a:r>
              <a:rPr sz="1400" b="1" i="0">
                <a:solidFill>
                  <a:srgbClr val="1A1D29"/>
                </a:solidFill>
                <a:latin typeface="Calibri"/>
              </a:rPr>
              <a:t>←  200 ns apart  →</a:t>
            </a:r>
          </a:p>
        </p:txBody>
      </p:sp>
      <p:sp>
        <p:nvSpPr>
          <p:cNvPr id="26" name="TextBox 25"/>
          <p:cNvSpPr txBox="1"/>
          <p:nvPr/>
        </p:nvSpPr>
        <p:spPr>
          <a:xfrm>
            <a:off x="841248" y="5623560"/>
            <a:ext cx="10698480" cy="822960"/>
          </a:xfrm>
          <a:prstGeom prst="rect">
            <a:avLst/>
          </a:prstGeom>
          <a:noFill/>
        </p:spPr>
        <p:txBody>
          <a:bodyPr wrap="square" lIns="0" tIns="0" rIns="0" bIns="0" anchor="t">
            <a:spAutoFit/>
          </a:bodyPr>
          <a:lstStyle/>
          <a:p>
            <a:pPr algn="l">
              <a:spcBef>
                <a:spcPts val="0"/>
              </a:spcBef>
              <a:spcAft>
                <a:spcPts val="600"/>
              </a:spcAft>
            </a:pPr>
            <a:r>
              <a:rPr sz="2000" b="0" i="1" dirty="0">
                <a:solidFill>
                  <a:srgbClr val="5B6172"/>
                </a:solidFill>
                <a:latin typeface="Calibri"/>
              </a:rPr>
              <a:t>Their true order is unknown — and nothing in the timestamp told you so.</a:t>
            </a:r>
          </a:p>
        </p:txBody>
      </p:sp>
      <p:sp>
        <p:nvSpPr>
          <p:cNvPr id="27" name="Rectangle 26"/>
          <p:cNvSpPr/>
          <p:nvPr/>
        </p:nvSpPr>
        <p:spPr>
          <a:xfrm>
            <a:off x="0" y="6601968"/>
            <a:ext cx="12191695" cy="256032"/>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57200" y="6583680"/>
            <a:ext cx="8229600" cy="256032"/>
          </a:xfrm>
          <a:prstGeom prst="rect">
            <a:avLst/>
          </a:prstGeom>
          <a:noFill/>
        </p:spPr>
        <p:txBody>
          <a:bodyPr wrap="square" lIns="0" tIns="0" rIns="0" bIns="0" anchor="ctr">
            <a:spAutoFit/>
          </a:bodyPr>
          <a:lstStyle/>
          <a:p>
            <a:pPr algn="l">
              <a:spcBef>
                <a:spcPts val="0"/>
              </a:spcBef>
              <a:spcAft>
                <a:spcPts val="600"/>
              </a:spcAft>
            </a:pPr>
            <a:r>
              <a:rPr sz="1000" b="0" i="0">
                <a:solidFill>
                  <a:srgbClr val="FFFFFF"/>
                </a:solidFill>
                <a:latin typeface="Calibri"/>
              </a:rPr>
              <a:t>Time Uncertainty as a First-Class Concept</a:t>
            </a:r>
          </a:p>
        </p:txBody>
      </p:sp>
      <p:sp>
        <p:nvSpPr>
          <p:cNvPr id="29" name="TextBox 28"/>
          <p:cNvSpPr txBox="1"/>
          <p:nvPr/>
        </p:nvSpPr>
        <p:spPr>
          <a:xfrm>
            <a:off x="11002975" y="6583680"/>
            <a:ext cx="731520" cy="256032"/>
          </a:xfrm>
          <a:prstGeom prst="rect">
            <a:avLst/>
          </a:prstGeom>
          <a:noFill/>
        </p:spPr>
        <p:txBody>
          <a:bodyPr wrap="square" lIns="0" tIns="0" rIns="0" bIns="0" anchor="ctr">
            <a:spAutoFit/>
          </a:bodyPr>
          <a:lstStyle/>
          <a:p>
            <a:pPr algn="r">
              <a:spcBef>
                <a:spcPts val="0"/>
              </a:spcBef>
              <a:spcAft>
                <a:spcPts val="600"/>
              </a:spcAft>
            </a:pPr>
            <a:r>
              <a:rPr sz="1000" b="1" i="0">
                <a:solidFill>
                  <a:srgbClr val="FFFFFF"/>
                </a:solidFill>
                <a:latin typeface="Calibri"/>
              </a:rPr>
              <a:t>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
                                        </p:tgtEl>
                                        <p:attrNameLst>
                                          <p:attrName>style.visibility</p:attrName>
                                        </p:attrNameLst>
                                      </p:cBhvr>
                                      <p:to>
                                        <p:strVal val="visible"/>
                                      </p:to>
                                    </p:set>
                                  </p:childTnLst>
                                </p:cTn>
                              </p:par>
                              <p:par>
                                <p:cTn id="35" presetID="1" presetClass="entr" presetSubtype="0" fill="hold" grpId="1" nodeType="with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par>
                                <p:cTn id="37" presetID="1" presetClass="entr" presetSubtype="0" fill="hold" grpId="1" nodeType="with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par>
                                <p:cTn id="39" presetID="1" presetClass="entr" presetSubtype="0" fill="hold" grpId="1"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8" grpId="0" animBg="1"/>
      <p:bldP spid="9" grpId="0" animBg="1"/>
      <p:bldP spid="10" grpId="0" animBg="1"/>
      <p:bldP spid="10" grpId="1" animBg="1"/>
      <p:bldP spid="14" grpId="0" animBg="1"/>
      <p:bldP spid="15" grpId="0" animBg="1"/>
      <p:bldP spid="15" grpId="1" animBg="1"/>
      <p:bldP spid="16" grpId="0" animBg="1"/>
      <p:bldP spid="19" grpId="0" animBg="1"/>
      <p:bldP spid="20" grpId="0" animBg="1"/>
      <p:bldP spid="22" grpId="0" animBg="1"/>
      <p:bldP spid="22" grpId="1" animBg="1"/>
      <p:bldP spid="23" grpId="0"/>
      <p:bldP spid="24" grpId="0"/>
      <p:bldP spid="26"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E6BE6"/>
        </a:solidFill>
        <a:effectLst/>
      </p:bgPr>
    </p:bg>
    <p:spTree>
      <p:nvGrpSpPr>
        <p:cNvPr id="1" name=""/>
        <p:cNvGrpSpPr/>
        <p:nvPr/>
      </p:nvGrpSpPr>
      <p:grpSpPr>
        <a:xfrm>
          <a:off x="0" y="0"/>
          <a:ext cx="0" cy="0"/>
          <a:chOff x="0" y="0"/>
          <a:chExt cx="0" cy="0"/>
        </a:xfrm>
      </p:grpSpPr>
      <p:sp>
        <p:nvSpPr>
          <p:cNvPr id="2" name="Rectangle 1"/>
          <p:cNvSpPr/>
          <p:nvPr/>
        </p:nvSpPr>
        <p:spPr>
          <a:xfrm>
            <a:off x="0" y="2468880"/>
            <a:ext cx="3200400" cy="9144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1828800"/>
            <a:ext cx="10058400" cy="548640"/>
          </a:xfrm>
          <a:prstGeom prst="rect">
            <a:avLst/>
          </a:prstGeom>
          <a:noFill/>
        </p:spPr>
        <p:txBody>
          <a:bodyPr wrap="square" lIns="0" tIns="0" rIns="0" bIns="0" anchor="t">
            <a:spAutoFit/>
          </a:bodyPr>
          <a:lstStyle/>
          <a:p>
            <a:pPr algn="l">
              <a:spcBef>
                <a:spcPts val="0"/>
              </a:spcBef>
              <a:spcAft>
                <a:spcPts val="600"/>
              </a:spcAft>
            </a:pPr>
            <a:r>
              <a:rPr sz="2000" b="1" i="0">
                <a:solidFill>
                  <a:srgbClr val="C7D2F0"/>
                </a:solidFill>
                <a:latin typeface="Calibri"/>
              </a:rPr>
              <a:t>PART 2</a:t>
            </a:r>
          </a:p>
        </p:txBody>
      </p:sp>
      <p:sp>
        <p:nvSpPr>
          <p:cNvPr id="4" name="TextBox 3"/>
          <p:cNvSpPr txBox="1"/>
          <p:nvPr/>
        </p:nvSpPr>
        <p:spPr>
          <a:xfrm>
            <a:off x="804672" y="2697480"/>
            <a:ext cx="10515600" cy="1828800"/>
          </a:xfrm>
          <a:prstGeom prst="rect">
            <a:avLst/>
          </a:prstGeom>
          <a:noFill/>
        </p:spPr>
        <p:txBody>
          <a:bodyPr wrap="square" lIns="0" tIns="0" rIns="0" bIns="0" anchor="t">
            <a:spAutoFit/>
          </a:bodyPr>
          <a:lstStyle/>
          <a:p>
            <a:pPr algn="l">
              <a:spcBef>
                <a:spcPts val="0"/>
              </a:spcBef>
              <a:spcAft>
                <a:spcPts val="600"/>
              </a:spcAft>
            </a:pPr>
            <a:r>
              <a:rPr sz="4000" b="1" i="0">
                <a:solidFill>
                  <a:srgbClr val="FFFFFF"/>
                </a:solidFill>
                <a:latin typeface="Calibri"/>
              </a:rPr>
              <a:t>A timestamp is an interval</a:t>
            </a:r>
          </a:p>
        </p:txBody>
      </p:sp>
      <p:sp>
        <p:nvSpPr>
          <p:cNvPr id="5" name="TextBox 4"/>
          <p:cNvSpPr txBox="1"/>
          <p:nvPr/>
        </p:nvSpPr>
        <p:spPr>
          <a:xfrm>
            <a:off x="11002975" y="6263640"/>
            <a:ext cx="822960" cy="365760"/>
          </a:xfrm>
          <a:prstGeom prst="rect">
            <a:avLst/>
          </a:prstGeom>
          <a:noFill/>
        </p:spPr>
        <p:txBody>
          <a:bodyPr wrap="square" lIns="0" tIns="0" rIns="0" bIns="0" anchor="t">
            <a:spAutoFit/>
          </a:bodyPr>
          <a:lstStyle/>
          <a:p>
            <a:pPr algn="r">
              <a:spcBef>
                <a:spcPts val="0"/>
              </a:spcBef>
              <a:spcAft>
                <a:spcPts val="600"/>
              </a:spcAft>
            </a:pPr>
            <a:r>
              <a:rPr sz="1200" b="1" i="0">
                <a:solidFill>
                  <a:srgbClr val="FFFFFF"/>
                </a:solidFill>
                <a:latin typeface="Calibri"/>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1143000"/>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0972800" cy="365760"/>
          </a:xfrm>
          <a:prstGeom prst="rect">
            <a:avLst/>
          </a:prstGeom>
          <a:noFill/>
        </p:spPr>
        <p:txBody>
          <a:bodyPr wrap="square" lIns="0" tIns="0" rIns="0" bIns="0" anchor="t">
            <a:spAutoFit/>
          </a:bodyPr>
          <a:lstStyle/>
          <a:p>
            <a:pPr algn="l">
              <a:spcBef>
                <a:spcPts val="0"/>
              </a:spcBef>
              <a:spcAft>
                <a:spcPts val="600"/>
              </a:spcAft>
            </a:pPr>
            <a:r>
              <a:rPr sz="1300" b="1" i="0">
                <a:solidFill>
                  <a:srgbClr val="2E6BE6"/>
                </a:solidFill>
                <a:latin typeface="Calibri"/>
              </a:rPr>
              <a:t>THE MODEL</a:t>
            </a:r>
          </a:p>
        </p:txBody>
      </p:sp>
      <p:sp>
        <p:nvSpPr>
          <p:cNvPr id="4" name="TextBox 3"/>
          <p:cNvSpPr txBox="1"/>
          <p:nvPr/>
        </p:nvSpPr>
        <p:spPr>
          <a:xfrm>
            <a:off x="502920" y="566928"/>
            <a:ext cx="11155680" cy="822960"/>
          </a:xfrm>
          <a:prstGeom prst="rect">
            <a:avLst/>
          </a:prstGeom>
          <a:noFill/>
        </p:spPr>
        <p:txBody>
          <a:bodyPr wrap="square" lIns="0" tIns="0" rIns="0" bIns="0" anchor="t">
            <a:spAutoFit/>
          </a:bodyPr>
          <a:lstStyle/>
          <a:p>
            <a:pPr algn="l">
              <a:spcBef>
                <a:spcPts val="0"/>
              </a:spcBef>
              <a:spcAft>
                <a:spcPts val="600"/>
              </a:spcAft>
            </a:pPr>
            <a:r>
              <a:rPr sz="3000" b="1" i="0">
                <a:solidFill>
                  <a:srgbClr val="1A1D29"/>
                </a:solidFill>
                <a:latin typeface="Calibri"/>
              </a:rPr>
              <a:t>From a point to an interval</a:t>
            </a:r>
          </a:p>
        </p:txBody>
      </p:sp>
      <p:sp>
        <p:nvSpPr>
          <p:cNvPr id="5" name="TextBox 4"/>
          <p:cNvSpPr txBox="1"/>
          <p:nvPr/>
        </p:nvSpPr>
        <p:spPr>
          <a:xfrm>
            <a:off x="640080" y="1554480"/>
            <a:ext cx="10972800" cy="4754880"/>
          </a:xfrm>
          <a:prstGeom prst="rect">
            <a:avLst/>
          </a:prstGeom>
          <a:noFill/>
        </p:spPr>
        <p:txBody>
          <a:bodyPr wrap="square" lIns="0" tIns="0" rIns="0" bIns="0" anchor="t">
            <a:spAutoFit/>
          </a:bodyPr>
          <a:lstStyle/>
          <a:p>
            <a:pPr algn="l">
              <a:spcBef>
                <a:spcPts val="0"/>
              </a:spcBef>
              <a:spcAft>
                <a:spcPts val="1000"/>
              </a:spcAft>
            </a:pPr>
            <a:r>
              <a:rPr sz="1800" b="1" i="0" dirty="0">
                <a:solidFill>
                  <a:srgbClr val="2E6BE6"/>
                </a:solidFill>
                <a:latin typeface="Calibri"/>
              </a:rPr>
              <a:t>▸  </a:t>
            </a:r>
            <a:r>
              <a:rPr sz="1800" b="0" i="0" dirty="0">
                <a:solidFill>
                  <a:srgbClr val="1A1D29"/>
                </a:solidFill>
                <a:latin typeface="Calibri"/>
              </a:rPr>
              <a:t>Instead of:  “the event happened at t”</a:t>
            </a:r>
          </a:p>
          <a:p>
            <a:pPr algn="l">
              <a:spcBef>
                <a:spcPts val="0"/>
              </a:spcBef>
              <a:spcAft>
                <a:spcPts val="1000"/>
              </a:spcAft>
            </a:pPr>
            <a:r>
              <a:rPr sz="1800" b="1" i="0" dirty="0">
                <a:solidFill>
                  <a:srgbClr val="2E6BE6"/>
                </a:solidFill>
                <a:latin typeface="Calibri"/>
              </a:rPr>
              <a:t>▸  </a:t>
            </a:r>
            <a:r>
              <a:rPr sz="1800" b="0" i="0" dirty="0">
                <a:solidFill>
                  <a:srgbClr val="1A1D29"/>
                </a:solidFill>
                <a:latin typeface="Calibri"/>
              </a:rPr>
              <a:t>Say:  “the event happened at t ± U”</a:t>
            </a:r>
          </a:p>
          <a:p>
            <a:pPr algn="l">
              <a:spcBef>
                <a:spcPts val="0"/>
              </a:spcBef>
              <a:spcAft>
                <a:spcPts val="1000"/>
              </a:spcAft>
            </a:pPr>
            <a:r>
              <a:rPr sz="1600" b="0" i="0" dirty="0">
                <a:solidFill>
                  <a:srgbClr val="5B6172"/>
                </a:solidFill>
                <a:latin typeface="Calibri"/>
              </a:rPr>
              <a:t>        –  U = the time-uncertainty bound at the moment of observation</a:t>
            </a:r>
          </a:p>
          <a:p>
            <a:pPr algn="l">
              <a:spcBef>
                <a:spcPts val="0"/>
              </a:spcBef>
              <a:spcAft>
                <a:spcPts val="1000"/>
              </a:spcAft>
            </a:pPr>
            <a:r>
              <a:rPr sz="1600" b="0" i="0" dirty="0">
                <a:solidFill>
                  <a:srgbClr val="5B6172"/>
                </a:solidFill>
                <a:latin typeface="Calibri"/>
              </a:rPr>
              <a:t>        –  Also can be viewed as earliest-latest</a:t>
            </a:r>
          </a:p>
          <a:p>
            <a:pPr algn="l">
              <a:spcBef>
                <a:spcPts val="0"/>
              </a:spcBef>
              <a:spcAft>
                <a:spcPts val="1000"/>
              </a:spcAft>
            </a:pPr>
            <a:r>
              <a:rPr sz="1800" b="1" i="0" dirty="0">
                <a:solidFill>
                  <a:srgbClr val="2E6BE6"/>
                </a:solidFill>
                <a:latin typeface="Calibri"/>
              </a:rPr>
              <a:t>▸  </a:t>
            </a:r>
            <a:r>
              <a:rPr sz="1800" b="0" i="0" dirty="0">
                <a:solidFill>
                  <a:srgbClr val="1A1D29"/>
                </a:solidFill>
                <a:latin typeface="Calibri"/>
              </a:rPr>
              <a:t>Now applications can ask explicit questions:</a:t>
            </a:r>
          </a:p>
          <a:p>
            <a:pPr algn="l">
              <a:spcBef>
                <a:spcPts val="0"/>
              </a:spcBef>
              <a:spcAft>
                <a:spcPts val="1000"/>
              </a:spcAft>
            </a:pPr>
            <a:r>
              <a:rPr sz="1600" b="0" i="0" dirty="0">
                <a:solidFill>
                  <a:srgbClr val="5B6172"/>
                </a:solidFill>
                <a:latin typeface="Calibri"/>
              </a:rPr>
              <a:t>        –  Is ordering between A and B definite, or ambiguous?</a:t>
            </a:r>
          </a:p>
          <a:p>
            <a:pPr algn="l">
              <a:spcBef>
                <a:spcPts val="0"/>
              </a:spcBef>
              <a:spcAft>
                <a:spcPts val="1000"/>
              </a:spcAft>
            </a:pPr>
            <a:r>
              <a:rPr sz="1600" b="0" i="0" dirty="0">
                <a:solidFill>
                  <a:srgbClr val="5B6172"/>
                </a:solidFill>
                <a:latin typeface="Calibri"/>
              </a:rPr>
              <a:t>        –  Is this window fresh enough for a compliance decision?</a:t>
            </a:r>
          </a:p>
        </p:txBody>
      </p:sp>
      <p:sp>
        <p:nvSpPr>
          <p:cNvPr id="6" name="Rectangle 5"/>
          <p:cNvSpPr/>
          <p:nvPr/>
        </p:nvSpPr>
        <p:spPr>
          <a:xfrm>
            <a:off x="0" y="6601968"/>
            <a:ext cx="12191695" cy="256032"/>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83680"/>
            <a:ext cx="8229600" cy="256032"/>
          </a:xfrm>
          <a:prstGeom prst="rect">
            <a:avLst/>
          </a:prstGeom>
          <a:noFill/>
        </p:spPr>
        <p:txBody>
          <a:bodyPr wrap="square" lIns="0" tIns="0" rIns="0" bIns="0" anchor="ctr">
            <a:spAutoFit/>
          </a:bodyPr>
          <a:lstStyle/>
          <a:p>
            <a:pPr algn="l">
              <a:spcBef>
                <a:spcPts val="0"/>
              </a:spcBef>
              <a:spcAft>
                <a:spcPts val="600"/>
              </a:spcAft>
            </a:pPr>
            <a:r>
              <a:rPr sz="1000" b="0" i="0">
                <a:solidFill>
                  <a:srgbClr val="FFFFFF"/>
                </a:solidFill>
                <a:latin typeface="Calibri"/>
              </a:rPr>
              <a:t>Time Uncertainty as a First-Class Concept</a:t>
            </a:r>
          </a:p>
        </p:txBody>
      </p:sp>
      <p:sp>
        <p:nvSpPr>
          <p:cNvPr id="8" name="TextBox 7"/>
          <p:cNvSpPr txBox="1"/>
          <p:nvPr/>
        </p:nvSpPr>
        <p:spPr>
          <a:xfrm>
            <a:off x="11002975" y="6583680"/>
            <a:ext cx="731520" cy="256032"/>
          </a:xfrm>
          <a:prstGeom prst="rect">
            <a:avLst/>
          </a:prstGeom>
          <a:noFill/>
        </p:spPr>
        <p:txBody>
          <a:bodyPr wrap="square" lIns="0" tIns="0" rIns="0" bIns="0" anchor="ctr">
            <a:spAutoFit/>
          </a:bodyPr>
          <a:lstStyle/>
          <a:p>
            <a:pPr algn="r">
              <a:spcBef>
                <a:spcPts val="0"/>
              </a:spcBef>
              <a:spcAft>
                <a:spcPts val="600"/>
              </a:spcAft>
            </a:pPr>
            <a:r>
              <a:rPr sz="1000" b="1" i="0">
                <a:solidFill>
                  <a:srgbClr val="FFFFFF"/>
                </a:solidFill>
                <a:latin typeface="Calibri"/>
              </a:rPr>
              <a:t>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0" end="0"/>
                                            </p:txEl>
                                          </p:spTgt>
                                        </p:tgtEl>
                                        <p:attrNameLst>
                                          <p:attrName>ppt_c</p:attrName>
                                        </p:attrNameLst>
                                      </p:cBhvr>
                                      <p:to>
                                        <a:srgbClr val="9EA0A0"/>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1" end="1"/>
                                            </p:txEl>
                                          </p:spTgt>
                                        </p:tgtEl>
                                        <p:attrNameLst>
                                          <p:attrName>ppt_c</p:attrName>
                                        </p:attrNameLst>
                                      </p:cBhvr>
                                      <p:to>
                                        <a:srgbClr val="9EA0A0"/>
                                      </p:to>
                                    </p:animClr>
                                  </p:subTnLst>
                                </p:cTn>
                              </p:par>
                              <p:par>
                                <p:cTn id="11" presetID="1" presetClass="entr" presetSubtype="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2" end="2"/>
                                            </p:txEl>
                                          </p:spTgt>
                                        </p:tgtEl>
                                        <p:attrNameLst>
                                          <p:attrName>ppt_c</p:attrName>
                                        </p:attrNameLst>
                                      </p:cBhvr>
                                      <p:to>
                                        <a:srgbClr val="9EA0A0"/>
                                      </p:to>
                                    </p:animClr>
                                  </p:subTnLst>
                                </p:cTn>
                              </p:par>
                              <p:par>
                                <p:cTn id="13" presetID="1" presetClass="entr" presetSubtype="0" fill="hold"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3" end="3"/>
                                            </p:txEl>
                                          </p:spTgt>
                                        </p:tgtEl>
                                        <p:attrNameLst>
                                          <p:attrName>ppt_c</p:attrName>
                                        </p:attrNameLst>
                                      </p:cBhvr>
                                      <p:to>
                                        <a:srgbClr val="9EA0A0"/>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1143000"/>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0972800" cy="365760"/>
          </a:xfrm>
          <a:prstGeom prst="rect">
            <a:avLst/>
          </a:prstGeom>
          <a:noFill/>
        </p:spPr>
        <p:txBody>
          <a:bodyPr wrap="square" lIns="0" tIns="0" rIns="0" bIns="0" anchor="t">
            <a:spAutoFit/>
          </a:bodyPr>
          <a:lstStyle/>
          <a:p>
            <a:pPr algn="l">
              <a:spcBef>
                <a:spcPts val="0"/>
              </a:spcBef>
              <a:spcAft>
                <a:spcPts val="600"/>
              </a:spcAft>
            </a:pPr>
            <a:r>
              <a:rPr sz="1300" b="1" i="0">
                <a:solidFill>
                  <a:srgbClr val="2E6BE6"/>
                </a:solidFill>
                <a:latin typeface="Calibri"/>
              </a:rPr>
              <a:t>THE MODEL</a:t>
            </a:r>
          </a:p>
        </p:txBody>
      </p:sp>
      <p:sp>
        <p:nvSpPr>
          <p:cNvPr id="4" name="TextBox 3"/>
          <p:cNvSpPr txBox="1"/>
          <p:nvPr/>
        </p:nvSpPr>
        <p:spPr>
          <a:xfrm>
            <a:off x="502920" y="566928"/>
            <a:ext cx="11155680" cy="822960"/>
          </a:xfrm>
          <a:prstGeom prst="rect">
            <a:avLst/>
          </a:prstGeom>
          <a:noFill/>
        </p:spPr>
        <p:txBody>
          <a:bodyPr wrap="square" lIns="0" tIns="0" rIns="0" bIns="0" anchor="t">
            <a:spAutoFit/>
          </a:bodyPr>
          <a:lstStyle/>
          <a:p>
            <a:pPr algn="l">
              <a:spcBef>
                <a:spcPts val="0"/>
              </a:spcBef>
              <a:spcAft>
                <a:spcPts val="600"/>
              </a:spcAft>
            </a:pPr>
            <a:r>
              <a:rPr sz="3000" b="1" i="0">
                <a:solidFill>
                  <a:srgbClr val="1A1D29"/>
                </a:solidFill>
                <a:latin typeface="Calibri"/>
              </a:rPr>
              <a:t>The ordering rule</a:t>
            </a:r>
          </a:p>
        </p:txBody>
      </p:sp>
      <p:sp>
        <p:nvSpPr>
          <p:cNvPr id="5" name="Rectangle 4"/>
          <p:cNvSpPr/>
          <p:nvPr/>
        </p:nvSpPr>
        <p:spPr>
          <a:xfrm>
            <a:off x="640080" y="1600200"/>
            <a:ext cx="5257800" cy="2331720"/>
          </a:xfrm>
          <a:prstGeom prst="rect">
            <a:avLst/>
          </a:prstGeom>
          <a:solidFill>
            <a:srgbClr val="ED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291072" y="1600200"/>
            <a:ext cx="5257800" cy="2331720"/>
          </a:xfrm>
          <a:prstGeom prst="rect">
            <a:avLst/>
          </a:prstGeom>
          <a:solidFill>
            <a:srgbClr val="EA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1746504"/>
            <a:ext cx="4846320" cy="365760"/>
          </a:xfrm>
          <a:prstGeom prst="rect">
            <a:avLst/>
          </a:prstGeom>
          <a:noFill/>
        </p:spPr>
        <p:txBody>
          <a:bodyPr wrap="square" lIns="0" tIns="0" rIns="0" bIns="0" anchor="t">
            <a:spAutoFit/>
          </a:bodyPr>
          <a:lstStyle/>
          <a:p>
            <a:pPr algn="l">
              <a:spcBef>
                <a:spcPts val="0"/>
              </a:spcBef>
              <a:spcAft>
                <a:spcPts val="600"/>
              </a:spcAft>
            </a:pPr>
            <a:r>
              <a:rPr sz="1600" b="1" i="0">
                <a:solidFill>
                  <a:srgbClr val="5B6172"/>
                </a:solidFill>
                <a:latin typeface="Calibri"/>
              </a:rPr>
              <a:t>Point model</a:t>
            </a:r>
          </a:p>
        </p:txBody>
      </p:sp>
      <p:sp>
        <p:nvSpPr>
          <p:cNvPr id="8" name="TextBox 7"/>
          <p:cNvSpPr txBox="1"/>
          <p:nvPr/>
        </p:nvSpPr>
        <p:spPr>
          <a:xfrm>
            <a:off x="6519672" y="1746504"/>
            <a:ext cx="4846320" cy="365760"/>
          </a:xfrm>
          <a:prstGeom prst="rect">
            <a:avLst/>
          </a:prstGeom>
          <a:noFill/>
        </p:spPr>
        <p:txBody>
          <a:bodyPr wrap="square" lIns="0" tIns="0" rIns="0" bIns="0" anchor="t">
            <a:spAutoFit/>
          </a:bodyPr>
          <a:lstStyle/>
          <a:p>
            <a:pPr algn="l">
              <a:spcBef>
                <a:spcPts val="0"/>
              </a:spcBef>
              <a:spcAft>
                <a:spcPts val="600"/>
              </a:spcAft>
            </a:pPr>
            <a:r>
              <a:rPr sz="1600" b="1" i="0">
                <a:solidFill>
                  <a:srgbClr val="14B8A6"/>
                </a:solidFill>
                <a:latin typeface="Calibri"/>
              </a:rPr>
              <a:t>Interval model</a:t>
            </a:r>
          </a:p>
        </p:txBody>
      </p:sp>
      <p:sp>
        <p:nvSpPr>
          <p:cNvPr id="9" name="Rectangle 8"/>
          <p:cNvSpPr/>
          <p:nvPr/>
        </p:nvSpPr>
        <p:spPr>
          <a:xfrm>
            <a:off x="1143000" y="2926080"/>
            <a:ext cx="4251960" cy="31750"/>
          </a:xfrm>
          <a:prstGeom prst="rect">
            <a:avLst/>
          </a:prstGeom>
          <a:solidFill>
            <a:srgbClr val="5B61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246120" y="2670048"/>
            <a:ext cx="44450" cy="512064"/>
          </a:xfrm>
          <a:prstGeom prst="rect">
            <a:avLst/>
          </a:prstGeom>
          <a:solidFill>
            <a:srgbClr val="1A1D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880360" y="3236976"/>
            <a:ext cx="731520" cy="365760"/>
          </a:xfrm>
          <a:prstGeom prst="rect">
            <a:avLst/>
          </a:prstGeom>
          <a:noFill/>
        </p:spPr>
        <p:txBody>
          <a:bodyPr wrap="square" lIns="0" tIns="0" rIns="0" bIns="0" anchor="t">
            <a:spAutoFit/>
          </a:bodyPr>
          <a:lstStyle/>
          <a:p>
            <a:pPr algn="ctr">
              <a:spcBef>
                <a:spcPts val="0"/>
              </a:spcBef>
              <a:spcAft>
                <a:spcPts val="600"/>
              </a:spcAft>
            </a:pPr>
            <a:r>
              <a:rPr sz="1600" b="1" i="0">
                <a:solidFill>
                  <a:srgbClr val="1A1D29"/>
                </a:solidFill>
                <a:latin typeface="Calibri"/>
              </a:rPr>
              <a:t>t</a:t>
            </a:r>
          </a:p>
        </p:txBody>
      </p:sp>
      <p:sp>
        <p:nvSpPr>
          <p:cNvPr id="12" name="Rectangle 11"/>
          <p:cNvSpPr/>
          <p:nvPr/>
        </p:nvSpPr>
        <p:spPr>
          <a:xfrm>
            <a:off x="6766560" y="2926080"/>
            <a:ext cx="4434840" cy="31750"/>
          </a:xfrm>
          <a:prstGeom prst="rect">
            <a:avLst/>
          </a:prstGeom>
          <a:solidFill>
            <a:srgbClr val="5B61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183879" y="2816352"/>
            <a:ext cx="2103120" cy="219456"/>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183879" y="2670048"/>
            <a:ext cx="44450" cy="512064"/>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0242549" y="2670048"/>
            <a:ext cx="44450" cy="512064"/>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9235439" y="2624328"/>
            <a:ext cx="44450" cy="603504"/>
          </a:xfrm>
          <a:prstGeom prst="rect">
            <a:avLst/>
          </a:prstGeom>
          <a:solidFill>
            <a:srgbClr val="1A1D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543799" y="2359152"/>
            <a:ext cx="1280160" cy="274320"/>
          </a:xfrm>
          <a:prstGeom prst="rect">
            <a:avLst/>
          </a:prstGeom>
          <a:noFill/>
        </p:spPr>
        <p:txBody>
          <a:bodyPr wrap="square" lIns="0" tIns="0" rIns="0" bIns="0" anchor="t">
            <a:spAutoFit/>
          </a:bodyPr>
          <a:lstStyle/>
          <a:p>
            <a:pPr algn="ctr">
              <a:spcBef>
                <a:spcPts val="0"/>
              </a:spcBef>
              <a:spcAft>
                <a:spcPts val="600"/>
              </a:spcAft>
            </a:pPr>
            <a:r>
              <a:rPr sz="1300" b="0" i="1">
                <a:solidFill>
                  <a:srgbClr val="2E6BE6"/>
                </a:solidFill>
                <a:latin typeface="Calibri"/>
              </a:rPr>
              <a:t>earliest</a:t>
            </a:r>
          </a:p>
        </p:txBody>
      </p:sp>
      <p:sp>
        <p:nvSpPr>
          <p:cNvPr id="18" name="TextBox 17"/>
          <p:cNvSpPr txBox="1"/>
          <p:nvPr/>
        </p:nvSpPr>
        <p:spPr>
          <a:xfrm>
            <a:off x="9646919" y="2359152"/>
            <a:ext cx="1280160" cy="274320"/>
          </a:xfrm>
          <a:prstGeom prst="rect">
            <a:avLst/>
          </a:prstGeom>
          <a:noFill/>
        </p:spPr>
        <p:txBody>
          <a:bodyPr wrap="square" lIns="0" tIns="0" rIns="0" bIns="0" anchor="t">
            <a:spAutoFit/>
          </a:bodyPr>
          <a:lstStyle/>
          <a:p>
            <a:pPr algn="ctr">
              <a:spcBef>
                <a:spcPts val="0"/>
              </a:spcBef>
              <a:spcAft>
                <a:spcPts val="600"/>
              </a:spcAft>
            </a:pPr>
            <a:r>
              <a:rPr sz="1300" b="0" i="1">
                <a:solidFill>
                  <a:srgbClr val="2E6BE6"/>
                </a:solidFill>
                <a:latin typeface="Calibri"/>
              </a:rPr>
              <a:t>latest</a:t>
            </a:r>
          </a:p>
        </p:txBody>
      </p:sp>
      <p:sp>
        <p:nvSpPr>
          <p:cNvPr id="19" name="TextBox 18"/>
          <p:cNvSpPr txBox="1"/>
          <p:nvPr/>
        </p:nvSpPr>
        <p:spPr>
          <a:xfrm>
            <a:off x="7680959" y="3236976"/>
            <a:ext cx="1005840" cy="365760"/>
          </a:xfrm>
          <a:prstGeom prst="rect">
            <a:avLst/>
          </a:prstGeom>
          <a:noFill/>
        </p:spPr>
        <p:txBody>
          <a:bodyPr wrap="square" lIns="0" tIns="0" rIns="0" bIns="0" anchor="t">
            <a:spAutoFit/>
          </a:bodyPr>
          <a:lstStyle/>
          <a:p>
            <a:pPr algn="ctr">
              <a:spcBef>
                <a:spcPts val="0"/>
              </a:spcBef>
              <a:spcAft>
                <a:spcPts val="600"/>
              </a:spcAft>
            </a:pPr>
            <a:r>
              <a:rPr sz="1400" b="1" i="0">
                <a:solidFill>
                  <a:srgbClr val="2E6BE6"/>
                </a:solidFill>
                <a:latin typeface="Calibri"/>
              </a:rPr>
              <a:t>t−U</a:t>
            </a:r>
          </a:p>
        </p:txBody>
      </p:sp>
      <p:sp>
        <p:nvSpPr>
          <p:cNvPr id="20" name="TextBox 19"/>
          <p:cNvSpPr txBox="1"/>
          <p:nvPr/>
        </p:nvSpPr>
        <p:spPr>
          <a:xfrm>
            <a:off x="8869679" y="3236976"/>
            <a:ext cx="731520" cy="365760"/>
          </a:xfrm>
          <a:prstGeom prst="rect">
            <a:avLst/>
          </a:prstGeom>
          <a:noFill/>
        </p:spPr>
        <p:txBody>
          <a:bodyPr wrap="square" lIns="0" tIns="0" rIns="0" bIns="0" anchor="t">
            <a:spAutoFit/>
          </a:bodyPr>
          <a:lstStyle/>
          <a:p>
            <a:pPr algn="ctr">
              <a:spcBef>
                <a:spcPts val="0"/>
              </a:spcBef>
              <a:spcAft>
                <a:spcPts val="600"/>
              </a:spcAft>
            </a:pPr>
            <a:r>
              <a:rPr sz="1400" b="1" i="0">
                <a:solidFill>
                  <a:srgbClr val="1A1D29"/>
                </a:solidFill>
                <a:latin typeface="Calibri"/>
              </a:rPr>
              <a:t>t</a:t>
            </a:r>
          </a:p>
        </p:txBody>
      </p:sp>
      <p:sp>
        <p:nvSpPr>
          <p:cNvPr id="21" name="TextBox 20"/>
          <p:cNvSpPr txBox="1"/>
          <p:nvPr/>
        </p:nvSpPr>
        <p:spPr>
          <a:xfrm>
            <a:off x="9784079" y="3236976"/>
            <a:ext cx="1005840" cy="365760"/>
          </a:xfrm>
          <a:prstGeom prst="rect">
            <a:avLst/>
          </a:prstGeom>
          <a:noFill/>
        </p:spPr>
        <p:txBody>
          <a:bodyPr wrap="square" lIns="0" tIns="0" rIns="0" bIns="0" anchor="t">
            <a:spAutoFit/>
          </a:bodyPr>
          <a:lstStyle/>
          <a:p>
            <a:pPr algn="ctr">
              <a:spcBef>
                <a:spcPts val="0"/>
              </a:spcBef>
              <a:spcAft>
                <a:spcPts val="600"/>
              </a:spcAft>
            </a:pPr>
            <a:r>
              <a:rPr sz="1400" b="1" i="0">
                <a:solidFill>
                  <a:srgbClr val="2E6BE6"/>
                </a:solidFill>
                <a:latin typeface="Calibri"/>
              </a:rPr>
              <a:t>t+U</a:t>
            </a:r>
          </a:p>
        </p:txBody>
      </p:sp>
      <p:sp>
        <p:nvSpPr>
          <p:cNvPr id="22" name="Rectangle 21"/>
          <p:cNvSpPr/>
          <p:nvPr/>
        </p:nvSpPr>
        <p:spPr>
          <a:xfrm>
            <a:off x="640080" y="4206240"/>
            <a:ext cx="10908792" cy="1234440"/>
          </a:xfrm>
          <a:prstGeom prst="rect">
            <a:avLst/>
          </a:prstGeom>
          <a:solidFill>
            <a:srgbClr val="1A1D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 y="4407408"/>
            <a:ext cx="10908792" cy="548640"/>
          </a:xfrm>
          <a:prstGeom prst="rect">
            <a:avLst/>
          </a:prstGeom>
          <a:noFill/>
        </p:spPr>
        <p:txBody>
          <a:bodyPr wrap="square" lIns="0" tIns="0" rIns="0" bIns="0" anchor="t">
            <a:spAutoFit/>
          </a:bodyPr>
          <a:lstStyle/>
          <a:p>
            <a:pPr algn="ctr">
              <a:spcBef>
                <a:spcPts val="0"/>
              </a:spcBef>
              <a:spcAft>
                <a:spcPts val="600"/>
              </a:spcAft>
            </a:pPr>
            <a:r>
              <a:rPr sz="2600" b="1" i="0">
                <a:solidFill>
                  <a:srgbClr val="FFFFFF"/>
                </a:solidFill>
                <a:latin typeface="Consolas"/>
              </a:rPr>
              <a:t>A before B   only if   tA + UA  &lt;  tB − UB</a:t>
            </a:r>
          </a:p>
        </p:txBody>
      </p:sp>
      <p:sp>
        <p:nvSpPr>
          <p:cNvPr id="24" name="TextBox 23"/>
          <p:cNvSpPr txBox="1"/>
          <p:nvPr/>
        </p:nvSpPr>
        <p:spPr>
          <a:xfrm>
            <a:off x="640080" y="4956048"/>
            <a:ext cx="10908792" cy="411480"/>
          </a:xfrm>
          <a:prstGeom prst="rect">
            <a:avLst/>
          </a:prstGeom>
          <a:noFill/>
        </p:spPr>
        <p:txBody>
          <a:bodyPr wrap="square" lIns="0" tIns="0" rIns="0" bIns="0" anchor="t">
            <a:spAutoFit/>
          </a:bodyPr>
          <a:lstStyle/>
          <a:p>
            <a:pPr algn="ctr">
              <a:spcBef>
                <a:spcPts val="0"/>
              </a:spcBef>
              <a:spcAft>
                <a:spcPts val="600"/>
              </a:spcAft>
            </a:pPr>
            <a:r>
              <a:rPr sz="1800" b="0" i="1">
                <a:solidFill>
                  <a:srgbClr val="8FE0D6"/>
                </a:solidFill>
                <a:latin typeface="Calibri"/>
              </a:rPr>
              <a:t>otherwise → ambiguous  ·  unknown, not wrong</a:t>
            </a:r>
          </a:p>
        </p:txBody>
      </p:sp>
      <p:sp>
        <p:nvSpPr>
          <p:cNvPr id="25" name="TextBox 24"/>
          <p:cNvSpPr txBox="1"/>
          <p:nvPr/>
        </p:nvSpPr>
        <p:spPr>
          <a:xfrm>
            <a:off x="658368" y="5596128"/>
            <a:ext cx="10881360" cy="457200"/>
          </a:xfrm>
          <a:prstGeom prst="rect">
            <a:avLst/>
          </a:prstGeom>
          <a:noFill/>
        </p:spPr>
        <p:txBody>
          <a:bodyPr wrap="square" lIns="0" tIns="0" rIns="0" bIns="0" anchor="t">
            <a:spAutoFit/>
          </a:bodyPr>
          <a:lstStyle/>
          <a:p>
            <a:pPr algn="l">
              <a:spcBef>
                <a:spcPts val="0"/>
              </a:spcBef>
              <a:spcAft>
                <a:spcPts val="600"/>
              </a:spcAft>
            </a:pPr>
            <a:r>
              <a:rPr sz="1500" b="0" i="1">
                <a:solidFill>
                  <a:srgbClr val="5B6172"/>
                </a:solidFill>
                <a:latin typeface="Calibri"/>
              </a:rPr>
              <a:t>The overlap region is where causality cannot be resolved from timestamps alone.</a:t>
            </a:r>
          </a:p>
        </p:txBody>
      </p:sp>
      <p:sp>
        <p:nvSpPr>
          <p:cNvPr id="26" name="Rectangle 25"/>
          <p:cNvSpPr/>
          <p:nvPr/>
        </p:nvSpPr>
        <p:spPr>
          <a:xfrm>
            <a:off x="0" y="6601968"/>
            <a:ext cx="12191695" cy="256032"/>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7200" y="6583680"/>
            <a:ext cx="8229600" cy="256032"/>
          </a:xfrm>
          <a:prstGeom prst="rect">
            <a:avLst/>
          </a:prstGeom>
          <a:noFill/>
        </p:spPr>
        <p:txBody>
          <a:bodyPr wrap="square" lIns="0" tIns="0" rIns="0" bIns="0" anchor="ctr">
            <a:spAutoFit/>
          </a:bodyPr>
          <a:lstStyle/>
          <a:p>
            <a:pPr algn="l">
              <a:spcBef>
                <a:spcPts val="0"/>
              </a:spcBef>
              <a:spcAft>
                <a:spcPts val="600"/>
              </a:spcAft>
            </a:pPr>
            <a:r>
              <a:rPr sz="1000" b="0" i="0">
                <a:solidFill>
                  <a:srgbClr val="FFFFFF"/>
                </a:solidFill>
                <a:latin typeface="Calibri"/>
              </a:rPr>
              <a:t>Time Uncertainty as a First-Class Concept</a:t>
            </a:r>
          </a:p>
        </p:txBody>
      </p:sp>
      <p:sp>
        <p:nvSpPr>
          <p:cNvPr id="28" name="TextBox 27"/>
          <p:cNvSpPr txBox="1"/>
          <p:nvPr/>
        </p:nvSpPr>
        <p:spPr>
          <a:xfrm>
            <a:off x="11002975" y="6583680"/>
            <a:ext cx="731520" cy="256032"/>
          </a:xfrm>
          <a:prstGeom prst="rect">
            <a:avLst/>
          </a:prstGeom>
          <a:noFill/>
        </p:spPr>
        <p:txBody>
          <a:bodyPr wrap="square" lIns="0" tIns="0" rIns="0" bIns="0" anchor="ctr">
            <a:spAutoFit/>
          </a:bodyPr>
          <a:lstStyle/>
          <a:p>
            <a:pPr algn="r">
              <a:spcBef>
                <a:spcPts val="0"/>
              </a:spcBef>
              <a:spcAft>
                <a:spcPts val="600"/>
              </a:spcAft>
            </a:pPr>
            <a:r>
              <a:rPr sz="1000" b="1" i="0">
                <a:solidFill>
                  <a:srgbClr val="FFFFFF"/>
                </a:solidFill>
                <a:latin typeface="Calibri"/>
              </a:rPr>
              <a:t>10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p:bldP spid="24" grpId="0"/>
      <p:bldP spid="25"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1143000"/>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0972800" cy="365760"/>
          </a:xfrm>
          <a:prstGeom prst="rect">
            <a:avLst/>
          </a:prstGeom>
          <a:noFill/>
        </p:spPr>
        <p:txBody>
          <a:bodyPr wrap="square" lIns="0" tIns="0" rIns="0" bIns="0" anchor="t">
            <a:spAutoFit/>
          </a:bodyPr>
          <a:lstStyle/>
          <a:p>
            <a:pPr algn="l">
              <a:spcBef>
                <a:spcPts val="0"/>
              </a:spcBef>
              <a:spcAft>
                <a:spcPts val="600"/>
              </a:spcAft>
            </a:pPr>
            <a:r>
              <a:rPr sz="1300" b="1" i="0">
                <a:solidFill>
                  <a:srgbClr val="2E6BE6"/>
                </a:solidFill>
                <a:latin typeface="Calibri"/>
              </a:rPr>
              <a:t>THE MODEL</a:t>
            </a:r>
          </a:p>
        </p:txBody>
      </p:sp>
      <p:sp>
        <p:nvSpPr>
          <p:cNvPr id="4" name="TextBox 3"/>
          <p:cNvSpPr txBox="1"/>
          <p:nvPr/>
        </p:nvSpPr>
        <p:spPr>
          <a:xfrm>
            <a:off x="502920" y="566928"/>
            <a:ext cx="11155680" cy="822960"/>
          </a:xfrm>
          <a:prstGeom prst="rect">
            <a:avLst/>
          </a:prstGeom>
          <a:noFill/>
        </p:spPr>
        <p:txBody>
          <a:bodyPr wrap="square" lIns="0" tIns="0" rIns="0" bIns="0" anchor="t">
            <a:spAutoFit/>
          </a:bodyPr>
          <a:lstStyle/>
          <a:p>
            <a:pPr algn="l">
              <a:spcBef>
                <a:spcPts val="0"/>
              </a:spcBef>
              <a:spcAft>
                <a:spcPts val="600"/>
              </a:spcAft>
            </a:pPr>
            <a:r>
              <a:rPr sz="3000" b="1" i="0">
                <a:solidFill>
                  <a:srgbClr val="1A1D29"/>
                </a:solidFill>
                <a:latin typeface="Calibri"/>
              </a:rPr>
              <a:t>What uncertainty is — and is not</a:t>
            </a:r>
          </a:p>
        </p:txBody>
      </p:sp>
      <p:sp>
        <p:nvSpPr>
          <p:cNvPr id="5" name="Rectangle 4"/>
          <p:cNvSpPr/>
          <p:nvPr/>
        </p:nvSpPr>
        <p:spPr>
          <a:xfrm>
            <a:off x="640080" y="1691640"/>
            <a:ext cx="5349240" cy="4297680"/>
          </a:xfrm>
          <a:prstGeom prst="rect">
            <a:avLst/>
          </a:prstGeom>
          <a:solidFill>
            <a:srgbClr val="ED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56232"/>
            <a:ext cx="4892040" cy="457200"/>
          </a:xfrm>
          <a:prstGeom prst="rect">
            <a:avLst/>
          </a:prstGeom>
          <a:noFill/>
        </p:spPr>
        <p:txBody>
          <a:bodyPr wrap="square" lIns="0" tIns="0" rIns="0" bIns="0" anchor="t">
            <a:spAutoFit/>
          </a:bodyPr>
          <a:lstStyle/>
          <a:p>
            <a:pPr algn="l">
              <a:spcBef>
                <a:spcPts val="0"/>
              </a:spcBef>
              <a:spcAft>
                <a:spcPts val="600"/>
              </a:spcAft>
            </a:pPr>
            <a:r>
              <a:rPr sz="1800" b="1" i="0">
                <a:solidFill>
                  <a:srgbClr val="2E6BE6"/>
                </a:solidFill>
                <a:latin typeface="Calibri"/>
              </a:rPr>
              <a:t>U IS</a:t>
            </a:r>
          </a:p>
        </p:txBody>
      </p:sp>
      <p:sp>
        <p:nvSpPr>
          <p:cNvPr id="7" name="TextBox 6"/>
          <p:cNvSpPr txBox="1"/>
          <p:nvPr/>
        </p:nvSpPr>
        <p:spPr>
          <a:xfrm>
            <a:off x="868680" y="2468880"/>
            <a:ext cx="4892040" cy="3291840"/>
          </a:xfrm>
          <a:prstGeom prst="rect">
            <a:avLst/>
          </a:prstGeom>
          <a:noFill/>
        </p:spPr>
        <p:txBody>
          <a:bodyPr wrap="square" lIns="0" tIns="0" rIns="0" bIns="0" anchor="t">
            <a:spAutoFit/>
          </a:bodyPr>
          <a:lstStyle/>
          <a:p>
            <a:pPr algn="l">
              <a:spcBef>
                <a:spcPts val="0"/>
              </a:spcBef>
              <a:spcAft>
                <a:spcPts val="900"/>
              </a:spcAft>
            </a:pPr>
            <a:r>
              <a:rPr sz="1500" b="1" i="0">
                <a:solidFill>
                  <a:srgbClr val="2E6BE6"/>
                </a:solidFill>
                <a:latin typeface="Calibri"/>
              </a:rPr>
              <a:t>•  </a:t>
            </a:r>
            <a:r>
              <a:rPr sz="1500" b="0" i="0">
                <a:solidFill>
                  <a:srgbClr val="1A1D29"/>
                </a:solidFill>
                <a:latin typeface="Calibri"/>
              </a:rPr>
              <a:t>A computed uncertainty envelope, right now</a:t>
            </a:r>
          </a:p>
          <a:p>
            <a:pPr algn="l">
              <a:spcBef>
                <a:spcPts val="0"/>
              </a:spcBef>
              <a:spcAft>
                <a:spcPts val="900"/>
              </a:spcAft>
            </a:pPr>
            <a:r>
              <a:rPr sz="1500" b="1" i="0">
                <a:solidFill>
                  <a:srgbClr val="2E6BE6"/>
                </a:solidFill>
                <a:latin typeface="Calibri"/>
              </a:rPr>
              <a:t>•  </a:t>
            </a:r>
            <a:r>
              <a:rPr sz="1500" b="0" i="0">
                <a:solidFill>
                  <a:srgbClr val="1A1D29"/>
                </a:solidFill>
                <a:latin typeface="Calibri"/>
              </a:rPr>
              <a:t>Derived from sync state + explicitly stated assumptions</a:t>
            </a:r>
          </a:p>
          <a:p>
            <a:pPr algn="l">
              <a:spcBef>
                <a:spcPts val="0"/>
              </a:spcBef>
              <a:spcAft>
                <a:spcPts val="900"/>
              </a:spcAft>
            </a:pPr>
            <a:r>
              <a:rPr sz="1500" b="1" i="0">
                <a:solidFill>
                  <a:srgbClr val="2E6BE6"/>
                </a:solidFill>
                <a:latin typeface="Calibri"/>
              </a:rPr>
              <a:t>•  </a:t>
            </a:r>
            <a:r>
              <a:rPr sz="1500" b="0" i="0">
                <a:solidFill>
                  <a:srgbClr val="1A1D29"/>
                </a:solidFill>
                <a:latin typeface="Calibri"/>
              </a:rPr>
              <a:t>An explicit input to application logic</a:t>
            </a:r>
          </a:p>
        </p:txBody>
      </p:sp>
      <p:sp>
        <p:nvSpPr>
          <p:cNvPr id="8" name="Rectangle 7"/>
          <p:cNvSpPr/>
          <p:nvPr/>
        </p:nvSpPr>
        <p:spPr>
          <a:xfrm>
            <a:off x="6355080" y="1691640"/>
            <a:ext cx="5349240" cy="4297680"/>
          </a:xfrm>
          <a:prstGeom prst="rect">
            <a:avLst/>
          </a:prstGeom>
          <a:solidFill>
            <a:srgbClr val="EA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0" y="1856232"/>
            <a:ext cx="4892040" cy="457200"/>
          </a:xfrm>
          <a:prstGeom prst="rect">
            <a:avLst/>
          </a:prstGeom>
          <a:noFill/>
        </p:spPr>
        <p:txBody>
          <a:bodyPr wrap="square" lIns="0" tIns="0" rIns="0" bIns="0" anchor="t">
            <a:spAutoFit/>
          </a:bodyPr>
          <a:lstStyle/>
          <a:p>
            <a:pPr algn="l">
              <a:spcBef>
                <a:spcPts val="0"/>
              </a:spcBef>
              <a:spcAft>
                <a:spcPts val="600"/>
              </a:spcAft>
            </a:pPr>
            <a:r>
              <a:rPr sz="1800" b="1" i="0">
                <a:solidFill>
                  <a:srgbClr val="14B8A6"/>
                </a:solidFill>
                <a:latin typeface="Calibri"/>
              </a:rPr>
              <a:t>U IS NOT</a:t>
            </a:r>
          </a:p>
        </p:txBody>
      </p:sp>
      <p:sp>
        <p:nvSpPr>
          <p:cNvPr id="10" name="TextBox 9"/>
          <p:cNvSpPr txBox="1"/>
          <p:nvPr/>
        </p:nvSpPr>
        <p:spPr>
          <a:xfrm>
            <a:off x="6583680" y="2468880"/>
            <a:ext cx="4892040" cy="3291840"/>
          </a:xfrm>
          <a:prstGeom prst="rect">
            <a:avLst/>
          </a:prstGeom>
          <a:noFill/>
        </p:spPr>
        <p:txBody>
          <a:bodyPr wrap="square" lIns="0" tIns="0" rIns="0" bIns="0" anchor="t">
            <a:spAutoFit/>
          </a:bodyPr>
          <a:lstStyle/>
          <a:p>
            <a:pPr algn="l">
              <a:spcBef>
                <a:spcPts val="0"/>
              </a:spcBef>
              <a:spcAft>
                <a:spcPts val="900"/>
              </a:spcAft>
            </a:pPr>
            <a:r>
              <a:rPr sz="1500" b="1" i="0">
                <a:solidFill>
                  <a:srgbClr val="14B8A6"/>
                </a:solidFill>
                <a:latin typeface="Calibri"/>
              </a:rPr>
              <a:t>•  </a:t>
            </a:r>
            <a:r>
              <a:rPr sz="1500" b="0" i="0">
                <a:solidFill>
                  <a:srgbClr val="1A1D29"/>
                </a:solidFill>
                <a:latin typeface="Calibri"/>
              </a:rPr>
              <a:t>A statistical confidence interval (unless you add stats)</a:t>
            </a:r>
          </a:p>
          <a:p>
            <a:pPr algn="l">
              <a:spcBef>
                <a:spcPts val="0"/>
              </a:spcBef>
              <a:spcAft>
                <a:spcPts val="900"/>
              </a:spcAft>
            </a:pPr>
            <a:r>
              <a:rPr sz="1500" b="1" i="0">
                <a:solidFill>
                  <a:srgbClr val="14B8A6"/>
                </a:solidFill>
                <a:latin typeface="Calibri"/>
              </a:rPr>
              <a:t>•  </a:t>
            </a:r>
            <a:r>
              <a:rPr sz="1500" b="0" i="0">
                <a:solidFill>
                  <a:srgbClr val="1A1D29"/>
                </a:solidFill>
                <a:latin typeface="Calibri"/>
              </a:rPr>
              <a:t>A proven upper bound — some terms are omitted</a:t>
            </a:r>
          </a:p>
          <a:p>
            <a:pPr algn="l">
              <a:spcBef>
                <a:spcPts val="0"/>
              </a:spcBef>
              <a:spcAft>
                <a:spcPts val="900"/>
              </a:spcAft>
            </a:pPr>
            <a:r>
              <a:rPr sz="1500" b="1" i="0">
                <a:solidFill>
                  <a:srgbClr val="14B8A6"/>
                </a:solidFill>
                <a:latin typeface="Calibri"/>
              </a:rPr>
              <a:t>•  </a:t>
            </a:r>
            <a:r>
              <a:rPr sz="1500" b="0" i="0">
                <a:solidFill>
                  <a:srgbClr val="1A1D29"/>
                </a:solidFill>
                <a:latin typeface="Calibri"/>
              </a:rPr>
              <a:t>Zero just because PTP reports “SLAVE”</a:t>
            </a:r>
          </a:p>
        </p:txBody>
      </p:sp>
      <p:sp>
        <p:nvSpPr>
          <p:cNvPr id="11" name="Rectangle 10"/>
          <p:cNvSpPr/>
          <p:nvPr/>
        </p:nvSpPr>
        <p:spPr>
          <a:xfrm>
            <a:off x="0" y="6601968"/>
            <a:ext cx="12191695" cy="256032"/>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6583680"/>
            <a:ext cx="8229600" cy="256032"/>
          </a:xfrm>
          <a:prstGeom prst="rect">
            <a:avLst/>
          </a:prstGeom>
          <a:noFill/>
        </p:spPr>
        <p:txBody>
          <a:bodyPr wrap="square" lIns="0" tIns="0" rIns="0" bIns="0" anchor="ctr">
            <a:spAutoFit/>
          </a:bodyPr>
          <a:lstStyle/>
          <a:p>
            <a:pPr algn="l">
              <a:spcBef>
                <a:spcPts val="0"/>
              </a:spcBef>
              <a:spcAft>
                <a:spcPts val="600"/>
              </a:spcAft>
            </a:pPr>
            <a:r>
              <a:rPr sz="1000" b="0" i="0">
                <a:solidFill>
                  <a:srgbClr val="FFFFFF"/>
                </a:solidFill>
                <a:latin typeface="Calibri"/>
              </a:rPr>
              <a:t>Time Uncertainty as a First-Class Concept</a:t>
            </a:r>
          </a:p>
        </p:txBody>
      </p:sp>
      <p:sp>
        <p:nvSpPr>
          <p:cNvPr id="13" name="TextBox 12"/>
          <p:cNvSpPr txBox="1"/>
          <p:nvPr/>
        </p:nvSpPr>
        <p:spPr>
          <a:xfrm>
            <a:off x="11002975" y="6583680"/>
            <a:ext cx="731520" cy="256032"/>
          </a:xfrm>
          <a:prstGeom prst="rect">
            <a:avLst/>
          </a:prstGeom>
          <a:noFill/>
        </p:spPr>
        <p:txBody>
          <a:bodyPr wrap="square" lIns="0" tIns="0" rIns="0" bIns="0" anchor="ctr">
            <a:spAutoFit/>
          </a:bodyPr>
          <a:lstStyle/>
          <a:p>
            <a:pPr algn="r">
              <a:spcBef>
                <a:spcPts val="0"/>
              </a:spcBef>
              <a:spcAft>
                <a:spcPts val="600"/>
              </a:spcAft>
            </a:pPr>
            <a:r>
              <a:rPr sz="1000" b="1" i="0">
                <a:solidFill>
                  <a:srgbClr val="FFFFFF"/>
                </a:solidFill>
                <a:latin typeface="Calibri"/>
              </a:rPr>
              <a:t>11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subTnLst>
                                    <p:animClr clrSpc="rgb" dir="cw">
                                      <p:cBhvr override="childStyle">
                                        <p:cTn dur="1" fill="hold" display="0" masterRel="nextClick" afterEffect="1"/>
                                        <p:tgtEl>
                                          <p:spTgt spid="5"/>
                                        </p:tgtEl>
                                        <p:attrNameLst>
                                          <p:attrName>ppt_c</p:attrName>
                                        </p:attrNameLst>
                                      </p:cBhvr>
                                      <p:to>
                                        <a:schemeClr val="bg1"/>
                                      </p:to>
                                    </p:animClr>
                                  </p:sub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subTnLst>
                                    <p:animClr clrSpc="rgb" dir="cw">
                                      <p:cBhvr override="childStyle">
                                        <p:cTn dur="1" fill="hold" display="0" masterRel="nextClick" afterEffect="1"/>
                                        <p:tgtEl>
                                          <p:spTgt spid="6"/>
                                        </p:tgtEl>
                                        <p:attrNameLst>
                                          <p:attrName>ppt_c</p:attrName>
                                        </p:attrNameLst>
                                      </p:cBhvr>
                                      <p:to>
                                        <a:srgbClr val="9EA0A0"/>
                                      </p:to>
                                    </p:animClr>
                                  </p:sub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subTnLst>
                                    <p:animClr clrSpc="rgb" dir="cw">
                                      <p:cBhvr override="childStyle">
                                        <p:cTn dur="1" fill="hold" display="0" masterRel="nextClick" afterEffect="1"/>
                                        <p:tgtEl>
                                          <p:spTgt spid="7"/>
                                        </p:tgtEl>
                                        <p:attrNameLst>
                                          <p:attrName>ppt_c</p:attrName>
                                        </p:attrNameLst>
                                      </p:cBhvr>
                                      <p:to>
                                        <a:srgbClr val="9EA0A0"/>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p:bldP spid="8" grpId="0" animBg="1"/>
      <p:bldP spid="9" grpId="0"/>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E6BE6"/>
        </a:solidFill>
        <a:effectLst/>
      </p:bgPr>
    </p:bg>
    <p:spTree>
      <p:nvGrpSpPr>
        <p:cNvPr id="1" name=""/>
        <p:cNvGrpSpPr/>
        <p:nvPr/>
      </p:nvGrpSpPr>
      <p:grpSpPr>
        <a:xfrm>
          <a:off x="0" y="0"/>
          <a:ext cx="0" cy="0"/>
          <a:chOff x="0" y="0"/>
          <a:chExt cx="0" cy="0"/>
        </a:xfrm>
      </p:grpSpPr>
      <p:sp>
        <p:nvSpPr>
          <p:cNvPr id="2" name="Rectangle 1"/>
          <p:cNvSpPr/>
          <p:nvPr/>
        </p:nvSpPr>
        <p:spPr>
          <a:xfrm>
            <a:off x="0" y="2468880"/>
            <a:ext cx="3200400" cy="9144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1828800"/>
            <a:ext cx="10058400" cy="548640"/>
          </a:xfrm>
          <a:prstGeom prst="rect">
            <a:avLst/>
          </a:prstGeom>
          <a:noFill/>
        </p:spPr>
        <p:txBody>
          <a:bodyPr wrap="square" lIns="0" tIns="0" rIns="0" bIns="0" anchor="t">
            <a:spAutoFit/>
          </a:bodyPr>
          <a:lstStyle/>
          <a:p>
            <a:pPr algn="l">
              <a:spcBef>
                <a:spcPts val="0"/>
              </a:spcBef>
              <a:spcAft>
                <a:spcPts val="600"/>
              </a:spcAft>
            </a:pPr>
            <a:r>
              <a:rPr sz="2000" b="1" i="0">
                <a:solidFill>
                  <a:srgbClr val="C7D2F0"/>
                </a:solidFill>
                <a:latin typeface="Calibri"/>
              </a:rPr>
              <a:t>PART 3</a:t>
            </a:r>
          </a:p>
        </p:txBody>
      </p:sp>
      <p:sp>
        <p:nvSpPr>
          <p:cNvPr id="4" name="TextBox 3"/>
          <p:cNvSpPr txBox="1"/>
          <p:nvPr/>
        </p:nvSpPr>
        <p:spPr>
          <a:xfrm>
            <a:off x="804672" y="2697480"/>
            <a:ext cx="10515600" cy="1828800"/>
          </a:xfrm>
          <a:prstGeom prst="rect">
            <a:avLst/>
          </a:prstGeom>
          <a:noFill/>
        </p:spPr>
        <p:txBody>
          <a:bodyPr wrap="square" lIns="0" tIns="0" rIns="0" bIns="0" anchor="t">
            <a:spAutoFit/>
          </a:bodyPr>
          <a:lstStyle/>
          <a:p>
            <a:pPr algn="l">
              <a:spcBef>
                <a:spcPts val="0"/>
              </a:spcBef>
              <a:spcAft>
                <a:spcPts val="600"/>
              </a:spcAft>
            </a:pPr>
            <a:r>
              <a:rPr sz="4000" b="1" i="0">
                <a:solidFill>
                  <a:srgbClr val="FFFFFF"/>
                </a:solidFill>
                <a:latin typeface="Calibri"/>
              </a:rPr>
              <a:t>Where does uncertainty come from?</a:t>
            </a:r>
          </a:p>
        </p:txBody>
      </p:sp>
      <p:sp>
        <p:nvSpPr>
          <p:cNvPr id="5" name="TextBox 4"/>
          <p:cNvSpPr txBox="1"/>
          <p:nvPr/>
        </p:nvSpPr>
        <p:spPr>
          <a:xfrm>
            <a:off x="11002975" y="6263640"/>
            <a:ext cx="822960" cy="365760"/>
          </a:xfrm>
          <a:prstGeom prst="rect">
            <a:avLst/>
          </a:prstGeom>
          <a:noFill/>
        </p:spPr>
        <p:txBody>
          <a:bodyPr wrap="square" lIns="0" tIns="0" rIns="0" bIns="0" anchor="t">
            <a:spAutoFit/>
          </a:bodyPr>
          <a:lstStyle/>
          <a:p>
            <a:pPr algn="r">
              <a:spcBef>
                <a:spcPts val="0"/>
              </a:spcBef>
              <a:spcAft>
                <a:spcPts val="600"/>
              </a:spcAft>
            </a:pPr>
            <a:r>
              <a:rPr sz="1200" b="1" i="0">
                <a:solidFill>
                  <a:srgbClr val="FFFFFF"/>
                </a:solidFill>
                <a:latin typeface="Calibri"/>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1143000"/>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0972800" cy="365760"/>
          </a:xfrm>
          <a:prstGeom prst="rect">
            <a:avLst/>
          </a:prstGeom>
          <a:noFill/>
        </p:spPr>
        <p:txBody>
          <a:bodyPr wrap="square" lIns="0" tIns="0" rIns="0" bIns="0" anchor="t">
            <a:spAutoFit/>
          </a:bodyPr>
          <a:lstStyle/>
          <a:p>
            <a:pPr algn="l">
              <a:spcBef>
                <a:spcPts val="0"/>
              </a:spcBef>
              <a:spcAft>
                <a:spcPts val="600"/>
              </a:spcAft>
            </a:pPr>
            <a:r>
              <a:rPr sz="1300" b="1" i="0">
                <a:solidFill>
                  <a:srgbClr val="2E6BE6"/>
                </a:solidFill>
                <a:latin typeface="Calibri"/>
              </a:rPr>
              <a:t>ANATOMY</a:t>
            </a:r>
          </a:p>
        </p:txBody>
      </p:sp>
      <p:sp>
        <p:nvSpPr>
          <p:cNvPr id="4" name="TextBox 3"/>
          <p:cNvSpPr txBox="1"/>
          <p:nvPr/>
        </p:nvSpPr>
        <p:spPr>
          <a:xfrm>
            <a:off x="502920" y="566928"/>
            <a:ext cx="11155680" cy="822960"/>
          </a:xfrm>
          <a:prstGeom prst="rect">
            <a:avLst/>
          </a:prstGeom>
          <a:noFill/>
        </p:spPr>
        <p:txBody>
          <a:bodyPr wrap="square" lIns="0" tIns="0" rIns="0" bIns="0" anchor="t">
            <a:spAutoFit/>
          </a:bodyPr>
          <a:lstStyle/>
          <a:p>
            <a:pPr algn="l">
              <a:spcBef>
                <a:spcPts val="0"/>
              </a:spcBef>
              <a:spcAft>
                <a:spcPts val="600"/>
              </a:spcAft>
            </a:pPr>
            <a:r>
              <a:rPr sz="3000" b="1" i="0">
                <a:solidFill>
                  <a:srgbClr val="1A1D29"/>
                </a:solidFill>
                <a:latin typeface="Calibri"/>
              </a:rPr>
              <a:t>Walk the stack, bottom to top</a:t>
            </a:r>
          </a:p>
        </p:txBody>
      </p:sp>
      <p:sp>
        <p:nvSpPr>
          <p:cNvPr id="5" name="Rectangle 4"/>
          <p:cNvSpPr/>
          <p:nvPr/>
        </p:nvSpPr>
        <p:spPr>
          <a:xfrm>
            <a:off x="640080" y="1600200"/>
            <a:ext cx="10881360" cy="4114800"/>
          </a:xfrm>
          <a:prstGeom prst="rect">
            <a:avLst/>
          </a:prstGeom>
          <a:solidFill>
            <a:srgbClr val="111627"/>
          </a:solidFill>
          <a:ln>
            <a:noFill/>
          </a:ln>
          <a:effectLst/>
        </p:spPr>
        <p:style>
          <a:lnRef idx="1">
            <a:schemeClr val="accent1"/>
          </a:lnRef>
          <a:fillRef idx="3">
            <a:schemeClr val="accent1"/>
          </a:fillRef>
          <a:effectRef idx="2">
            <a:schemeClr val="accent1"/>
          </a:effectRef>
          <a:fontRef idx="minor">
            <a:schemeClr val="lt1"/>
          </a:fontRef>
        </p:style>
        <p:txBody>
          <a:bodyPr wrap="none" lIns="274320" tIns="182880" rIns="182880" bIns="182880" rtlCol="0" anchor="ctr"/>
          <a:lstStyle/>
          <a:p>
            <a:pPr algn="l">
              <a:spcAft>
                <a:spcPts val="200"/>
              </a:spcAft>
            </a:pPr>
            <a:r>
              <a:rPr sz="1500">
                <a:solidFill>
                  <a:srgbClr val="D6E2FF"/>
                </a:solidFill>
                <a:latin typeface="Consolas"/>
              </a:rPr>
              <a:t>  6  Userspace observation delay   &lt;- syscall + scheduling</a:t>
            </a:r>
          </a:p>
          <a:p>
            <a:pPr algn="l">
              <a:spcAft>
                <a:spcPts val="200"/>
              </a:spcAft>
            </a:pPr>
            <a:r>
              <a:rPr sz="1500">
                <a:solidFill>
                  <a:srgbClr val="D6E2FF"/>
                </a:solidFill>
                <a:latin typeface="Consolas"/>
              </a:rPr>
              <a:t>  5  Kernel -&gt; userspace transfer  &lt;- IRQ, softirq, copy</a:t>
            </a:r>
          </a:p>
          <a:p>
            <a:pPr algn="l">
              <a:spcAft>
                <a:spcPts val="200"/>
              </a:spcAft>
            </a:pPr>
            <a:r>
              <a:rPr sz="1500">
                <a:solidFill>
                  <a:srgbClr val="D6E2FF"/>
                </a:solidFill>
                <a:latin typeface="Consolas"/>
              </a:rPr>
              <a:t>  4  Timestamp capture point       &lt;- HW vs SW</a:t>
            </a:r>
          </a:p>
          <a:p>
            <a:pPr algn="l">
              <a:spcAft>
                <a:spcPts val="200"/>
              </a:spcAft>
            </a:pPr>
            <a:r>
              <a:rPr sz="1500">
                <a:solidFill>
                  <a:srgbClr val="D6E2FF"/>
                </a:solidFill>
                <a:latin typeface="Consolas"/>
              </a:rPr>
              <a:t>  3  Network                       &lt;- queueing, routing, hop count</a:t>
            </a:r>
          </a:p>
          <a:p>
            <a:pPr algn="l">
              <a:spcAft>
                <a:spcPts val="200"/>
              </a:spcAft>
            </a:pPr>
            <a:r>
              <a:rPr sz="1500">
                <a:solidFill>
                  <a:srgbClr val="D6E2FF"/>
                </a:solidFill>
                <a:latin typeface="Consolas"/>
              </a:rPr>
              <a:t>  2  PHC clock                     &lt;- offset, clock resolution</a:t>
            </a:r>
          </a:p>
          <a:p>
            <a:pPr algn="l">
              <a:spcAft>
                <a:spcPts val="200"/>
              </a:spcAft>
            </a:pPr>
            <a:r>
              <a:rPr sz="1500">
                <a:solidFill>
                  <a:srgbClr val="D6E2FF"/>
                </a:solidFill>
                <a:latin typeface="Consolas"/>
              </a:rPr>
              <a:t>  1  Oscillator                    &lt;- drift, temperature</a:t>
            </a:r>
          </a:p>
        </p:txBody>
      </p:sp>
      <p:sp>
        <p:nvSpPr>
          <p:cNvPr id="6" name="TextBox 5"/>
          <p:cNvSpPr txBox="1"/>
          <p:nvPr/>
        </p:nvSpPr>
        <p:spPr>
          <a:xfrm>
            <a:off x="658368" y="5824728"/>
            <a:ext cx="10881360" cy="457200"/>
          </a:xfrm>
          <a:prstGeom prst="rect">
            <a:avLst/>
          </a:prstGeom>
          <a:noFill/>
        </p:spPr>
        <p:txBody>
          <a:bodyPr wrap="square" lIns="0" tIns="0" rIns="0" bIns="0" anchor="t">
            <a:spAutoFit/>
          </a:bodyPr>
          <a:lstStyle/>
          <a:p>
            <a:pPr algn="l">
              <a:spcBef>
                <a:spcPts val="0"/>
              </a:spcBef>
              <a:spcAft>
                <a:spcPts val="600"/>
              </a:spcAft>
            </a:pPr>
            <a:r>
              <a:rPr sz="1500" b="0" i="1" dirty="0">
                <a:solidFill>
                  <a:srgbClr val="5B6172"/>
                </a:solidFill>
                <a:latin typeface="Calibri"/>
              </a:rPr>
              <a:t>Each layer adds error or delay. Only some layers expose metrics.</a:t>
            </a:r>
          </a:p>
        </p:txBody>
      </p:sp>
      <p:sp>
        <p:nvSpPr>
          <p:cNvPr id="7" name="Rectangle 6"/>
          <p:cNvSpPr/>
          <p:nvPr/>
        </p:nvSpPr>
        <p:spPr>
          <a:xfrm>
            <a:off x="0" y="6601968"/>
            <a:ext cx="12191695" cy="256032"/>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83680"/>
            <a:ext cx="8229600" cy="256032"/>
          </a:xfrm>
          <a:prstGeom prst="rect">
            <a:avLst/>
          </a:prstGeom>
          <a:noFill/>
        </p:spPr>
        <p:txBody>
          <a:bodyPr wrap="square" lIns="0" tIns="0" rIns="0" bIns="0" anchor="ctr">
            <a:spAutoFit/>
          </a:bodyPr>
          <a:lstStyle/>
          <a:p>
            <a:pPr algn="l">
              <a:spcBef>
                <a:spcPts val="0"/>
              </a:spcBef>
              <a:spcAft>
                <a:spcPts val="600"/>
              </a:spcAft>
            </a:pPr>
            <a:r>
              <a:rPr sz="1000" b="0" i="0">
                <a:solidFill>
                  <a:srgbClr val="FFFFFF"/>
                </a:solidFill>
                <a:latin typeface="Calibri"/>
              </a:rPr>
              <a:t>Time Uncertainty as a First-Class Concept</a:t>
            </a:r>
          </a:p>
        </p:txBody>
      </p:sp>
      <p:sp>
        <p:nvSpPr>
          <p:cNvPr id="9" name="TextBox 8"/>
          <p:cNvSpPr txBox="1"/>
          <p:nvPr/>
        </p:nvSpPr>
        <p:spPr>
          <a:xfrm>
            <a:off x="11002975" y="6583680"/>
            <a:ext cx="731520" cy="256032"/>
          </a:xfrm>
          <a:prstGeom prst="rect">
            <a:avLst/>
          </a:prstGeom>
          <a:noFill/>
        </p:spPr>
        <p:txBody>
          <a:bodyPr wrap="square" lIns="0" tIns="0" rIns="0" bIns="0" anchor="ctr">
            <a:spAutoFit/>
          </a:bodyPr>
          <a:lstStyle/>
          <a:p>
            <a:pPr algn="r">
              <a:spcBef>
                <a:spcPts val="0"/>
              </a:spcBef>
              <a:spcAft>
                <a:spcPts val="600"/>
              </a:spcAft>
            </a:pPr>
            <a:r>
              <a:rPr sz="1000" b="1" i="0">
                <a:solidFill>
                  <a:srgbClr val="FFFFFF"/>
                </a:solidFill>
                <a:latin typeface="Calibri"/>
              </a:rPr>
              <a:t>13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1143000"/>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0972800" cy="365760"/>
          </a:xfrm>
          <a:prstGeom prst="rect">
            <a:avLst/>
          </a:prstGeom>
          <a:noFill/>
        </p:spPr>
        <p:txBody>
          <a:bodyPr wrap="square" lIns="0" tIns="0" rIns="0" bIns="0" anchor="t">
            <a:spAutoFit/>
          </a:bodyPr>
          <a:lstStyle/>
          <a:p>
            <a:pPr algn="l">
              <a:spcBef>
                <a:spcPts val="0"/>
              </a:spcBef>
              <a:spcAft>
                <a:spcPts val="600"/>
              </a:spcAft>
            </a:pPr>
            <a:r>
              <a:rPr sz="1300" b="1" i="0">
                <a:solidFill>
                  <a:srgbClr val="2E6BE6"/>
                </a:solidFill>
                <a:latin typeface="Calibri"/>
              </a:rPr>
              <a:t>ANATOMY</a:t>
            </a:r>
          </a:p>
        </p:txBody>
      </p:sp>
      <p:sp>
        <p:nvSpPr>
          <p:cNvPr id="4" name="TextBox 3"/>
          <p:cNvSpPr txBox="1"/>
          <p:nvPr/>
        </p:nvSpPr>
        <p:spPr>
          <a:xfrm>
            <a:off x="502920" y="566928"/>
            <a:ext cx="11155680" cy="822960"/>
          </a:xfrm>
          <a:prstGeom prst="rect">
            <a:avLst/>
          </a:prstGeom>
          <a:noFill/>
        </p:spPr>
        <p:txBody>
          <a:bodyPr wrap="square" lIns="0" tIns="0" rIns="0" bIns="0" anchor="t">
            <a:spAutoFit/>
          </a:bodyPr>
          <a:lstStyle/>
          <a:p>
            <a:pPr algn="l">
              <a:spcBef>
                <a:spcPts val="0"/>
              </a:spcBef>
              <a:spcAft>
                <a:spcPts val="600"/>
              </a:spcAft>
            </a:pPr>
            <a:r>
              <a:rPr sz="3000" b="1" i="0">
                <a:solidFill>
                  <a:srgbClr val="1A1D29"/>
                </a:solidFill>
                <a:latin typeface="Calibri"/>
              </a:rPr>
              <a:t>The uncertainty budget: every source</a:t>
            </a:r>
          </a:p>
        </p:txBody>
      </p:sp>
      <p:graphicFrame>
        <p:nvGraphicFramePr>
          <p:cNvPr id="5" name="Table 4"/>
          <p:cNvGraphicFramePr>
            <a:graphicFrameLocks noGrp="1"/>
          </p:cNvGraphicFramePr>
          <p:nvPr/>
        </p:nvGraphicFramePr>
        <p:xfrm>
          <a:off x="640080" y="1645920"/>
          <a:ext cx="10881360" cy="4114800"/>
        </p:xfrm>
        <a:graphic>
          <a:graphicData uri="http://schemas.openxmlformats.org/drawingml/2006/table">
            <a:tbl>
              <a:tblPr firstRow="1" bandRow="1">
                <a:tableStyleId>{5C22544A-7EE6-4342-B048-85BDC9FD1C3A}</a:tableStyleId>
              </a:tblPr>
              <a:tblGrid>
                <a:gridCol w="3627120">
                  <a:extLst>
                    <a:ext uri="{9D8B030D-6E8A-4147-A177-3AD203B41FA5}">
                      <a16:colId xmlns:a16="http://schemas.microsoft.com/office/drawing/2014/main" val="20000"/>
                    </a:ext>
                  </a:extLst>
                </a:gridCol>
                <a:gridCol w="3627120">
                  <a:extLst>
                    <a:ext uri="{9D8B030D-6E8A-4147-A177-3AD203B41FA5}">
                      <a16:colId xmlns:a16="http://schemas.microsoft.com/office/drawing/2014/main" val="20001"/>
                    </a:ext>
                  </a:extLst>
                </a:gridCol>
                <a:gridCol w="3627120">
                  <a:extLst>
                    <a:ext uri="{9D8B030D-6E8A-4147-A177-3AD203B41FA5}">
                      <a16:colId xmlns:a16="http://schemas.microsoft.com/office/drawing/2014/main" val="20002"/>
                    </a:ext>
                  </a:extLst>
                </a:gridCol>
              </a:tblGrid>
              <a:tr h="457200">
                <a:tc>
                  <a:txBody>
                    <a:bodyPr/>
                    <a:lstStyle/>
                    <a:p>
                      <a:r>
                        <a:rPr sz="1500" b="1">
                          <a:solidFill>
                            <a:srgbClr val="FFFFFF"/>
                          </a:solidFill>
                          <a:latin typeface="Calibri"/>
                        </a:rPr>
                        <a:t>Source of error</a:t>
                      </a:r>
                    </a:p>
                  </a:txBody>
                  <a:tcPr marL="109728">
                    <a:solidFill>
                      <a:srgbClr val="2E6BE6"/>
                    </a:solidFill>
                  </a:tcPr>
                </a:tc>
                <a:tc>
                  <a:txBody>
                    <a:bodyPr/>
                    <a:lstStyle/>
                    <a:p>
                      <a:r>
                        <a:rPr sz="1500" b="1">
                          <a:solidFill>
                            <a:srgbClr val="FFFFFF"/>
                          </a:solidFill>
                          <a:latin typeface="Calibri"/>
                        </a:rPr>
                        <a:t>What it contributes</a:t>
                      </a:r>
                    </a:p>
                  </a:txBody>
                  <a:tcPr marL="109728">
                    <a:solidFill>
                      <a:srgbClr val="2E6BE6"/>
                    </a:solidFill>
                  </a:tcPr>
                </a:tc>
                <a:tc>
                  <a:txBody>
                    <a:bodyPr/>
                    <a:lstStyle/>
                    <a:p>
                      <a:r>
                        <a:rPr sz="1500" b="1">
                          <a:solidFill>
                            <a:srgbClr val="FFFFFF"/>
                          </a:solidFill>
                          <a:latin typeface="Calibri"/>
                        </a:rPr>
                        <a:t>Where it lands</a:t>
                      </a:r>
                    </a:p>
                  </a:txBody>
                  <a:tcPr marL="109728">
                    <a:solidFill>
                      <a:srgbClr val="2E6BE6"/>
                    </a:solidFill>
                  </a:tcPr>
                </a:tc>
                <a:extLst>
                  <a:ext uri="{0D108BD9-81ED-4DB2-BD59-A6C34878D82A}">
                    <a16:rowId xmlns:a16="http://schemas.microsoft.com/office/drawing/2014/main" val="10000"/>
                  </a:ext>
                </a:extLst>
              </a:tr>
              <a:tr h="457200">
                <a:tc>
                  <a:txBody>
                    <a:bodyPr/>
                    <a:lstStyle/>
                    <a:p>
                      <a:r>
                        <a:rPr sz="1200" b="1" dirty="0">
                          <a:solidFill>
                            <a:srgbClr val="1A1D29"/>
                          </a:solidFill>
                          <a:latin typeface="Calibri"/>
                        </a:rPr>
                        <a:t>Grandmaster class</a:t>
                      </a:r>
                    </a:p>
                  </a:txBody>
                  <a:tcPr marL="109728" marT="36576" marB="36576">
                    <a:solidFill>
                      <a:srgbClr val="FFFFFF"/>
                    </a:solidFill>
                  </a:tcPr>
                </a:tc>
                <a:tc>
                  <a:txBody>
                    <a:bodyPr/>
                    <a:lstStyle/>
                    <a:p>
                      <a:r>
                        <a:rPr sz="1200" b="0" dirty="0">
                          <a:solidFill>
                            <a:srgbClr val="5B6172"/>
                          </a:solidFill>
                          <a:latin typeface="Calibri"/>
                        </a:rPr>
                        <a:t>advertised GM quality (</a:t>
                      </a:r>
                      <a:r>
                        <a:rPr sz="1200" b="0" dirty="0" err="1">
                          <a:solidFill>
                            <a:srgbClr val="5B6172"/>
                          </a:solidFill>
                          <a:latin typeface="Calibri"/>
                        </a:rPr>
                        <a:t>clockClass</a:t>
                      </a:r>
                      <a:r>
                        <a:rPr sz="1200" b="0" dirty="0">
                          <a:solidFill>
                            <a:srgbClr val="5B6172"/>
                          </a:solidFill>
                          <a:latin typeface="Calibri"/>
                        </a:rPr>
                        <a:t> / accuracy)</a:t>
                      </a:r>
                    </a:p>
                  </a:txBody>
                  <a:tcPr marL="109728" marT="36576" marB="36576">
                    <a:solidFill>
                      <a:srgbClr val="FFFFFF"/>
                    </a:solidFill>
                  </a:tcPr>
                </a:tc>
                <a:tc>
                  <a:txBody>
                    <a:bodyPr/>
                    <a:lstStyle/>
                    <a:p>
                      <a:r>
                        <a:rPr sz="1200" b="0" dirty="0">
                          <a:solidFill>
                            <a:srgbClr val="5B6172"/>
                          </a:solidFill>
                          <a:latin typeface="Calibri"/>
                        </a:rPr>
                        <a:t>assumed bound</a:t>
                      </a:r>
                    </a:p>
                  </a:txBody>
                  <a:tcPr marL="109728" marT="36576" marB="36576">
                    <a:solidFill>
                      <a:srgbClr val="FFFFFF"/>
                    </a:solidFill>
                  </a:tcPr>
                </a:tc>
                <a:extLst>
                  <a:ext uri="{0D108BD9-81ED-4DB2-BD59-A6C34878D82A}">
                    <a16:rowId xmlns:a16="http://schemas.microsoft.com/office/drawing/2014/main" val="10001"/>
                  </a:ext>
                </a:extLst>
              </a:tr>
              <a:tr h="457200">
                <a:tc>
                  <a:txBody>
                    <a:bodyPr/>
                    <a:lstStyle/>
                    <a:p>
                      <a:r>
                        <a:rPr sz="1200" b="1">
                          <a:solidFill>
                            <a:srgbClr val="1A1D29"/>
                          </a:solidFill>
                          <a:latin typeface="Calibri"/>
                        </a:rPr>
                        <a:t>Offset from grandmaster</a:t>
                      </a:r>
                    </a:p>
                  </a:txBody>
                  <a:tcPr marL="109728" marT="36576" marB="36576">
                    <a:solidFill>
                      <a:srgbClr val="EDF1FB"/>
                    </a:solidFill>
                  </a:tcPr>
                </a:tc>
                <a:tc>
                  <a:txBody>
                    <a:bodyPr/>
                    <a:lstStyle/>
                    <a:p>
                      <a:r>
                        <a:rPr sz="1200" b="0" dirty="0">
                          <a:solidFill>
                            <a:srgbClr val="5B6172"/>
                          </a:solidFill>
                          <a:latin typeface="Calibri"/>
                        </a:rPr>
                        <a:t>estimated bias, from the t1–t4 exchange</a:t>
                      </a:r>
                    </a:p>
                  </a:txBody>
                  <a:tcPr marL="109728" marT="36576" marB="36576">
                    <a:solidFill>
                      <a:srgbClr val="EDF1FB"/>
                    </a:solidFill>
                  </a:tcPr>
                </a:tc>
                <a:tc>
                  <a:txBody>
                    <a:bodyPr/>
                    <a:lstStyle/>
                    <a:p>
                      <a:r>
                        <a:rPr sz="1200" b="0" dirty="0" err="1">
                          <a:solidFill>
                            <a:srgbClr val="5B6172"/>
                          </a:solidFill>
                          <a:latin typeface="Calibri"/>
                        </a:rPr>
                        <a:t>U_clock</a:t>
                      </a:r>
                      <a:r>
                        <a:rPr sz="1200" b="0" dirty="0">
                          <a:solidFill>
                            <a:srgbClr val="5B6172"/>
                          </a:solidFill>
                          <a:latin typeface="Calibri"/>
                        </a:rPr>
                        <a:t>: |</a:t>
                      </a:r>
                      <a:r>
                        <a:rPr sz="1200" b="0" dirty="0" err="1">
                          <a:solidFill>
                            <a:srgbClr val="5B6172"/>
                          </a:solidFill>
                          <a:latin typeface="Calibri"/>
                        </a:rPr>
                        <a:t>offset_est</a:t>
                      </a:r>
                      <a:r>
                        <a:rPr sz="1200" b="0" dirty="0">
                          <a:solidFill>
                            <a:srgbClr val="5B6172"/>
                          </a:solidFill>
                          <a:latin typeface="Calibri"/>
                        </a:rPr>
                        <a:t>| + </a:t>
                      </a:r>
                      <a:r>
                        <a:rPr sz="1200" b="0" dirty="0" err="1">
                          <a:solidFill>
                            <a:srgbClr val="5B6172"/>
                          </a:solidFill>
                          <a:latin typeface="Calibri"/>
                        </a:rPr>
                        <a:t>U_est</a:t>
                      </a:r>
                      <a:endParaRPr sz="1200" b="0" dirty="0">
                        <a:solidFill>
                          <a:srgbClr val="5B6172"/>
                        </a:solidFill>
                        <a:latin typeface="Calibri"/>
                      </a:endParaRPr>
                    </a:p>
                  </a:txBody>
                  <a:tcPr marL="109728" marT="36576" marB="36576">
                    <a:solidFill>
                      <a:srgbClr val="EDF1FB"/>
                    </a:solidFill>
                  </a:tcPr>
                </a:tc>
                <a:extLst>
                  <a:ext uri="{0D108BD9-81ED-4DB2-BD59-A6C34878D82A}">
                    <a16:rowId xmlns:a16="http://schemas.microsoft.com/office/drawing/2014/main" val="10002"/>
                  </a:ext>
                </a:extLst>
              </a:tr>
              <a:tr h="457200">
                <a:tc>
                  <a:txBody>
                    <a:bodyPr/>
                    <a:lstStyle/>
                    <a:p>
                      <a:r>
                        <a:rPr sz="1200" b="1">
                          <a:solidFill>
                            <a:srgbClr val="1A1D29"/>
                          </a:solidFill>
                          <a:latin typeface="Calibri"/>
                        </a:rPr>
                        <a:t>Residual oscillator drift</a:t>
                      </a:r>
                    </a:p>
                  </a:txBody>
                  <a:tcPr marL="109728" marT="36576" marB="36576">
                    <a:solidFill>
                      <a:srgbClr val="FFFFFF"/>
                    </a:solidFill>
                  </a:tcPr>
                </a:tc>
                <a:tc>
                  <a:txBody>
                    <a:bodyPr/>
                    <a:lstStyle/>
                    <a:p>
                      <a:r>
                        <a:rPr sz="1200" b="0">
                          <a:solidFill>
                            <a:srgbClr val="5B6172"/>
                          </a:solidFill>
                          <a:latin typeface="Calibri"/>
                        </a:rPr>
                        <a:t>freq error left after discipline (≤ D_max)</a:t>
                      </a:r>
                    </a:p>
                  </a:txBody>
                  <a:tcPr marL="109728" marT="36576" marB="36576">
                    <a:solidFill>
                      <a:srgbClr val="FFFFFF"/>
                    </a:solidFill>
                  </a:tcPr>
                </a:tc>
                <a:tc>
                  <a:txBody>
                    <a:bodyPr/>
                    <a:lstStyle/>
                    <a:p>
                      <a:r>
                        <a:rPr sz="1200" b="0">
                          <a:solidFill>
                            <a:srgbClr val="5B6172"/>
                          </a:solidFill>
                          <a:latin typeface="Calibri"/>
                        </a:rPr>
                        <a:t>U_clock: age × D_max</a:t>
                      </a:r>
                    </a:p>
                  </a:txBody>
                  <a:tcPr marL="109728" marT="36576" marB="36576">
                    <a:solidFill>
                      <a:srgbClr val="FFFFFF"/>
                    </a:solidFill>
                  </a:tcPr>
                </a:tc>
                <a:extLst>
                  <a:ext uri="{0D108BD9-81ED-4DB2-BD59-A6C34878D82A}">
                    <a16:rowId xmlns:a16="http://schemas.microsoft.com/office/drawing/2014/main" val="10003"/>
                  </a:ext>
                </a:extLst>
              </a:tr>
              <a:tr h="457200">
                <a:tc>
                  <a:txBody>
                    <a:bodyPr/>
                    <a:lstStyle/>
                    <a:p>
                      <a:r>
                        <a:rPr sz="1200" b="1">
                          <a:solidFill>
                            <a:srgbClr val="1A1D29"/>
                          </a:solidFill>
                          <a:latin typeface="Calibri"/>
                        </a:rPr>
                        <a:t>Holdover</a:t>
                      </a:r>
                    </a:p>
                  </a:txBody>
                  <a:tcPr marL="109728" marT="36576" marB="36576">
                    <a:solidFill>
                      <a:srgbClr val="EDF1FB"/>
                    </a:solidFill>
                  </a:tcPr>
                </a:tc>
                <a:tc>
                  <a:txBody>
                    <a:bodyPr/>
                    <a:lstStyle/>
                    <a:p>
                      <a:r>
                        <a:rPr sz="1200" b="0">
                          <a:solidFill>
                            <a:srgbClr val="5B6172"/>
                          </a:solidFill>
                          <a:latin typeface="Calibri"/>
                        </a:rPr>
                        <a:t>no discipline (ptp4l down) — age keeps growing</a:t>
                      </a:r>
                    </a:p>
                  </a:txBody>
                  <a:tcPr marL="109728" marT="36576" marB="36576">
                    <a:solidFill>
                      <a:srgbClr val="EDF1FB"/>
                    </a:solidFill>
                  </a:tcPr>
                </a:tc>
                <a:tc>
                  <a:txBody>
                    <a:bodyPr/>
                    <a:lstStyle/>
                    <a:p>
                      <a:r>
                        <a:rPr sz="1200" b="0">
                          <a:solidFill>
                            <a:srgbClr val="5B6172"/>
                          </a:solidFill>
                          <a:latin typeface="Calibri"/>
                        </a:rPr>
                        <a:t>U_clock: anchor held</a:t>
                      </a:r>
                    </a:p>
                  </a:txBody>
                  <a:tcPr marL="109728" marT="36576" marB="36576">
                    <a:solidFill>
                      <a:srgbClr val="EDF1FB"/>
                    </a:solidFill>
                  </a:tcPr>
                </a:tc>
                <a:extLst>
                  <a:ext uri="{0D108BD9-81ED-4DB2-BD59-A6C34878D82A}">
                    <a16:rowId xmlns:a16="http://schemas.microsoft.com/office/drawing/2014/main" val="10004"/>
                  </a:ext>
                </a:extLst>
              </a:tr>
              <a:tr h="457200">
                <a:tc>
                  <a:txBody>
                    <a:bodyPr/>
                    <a:lstStyle/>
                    <a:p>
                      <a:r>
                        <a:rPr sz="1200" b="1">
                          <a:solidFill>
                            <a:srgbClr val="1A1D29"/>
                          </a:solidFill>
                          <a:latin typeface="Calibri"/>
                        </a:rPr>
                        <a:t>Clock resolution</a:t>
                      </a:r>
                    </a:p>
                  </a:txBody>
                  <a:tcPr marL="109728" marT="36576" marB="36576">
                    <a:solidFill>
                      <a:srgbClr val="FFFFFF"/>
                    </a:solidFill>
                  </a:tcPr>
                </a:tc>
                <a:tc>
                  <a:txBody>
                    <a:bodyPr/>
                    <a:lstStyle/>
                    <a:p>
                      <a:r>
                        <a:rPr sz="1200" b="0">
                          <a:solidFill>
                            <a:srgbClr val="5B6172"/>
                          </a:solidFill>
                          <a:latin typeface="Calibri"/>
                        </a:rPr>
                        <a:t>granularity of the timestamp tick</a:t>
                      </a:r>
                    </a:p>
                  </a:txBody>
                  <a:tcPr marL="109728" marT="36576" marB="36576">
                    <a:solidFill>
                      <a:srgbClr val="FFFFFF"/>
                    </a:solidFill>
                  </a:tcPr>
                </a:tc>
                <a:tc>
                  <a:txBody>
                    <a:bodyPr/>
                    <a:lstStyle/>
                    <a:p>
                      <a:r>
                        <a:rPr sz="1200" b="0">
                          <a:solidFill>
                            <a:srgbClr val="5B6172"/>
                          </a:solidFill>
                          <a:latin typeface="Calibri"/>
                        </a:rPr>
                        <a:t>U_clock: ½ tick</a:t>
                      </a:r>
                    </a:p>
                  </a:txBody>
                  <a:tcPr marL="109728" marT="36576" marB="36576">
                    <a:solidFill>
                      <a:srgbClr val="FFFFFF"/>
                    </a:solidFill>
                  </a:tcPr>
                </a:tc>
                <a:extLst>
                  <a:ext uri="{0D108BD9-81ED-4DB2-BD59-A6C34878D82A}">
                    <a16:rowId xmlns:a16="http://schemas.microsoft.com/office/drawing/2014/main" val="10005"/>
                  </a:ext>
                </a:extLst>
              </a:tr>
              <a:tr h="457200">
                <a:tc>
                  <a:txBody>
                    <a:bodyPr/>
                    <a:lstStyle/>
                    <a:p>
                      <a:r>
                        <a:rPr sz="1200" b="1">
                          <a:solidFill>
                            <a:srgbClr val="1A1D29"/>
                          </a:solidFill>
                          <a:latin typeface="Calibri"/>
                        </a:rPr>
                        <a:t>Path-element delays</a:t>
                      </a:r>
                    </a:p>
                  </a:txBody>
                  <a:tcPr marL="109728" marT="36576" marB="36576">
                    <a:solidFill>
                      <a:srgbClr val="EDF1FB"/>
                    </a:solidFill>
                  </a:tcPr>
                </a:tc>
                <a:tc>
                  <a:txBody>
                    <a:bodyPr/>
                    <a:lstStyle/>
                    <a:p>
                      <a:r>
                        <a:rPr sz="1200" b="0">
                          <a:solidFill>
                            <a:srgbClr val="5B6172"/>
                          </a:solidFill>
                          <a:latin typeface="Calibri"/>
                        </a:rPr>
                        <a:t>estimated mean is compensated by PTP</a:t>
                      </a:r>
                    </a:p>
                  </a:txBody>
                  <a:tcPr marL="109728" marT="36576" marB="36576">
                    <a:solidFill>
                      <a:srgbClr val="EDF1FB"/>
                    </a:solidFill>
                  </a:tcPr>
                </a:tc>
                <a:tc>
                  <a:txBody>
                    <a:bodyPr/>
                    <a:lstStyle/>
                    <a:p>
                      <a:r>
                        <a:rPr sz="1200" b="0">
                          <a:solidFill>
                            <a:srgbClr val="5B6172"/>
                          </a:solidFill>
                          <a:latin typeface="Calibri"/>
                        </a:rPr>
                        <a:t>residual est. error → U_est</a:t>
                      </a:r>
                    </a:p>
                  </a:txBody>
                  <a:tcPr marL="109728" marT="36576" marB="36576">
                    <a:solidFill>
                      <a:srgbClr val="EDF1FB"/>
                    </a:solidFill>
                  </a:tcPr>
                </a:tc>
                <a:extLst>
                  <a:ext uri="{0D108BD9-81ED-4DB2-BD59-A6C34878D82A}">
                    <a16:rowId xmlns:a16="http://schemas.microsoft.com/office/drawing/2014/main" val="10006"/>
                  </a:ext>
                </a:extLst>
              </a:tr>
              <a:tr h="457200">
                <a:tc>
                  <a:txBody>
                    <a:bodyPr/>
                    <a:lstStyle/>
                    <a:p>
                      <a:r>
                        <a:rPr sz="1200" b="1">
                          <a:solidFill>
                            <a:srgbClr val="1A1D29"/>
                          </a:solidFill>
                          <a:latin typeface="Calibri"/>
                        </a:rPr>
                        <a:t>Link asymmetry</a:t>
                      </a:r>
                    </a:p>
                  </a:txBody>
                  <a:tcPr marL="109728" marT="36576" marB="36576">
                    <a:solidFill>
                      <a:srgbClr val="FFFFFF"/>
                    </a:solidFill>
                  </a:tcPr>
                </a:tc>
                <a:tc>
                  <a:txBody>
                    <a:bodyPr/>
                    <a:lstStyle/>
                    <a:p>
                      <a:r>
                        <a:rPr sz="1200" b="0">
                          <a:solidFill>
                            <a:srgbClr val="5B6172"/>
                          </a:solidFill>
                          <a:latin typeface="Calibri"/>
                        </a:rPr>
                        <a:t>up and down paths differ</a:t>
                      </a:r>
                    </a:p>
                  </a:txBody>
                  <a:tcPr marL="109728" marT="36576" marB="36576">
                    <a:solidFill>
                      <a:srgbClr val="FFFFFF"/>
                    </a:solidFill>
                  </a:tcPr>
                </a:tc>
                <a:tc>
                  <a:txBody>
                    <a:bodyPr/>
                    <a:lstStyle/>
                    <a:p>
                      <a:r>
                        <a:rPr sz="1200" b="0">
                          <a:solidFill>
                            <a:srgbClr val="5B6172"/>
                          </a:solidFill>
                          <a:latin typeface="Calibri"/>
                        </a:rPr>
                        <a:t>unmodeled → folds into U_est</a:t>
                      </a:r>
                    </a:p>
                  </a:txBody>
                  <a:tcPr marL="109728" marT="36576" marB="36576">
                    <a:solidFill>
                      <a:srgbClr val="FFFFFF"/>
                    </a:solidFill>
                  </a:tcPr>
                </a:tc>
                <a:extLst>
                  <a:ext uri="{0D108BD9-81ED-4DB2-BD59-A6C34878D82A}">
                    <a16:rowId xmlns:a16="http://schemas.microsoft.com/office/drawing/2014/main" val="10007"/>
                  </a:ext>
                </a:extLst>
              </a:tr>
              <a:tr h="457200">
                <a:tc>
                  <a:txBody>
                    <a:bodyPr/>
                    <a:lstStyle/>
                    <a:p>
                      <a:r>
                        <a:rPr sz="1200" b="1">
                          <a:solidFill>
                            <a:srgbClr val="1A1D29"/>
                          </a:solidFill>
                          <a:latin typeface="Calibri"/>
                        </a:rPr>
                        <a:t>Event capture point</a:t>
                      </a:r>
                    </a:p>
                  </a:txBody>
                  <a:tcPr marL="109728" marT="36576" marB="36576">
                    <a:solidFill>
                      <a:srgbClr val="EDF1FB"/>
                    </a:solidFill>
                  </a:tcPr>
                </a:tc>
                <a:tc>
                  <a:txBody>
                    <a:bodyPr/>
                    <a:lstStyle/>
                    <a:p>
                      <a:r>
                        <a:rPr sz="1200" b="0">
                          <a:solidFill>
                            <a:srgbClr val="5B6172"/>
                          </a:solidFill>
                          <a:latin typeface="Calibri"/>
                        </a:rPr>
                        <a:t>how the app stamped the event (HW/SW)</a:t>
                      </a:r>
                    </a:p>
                  </a:txBody>
                  <a:tcPr marL="109728" marT="36576" marB="36576">
                    <a:solidFill>
                      <a:srgbClr val="EDF1FB"/>
                    </a:solidFill>
                  </a:tcPr>
                </a:tc>
                <a:tc>
                  <a:txBody>
                    <a:bodyPr/>
                    <a:lstStyle/>
                    <a:p>
                      <a:r>
                        <a:rPr sz="1200" b="0" dirty="0" err="1">
                          <a:solidFill>
                            <a:srgbClr val="5B6172"/>
                          </a:solidFill>
                          <a:latin typeface="Calibri"/>
                        </a:rPr>
                        <a:t>U_capture</a:t>
                      </a:r>
                      <a:r>
                        <a:rPr sz="1200" b="0" dirty="0">
                          <a:solidFill>
                            <a:srgbClr val="5B6172"/>
                          </a:solidFill>
                          <a:latin typeface="Calibri"/>
                        </a:rPr>
                        <a:t> (application)</a:t>
                      </a:r>
                    </a:p>
                  </a:txBody>
                  <a:tcPr marL="109728" marT="36576" marB="36576">
                    <a:solidFill>
                      <a:srgbClr val="EDF1FB"/>
                    </a:solidFill>
                  </a:tcPr>
                </a:tc>
                <a:extLst>
                  <a:ext uri="{0D108BD9-81ED-4DB2-BD59-A6C34878D82A}">
                    <a16:rowId xmlns:a16="http://schemas.microsoft.com/office/drawing/2014/main" val="10008"/>
                  </a:ext>
                </a:extLst>
              </a:tr>
            </a:tbl>
          </a:graphicData>
        </a:graphic>
      </p:graphicFrame>
      <p:sp>
        <p:nvSpPr>
          <p:cNvPr id="6" name="Rectangle 5"/>
          <p:cNvSpPr/>
          <p:nvPr/>
        </p:nvSpPr>
        <p:spPr>
          <a:xfrm>
            <a:off x="0" y="6601968"/>
            <a:ext cx="12191695" cy="256032"/>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83680"/>
            <a:ext cx="8229600" cy="256032"/>
          </a:xfrm>
          <a:prstGeom prst="rect">
            <a:avLst/>
          </a:prstGeom>
          <a:noFill/>
        </p:spPr>
        <p:txBody>
          <a:bodyPr wrap="square" lIns="0" tIns="0" rIns="0" bIns="0" anchor="ctr">
            <a:spAutoFit/>
          </a:bodyPr>
          <a:lstStyle/>
          <a:p>
            <a:pPr algn="l">
              <a:spcBef>
                <a:spcPts val="0"/>
              </a:spcBef>
              <a:spcAft>
                <a:spcPts val="600"/>
              </a:spcAft>
            </a:pPr>
            <a:r>
              <a:rPr sz="1000" b="0" i="0">
                <a:solidFill>
                  <a:srgbClr val="FFFFFF"/>
                </a:solidFill>
                <a:latin typeface="Calibri"/>
              </a:rPr>
              <a:t>Time Uncertainty as a First-Class Concept</a:t>
            </a:r>
          </a:p>
        </p:txBody>
      </p:sp>
      <p:sp>
        <p:nvSpPr>
          <p:cNvPr id="8" name="TextBox 7"/>
          <p:cNvSpPr txBox="1"/>
          <p:nvPr/>
        </p:nvSpPr>
        <p:spPr>
          <a:xfrm>
            <a:off x="11002975" y="6583680"/>
            <a:ext cx="731520" cy="256032"/>
          </a:xfrm>
          <a:prstGeom prst="rect">
            <a:avLst/>
          </a:prstGeom>
          <a:noFill/>
        </p:spPr>
        <p:txBody>
          <a:bodyPr wrap="square" lIns="0" tIns="0" rIns="0" bIns="0" anchor="ctr">
            <a:spAutoFit/>
          </a:bodyPr>
          <a:lstStyle/>
          <a:p>
            <a:pPr algn="r">
              <a:spcBef>
                <a:spcPts val="0"/>
              </a:spcBef>
              <a:spcAft>
                <a:spcPts val="600"/>
              </a:spcAft>
            </a:pPr>
            <a:r>
              <a:rPr sz="1000" b="1" i="0">
                <a:solidFill>
                  <a:srgbClr val="FFFFFF"/>
                </a:solidFill>
                <a:latin typeface="Calibri"/>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1143000"/>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0972800" cy="365760"/>
          </a:xfrm>
          <a:prstGeom prst="rect">
            <a:avLst/>
          </a:prstGeom>
          <a:noFill/>
        </p:spPr>
        <p:txBody>
          <a:bodyPr wrap="square" lIns="0" tIns="0" rIns="0" bIns="0" anchor="t">
            <a:spAutoFit/>
          </a:bodyPr>
          <a:lstStyle/>
          <a:p>
            <a:pPr algn="l">
              <a:spcBef>
                <a:spcPts val="0"/>
              </a:spcBef>
              <a:spcAft>
                <a:spcPts val="600"/>
              </a:spcAft>
            </a:pPr>
            <a:r>
              <a:rPr sz="1300" b="1" i="0">
                <a:solidFill>
                  <a:srgbClr val="2E6BE6"/>
                </a:solidFill>
                <a:latin typeface="Calibri"/>
              </a:rPr>
              <a:t>ANATOMY</a:t>
            </a:r>
          </a:p>
        </p:txBody>
      </p:sp>
      <p:sp>
        <p:nvSpPr>
          <p:cNvPr id="4" name="TextBox 3"/>
          <p:cNvSpPr txBox="1"/>
          <p:nvPr/>
        </p:nvSpPr>
        <p:spPr>
          <a:xfrm>
            <a:off x="502920" y="566928"/>
            <a:ext cx="11155680" cy="822960"/>
          </a:xfrm>
          <a:prstGeom prst="rect">
            <a:avLst/>
          </a:prstGeom>
          <a:noFill/>
        </p:spPr>
        <p:txBody>
          <a:bodyPr wrap="square" lIns="0" tIns="0" rIns="0" bIns="0" anchor="t">
            <a:spAutoFit/>
          </a:bodyPr>
          <a:lstStyle/>
          <a:p>
            <a:pPr algn="l">
              <a:spcBef>
                <a:spcPts val="0"/>
              </a:spcBef>
              <a:spcAft>
                <a:spcPts val="600"/>
              </a:spcAft>
            </a:pPr>
            <a:r>
              <a:rPr sz="3000" b="1" i="0">
                <a:solidFill>
                  <a:srgbClr val="1A1D29"/>
                </a:solidFill>
                <a:latin typeface="Calibri"/>
              </a:rPr>
              <a:t>Layers 1–2: oscillator &amp; PHC clock</a:t>
            </a:r>
          </a:p>
        </p:txBody>
      </p:sp>
      <p:sp>
        <p:nvSpPr>
          <p:cNvPr id="5" name="TextBox 4"/>
          <p:cNvSpPr txBox="1"/>
          <p:nvPr/>
        </p:nvSpPr>
        <p:spPr>
          <a:xfrm>
            <a:off x="640080" y="1554480"/>
            <a:ext cx="10972800" cy="1805623"/>
          </a:xfrm>
          <a:prstGeom prst="rect">
            <a:avLst/>
          </a:prstGeom>
          <a:noFill/>
        </p:spPr>
        <p:txBody>
          <a:bodyPr wrap="square" lIns="0" tIns="0" rIns="0" bIns="0" anchor="t">
            <a:spAutoFit/>
          </a:bodyPr>
          <a:lstStyle/>
          <a:p>
            <a:pPr algn="l">
              <a:spcBef>
                <a:spcPts val="0"/>
              </a:spcBef>
              <a:spcAft>
                <a:spcPts val="1000"/>
              </a:spcAft>
            </a:pPr>
            <a:r>
              <a:rPr sz="1800" b="1" i="0" dirty="0">
                <a:solidFill>
                  <a:srgbClr val="2E6BE6"/>
                </a:solidFill>
                <a:latin typeface="Calibri"/>
              </a:rPr>
              <a:t>▸  </a:t>
            </a:r>
            <a:r>
              <a:rPr sz="1800" b="0" i="0" dirty="0">
                <a:solidFill>
                  <a:srgbClr val="1A1D29"/>
                </a:solidFill>
                <a:latin typeface="Calibri"/>
              </a:rPr>
              <a:t>Oscillator (layer 1): TCXO/OCXO stability (ppb), temperature sensitivity</a:t>
            </a:r>
          </a:p>
          <a:p>
            <a:pPr algn="l">
              <a:spcBef>
                <a:spcPts val="0"/>
              </a:spcBef>
              <a:spcAft>
                <a:spcPts val="1000"/>
              </a:spcAft>
            </a:pPr>
            <a:r>
              <a:rPr sz="1800" b="1" i="0" dirty="0">
                <a:solidFill>
                  <a:srgbClr val="2E6BE6"/>
                </a:solidFill>
                <a:latin typeface="Calibri"/>
              </a:rPr>
              <a:t>▸  </a:t>
            </a:r>
            <a:r>
              <a:rPr sz="1800" b="0" i="0" dirty="0">
                <a:solidFill>
                  <a:srgbClr val="1A1D29"/>
                </a:solidFill>
                <a:latin typeface="Calibri"/>
              </a:rPr>
              <a:t>PHC clock (layer 2): the disciplined hardware clock we actually read</a:t>
            </a:r>
          </a:p>
          <a:p>
            <a:pPr algn="l">
              <a:spcBef>
                <a:spcPts val="0"/>
              </a:spcBef>
              <a:spcAft>
                <a:spcPts val="1000"/>
              </a:spcAft>
            </a:pPr>
            <a:r>
              <a:rPr sz="1600" b="0" i="0" dirty="0">
                <a:solidFill>
                  <a:srgbClr val="5B6172"/>
                </a:solidFill>
                <a:latin typeface="Calibri"/>
              </a:rPr>
              <a:t>        –  </a:t>
            </a:r>
            <a:r>
              <a:rPr sz="1600" b="0" i="0" dirty="0" err="1">
                <a:solidFill>
                  <a:srgbClr val="5B6172"/>
                </a:solidFill>
                <a:latin typeface="Calibri"/>
              </a:rPr>
              <a:t>offsetFromMaster</a:t>
            </a:r>
            <a:r>
              <a:rPr sz="1600" b="0" i="0" dirty="0">
                <a:solidFill>
                  <a:srgbClr val="5B6172"/>
                </a:solidFill>
                <a:latin typeface="Calibri"/>
              </a:rPr>
              <a:t> — an estimate of bias, with its own uncertainty (</a:t>
            </a:r>
            <a:r>
              <a:rPr sz="1600" b="0" i="0" dirty="0" err="1">
                <a:solidFill>
                  <a:srgbClr val="5B6172"/>
                </a:solidFill>
                <a:latin typeface="Calibri"/>
              </a:rPr>
              <a:t>U_est</a:t>
            </a:r>
            <a:r>
              <a:rPr sz="1600" b="0" i="0" dirty="0">
                <a:solidFill>
                  <a:srgbClr val="5B6172"/>
                </a:solidFill>
                <a:latin typeface="Calibri"/>
              </a:rPr>
              <a:t>)</a:t>
            </a:r>
          </a:p>
          <a:p>
            <a:pPr algn="l">
              <a:spcBef>
                <a:spcPts val="0"/>
              </a:spcBef>
              <a:spcAft>
                <a:spcPts val="1000"/>
              </a:spcAft>
            </a:pPr>
            <a:r>
              <a:rPr sz="1600" b="0" i="0" dirty="0">
                <a:solidFill>
                  <a:srgbClr val="5B6172"/>
                </a:solidFill>
                <a:latin typeface="Calibri"/>
              </a:rPr>
              <a:t>        –  clock resolution — ½-tick quantization (effective, not just </a:t>
            </a:r>
            <a:r>
              <a:rPr sz="1600" b="0" i="0" dirty="0" err="1">
                <a:solidFill>
                  <a:srgbClr val="5B6172"/>
                </a:solidFill>
                <a:latin typeface="Calibri"/>
              </a:rPr>
              <a:t>clock_getres</a:t>
            </a:r>
            <a:r>
              <a:rPr sz="1600" b="0" i="0" dirty="0">
                <a:solidFill>
                  <a:srgbClr val="5B6172"/>
                </a:solidFill>
                <a:latin typeface="Calibri"/>
              </a:rPr>
              <a:t>)</a:t>
            </a:r>
          </a:p>
          <a:p>
            <a:pPr algn="l">
              <a:spcBef>
                <a:spcPts val="0"/>
              </a:spcBef>
              <a:spcAft>
                <a:spcPts val="1000"/>
              </a:spcAft>
            </a:pPr>
            <a:r>
              <a:rPr sz="1600" b="0" i="0" dirty="0">
                <a:solidFill>
                  <a:srgbClr val="5B6172"/>
                </a:solidFill>
                <a:latin typeface="Calibri"/>
              </a:rPr>
              <a:t>        –  PHC read latency — the cost of reading it</a:t>
            </a:r>
            <a:endParaRPr sz="1800" b="0" i="0" dirty="0">
              <a:solidFill>
                <a:srgbClr val="1A1D29"/>
              </a:solidFill>
              <a:latin typeface="Calibri"/>
            </a:endParaRPr>
          </a:p>
        </p:txBody>
      </p:sp>
      <p:sp>
        <p:nvSpPr>
          <p:cNvPr id="6" name="Rectangle 5"/>
          <p:cNvSpPr/>
          <p:nvPr/>
        </p:nvSpPr>
        <p:spPr>
          <a:xfrm>
            <a:off x="0" y="6601968"/>
            <a:ext cx="12191695" cy="256032"/>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83680"/>
            <a:ext cx="8229600" cy="256032"/>
          </a:xfrm>
          <a:prstGeom prst="rect">
            <a:avLst/>
          </a:prstGeom>
          <a:noFill/>
        </p:spPr>
        <p:txBody>
          <a:bodyPr wrap="square" lIns="0" tIns="0" rIns="0" bIns="0" anchor="ctr">
            <a:spAutoFit/>
          </a:bodyPr>
          <a:lstStyle/>
          <a:p>
            <a:pPr algn="l">
              <a:spcBef>
                <a:spcPts val="0"/>
              </a:spcBef>
              <a:spcAft>
                <a:spcPts val="600"/>
              </a:spcAft>
            </a:pPr>
            <a:r>
              <a:rPr sz="1000" b="0" i="0">
                <a:solidFill>
                  <a:srgbClr val="FFFFFF"/>
                </a:solidFill>
                <a:latin typeface="Calibri"/>
              </a:rPr>
              <a:t>Time Uncertainty as a First-Class Concept</a:t>
            </a:r>
          </a:p>
        </p:txBody>
      </p:sp>
      <p:sp>
        <p:nvSpPr>
          <p:cNvPr id="8" name="TextBox 7"/>
          <p:cNvSpPr txBox="1"/>
          <p:nvPr/>
        </p:nvSpPr>
        <p:spPr>
          <a:xfrm>
            <a:off x="11002975" y="6583680"/>
            <a:ext cx="731520" cy="256032"/>
          </a:xfrm>
          <a:prstGeom prst="rect">
            <a:avLst/>
          </a:prstGeom>
          <a:noFill/>
        </p:spPr>
        <p:txBody>
          <a:bodyPr wrap="square" lIns="0" tIns="0" rIns="0" bIns="0" anchor="ctr">
            <a:spAutoFit/>
          </a:bodyPr>
          <a:lstStyle/>
          <a:p>
            <a:pPr algn="r">
              <a:spcBef>
                <a:spcPts val="0"/>
              </a:spcBef>
              <a:spcAft>
                <a:spcPts val="600"/>
              </a:spcAft>
            </a:pPr>
            <a:r>
              <a:rPr sz="1000" b="1" i="0">
                <a:solidFill>
                  <a:srgbClr val="FFFFFF"/>
                </a:solidFill>
                <a:latin typeface="Calibri"/>
              </a:rPr>
              <a:t>15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0" end="0"/>
                                            </p:txEl>
                                          </p:spTgt>
                                        </p:tgtEl>
                                        <p:attrNameLst>
                                          <p:attrName>ppt_c</p:attrName>
                                        </p:attrNameLst>
                                      </p:cBhvr>
                                      <p:to>
                                        <a:srgbClr val="9EA0A0"/>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1143000"/>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0972800" cy="365760"/>
          </a:xfrm>
          <a:prstGeom prst="rect">
            <a:avLst/>
          </a:prstGeom>
          <a:noFill/>
        </p:spPr>
        <p:txBody>
          <a:bodyPr wrap="square" lIns="0" tIns="0" rIns="0" bIns="0" anchor="t">
            <a:spAutoFit/>
          </a:bodyPr>
          <a:lstStyle/>
          <a:p>
            <a:pPr algn="l">
              <a:spcBef>
                <a:spcPts val="0"/>
              </a:spcBef>
              <a:spcAft>
                <a:spcPts val="600"/>
              </a:spcAft>
            </a:pPr>
            <a:r>
              <a:rPr sz="1300" b="1" i="0">
                <a:solidFill>
                  <a:srgbClr val="2E6BE6"/>
                </a:solidFill>
                <a:latin typeface="Calibri"/>
              </a:rPr>
              <a:t>ANATOMY</a:t>
            </a:r>
          </a:p>
        </p:txBody>
      </p:sp>
      <p:sp>
        <p:nvSpPr>
          <p:cNvPr id="4" name="TextBox 3"/>
          <p:cNvSpPr txBox="1"/>
          <p:nvPr/>
        </p:nvSpPr>
        <p:spPr>
          <a:xfrm>
            <a:off x="502920" y="566928"/>
            <a:ext cx="11155680" cy="822960"/>
          </a:xfrm>
          <a:prstGeom prst="rect">
            <a:avLst/>
          </a:prstGeom>
          <a:noFill/>
        </p:spPr>
        <p:txBody>
          <a:bodyPr wrap="square" lIns="0" tIns="0" rIns="0" bIns="0" anchor="t">
            <a:spAutoFit/>
          </a:bodyPr>
          <a:lstStyle/>
          <a:p>
            <a:pPr algn="l">
              <a:spcBef>
                <a:spcPts val="0"/>
              </a:spcBef>
              <a:spcAft>
                <a:spcPts val="600"/>
              </a:spcAft>
            </a:pPr>
            <a:r>
              <a:rPr sz="3000" b="1" i="0">
                <a:solidFill>
                  <a:srgbClr val="1A1D29"/>
                </a:solidFill>
                <a:latin typeface="Calibri"/>
              </a:rPr>
              <a:t>Layer 4: capture point — a separate uncertainty (U_capture)</a:t>
            </a:r>
          </a:p>
        </p:txBody>
      </p:sp>
      <p:graphicFrame>
        <p:nvGraphicFramePr>
          <p:cNvPr id="5" name="Table 4"/>
          <p:cNvGraphicFramePr>
            <a:graphicFrameLocks noGrp="1"/>
          </p:cNvGraphicFramePr>
          <p:nvPr/>
        </p:nvGraphicFramePr>
        <p:xfrm>
          <a:off x="640080" y="1645920"/>
          <a:ext cx="10881360" cy="1828800"/>
        </p:xfrm>
        <a:graphic>
          <a:graphicData uri="http://schemas.openxmlformats.org/drawingml/2006/table">
            <a:tbl>
              <a:tblPr firstRow="1" bandRow="1">
                <a:tableStyleId>{5C22544A-7EE6-4342-B048-85BDC9FD1C3A}</a:tableStyleId>
              </a:tblPr>
              <a:tblGrid>
                <a:gridCol w="3627120">
                  <a:extLst>
                    <a:ext uri="{9D8B030D-6E8A-4147-A177-3AD203B41FA5}">
                      <a16:colId xmlns:a16="http://schemas.microsoft.com/office/drawing/2014/main" val="20000"/>
                    </a:ext>
                  </a:extLst>
                </a:gridCol>
                <a:gridCol w="3627120">
                  <a:extLst>
                    <a:ext uri="{9D8B030D-6E8A-4147-A177-3AD203B41FA5}">
                      <a16:colId xmlns:a16="http://schemas.microsoft.com/office/drawing/2014/main" val="20001"/>
                    </a:ext>
                  </a:extLst>
                </a:gridCol>
                <a:gridCol w="3627120">
                  <a:extLst>
                    <a:ext uri="{9D8B030D-6E8A-4147-A177-3AD203B41FA5}">
                      <a16:colId xmlns:a16="http://schemas.microsoft.com/office/drawing/2014/main" val="20002"/>
                    </a:ext>
                  </a:extLst>
                </a:gridCol>
              </a:tblGrid>
              <a:tr h="457200">
                <a:tc>
                  <a:txBody>
                    <a:bodyPr/>
                    <a:lstStyle/>
                    <a:p>
                      <a:r>
                        <a:rPr sz="1500" b="1">
                          <a:solidFill>
                            <a:srgbClr val="FFFFFF"/>
                          </a:solidFill>
                          <a:latin typeface="Calibri"/>
                        </a:rPr>
                        <a:t>Where stamped</a:t>
                      </a:r>
                    </a:p>
                  </a:txBody>
                  <a:tcPr marL="109728">
                    <a:solidFill>
                      <a:srgbClr val="2E6BE6"/>
                    </a:solidFill>
                  </a:tcPr>
                </a:tc>
                <a:tc>
                  <a:txBody>
                    <a:bodyPr/>
                    <a:lstStyle/>
                    <a:p>
                      <a:r>
                        <a:rPr sz="1500" b="1">
                          <a:solidFill>
                            <a:srgbClr val="FFFFFF"/>
                          </a:solidFill>
                          <a:latin typeface="Calibri"/>
                        </a:rPr>
                        <a:t>Capture uncertainty</a:t>
                      </a:r>
                    </a:p>
                  </a:txBody>
                  <a:tcPr marL="109728">
                    <a:solidFill>
                      <a:srgbClr val="2E6BE6"/>
                    </a:solidFill>
                  </a:tcPr>
                </a:tc>
                <a:tc>
                  <a:txBody>
                    <a:bodyPr/>
                    <a:lstStyle/>
                    <a:p>
                      <a:r>
                        <a:rPr sz="1500" b="1">
                          <a:solidFill>
                            <a:srgbClr val="FFFFFF"/>
                          </a:solidFill>
                          <a:latin typeface="Calibri"/>
                        </a:rPr>
                        <a:t>Dominant term</a:t>
                      </a:r>
                    </a:p>
                  </a:txBody>
                  <a:tcPr marL="109728">
                    <a:solidFill>
                      <a:srgbClr val="2E6BE6"/>
                    </a:solidFill>
                  </a:tcPr>
                </a:tc>
                <a:extLst>
                  <a:ext uri="{0D108BD9-81ED-4DB2-BD59-A6C34878D82A}">
                    <a16:rowId xmlns:a16="http://schemas.microsoft.com/office/drawing/2014/main" val="10000"/>
                  </a:ext>
                </a:extLst>
              </a:tr>
              <a:tr h="457200">
                <a:tc>
                  <a:txBody>
                    <a:bodyPr/>
                    <a:lstStyle/>
                    <a:p>
                      <a:r>
                        <a:rPr sz="1350" b="1">
                          <a:solidFill>
                            <a:srgbClr val="1A1D29"/>
                          </a:solidFill>
                          <a:latin typeface="Calibri"/>
                        </a:rPr>
                        <a:t>PHC hardware RX timestamp</a:t>
                      </a:r>
                    </a:p>
                  </a:txBody>
                  <a:tcPr marL="109728" marT="36576" marB="36576">
                    <a:solidFill>
                      <a:srgbClr val="FFFFFF"/>
                    </a:solidFill>
                  </a:tcPr>
                </a:tc>
                <a:tc>
                  <a:txBody>
                    <a:bodyPr/>
                    <a:lstStyle/>
                    <a:p>
                      <a:r>
                        <a:rPr sz="1350" b="0">
                          <a:solidFill>
                            <a:srgbClr val="5B6172"/>
                          </a:solidFill>
                          <a:latin typeface="Calibri"/>
                        </a:rPr>
                        <a:t>smallest</a:t>
                      </a:r>
                    </a:p>
                  </a:txBody>
                  <a:tcPr marL="109728" marT="36576" marB="36576">
                    <a:solidFill>
                      <a:srgbClr val="FFFFFF"/>
                    </a:solidFill>
                  </a:tcPr>
                </a:tc>
                <a:tc>
                  <a:txBody>
                    <a:bodyPr/>
                    <a:lstStyle/>
                    <a:p>
                      <a:r>
                        <a:rPr sz="1350" b="0">
                          <a:solidFill>
                            <a:srgbClr val="5B6172"/>
                          </a:solidFill>
                          <a:latin typeface="Calibri"/>
                        </a:rPr>
                        <a:t>HW stamp at the wire</a:t>
                      </a:r>
                    </a:p>
                  </a:txBody>
                  <a:tcPr marL="109728" marT="36576" marB="36576">
                    <a:solidFill>
                      <a:srgbClr val="FFFFFF"/>
                    </a:solidFill>
                  </a:tcPr>
                </a:tc>
                <a:extLst>
                  <a:ext uri="{0D108BD9-81ED-4DB2-BD59-A6C34878D82A}">
                    <a16:rowId xmlns:a16="http://schemas.microsoft.com/office/drawing/2014/main" val="10001"/>
                  </a:ext>
                </a:extLst>
              </a:tr>
              <a:tr h="457200">
                <a:tc>
                  <a:txBody>
                    <a:bodyPr/>
                    <a:lstStyle/>
                    <a:p>
                      <a:r>
                        <a:rPr sz="1350" b="1">
                          <a:solidFill>
                            <a:srgbClr val="1A1D29"/>
                          </a:solidFill>
                          <a:latin typeface="Calibri"/>
                        </a:rPr>
                        <a:t>SO_TIMESTAMPING (software)</a:t>
                      </a:r>
                    </a:p>
                  </a:txBody>
                  <a:tcPr marL="109728" marT="36576" marB="36576">
                    <a:solidFill>
                      <a:srgbClr val="EDF1FB"/>
                    </a:solidFill>
                  </a:tcPr>
                </a:tc>
                <a:tc>
                  <a:txBody>
                    <a:bodyPr/>
                    <a:lstStyle/>
                    <a:p>
                      <a:r>
                        <a:rPr sz="1350" b="0">
                          <a:solidFill>
                            <a:srgbClr val="5B6172"/>
                          </a:solidFill>
                          <a:latin typeface="Calibri"/>
                        </a:rPr>
                        <a:t>larger</a:t>
                      </a:r>
                    </a:p>
                  </a:txBody>
                  <a:tcPr marL="109728" marT="36576" marB="36576">
                    <a:solidFill>
                      <a:srgbClr val="EDF1FB"/>
                    </a:solidFill>
                  </a:tcPr>
                </a:tc>
                <a:tc>
                  <a:txBody>
                    <a:bodyPr/>
                    <a:lstStyle/>
                    <a:p>
                      <a:r>
                        <a:rPr sz="1350" b="0">
                          <a:solidFill>
                            <a:srgbClr val="5B6172"/>
                          </a:solidFill>
                          <a:latin typeface="Calibri"/>
                        </a:rPr>
                        <a:t>IRQ + softirq delay</a:t>
                      </a:r>
                    </a:p>
                  </a:txBody>
                  <a:tcPr marL="109728" marT="36576" marB="36576">
                    <a:solidFill>
                      <a:srgbClr val="EDF1FB"/>
                    </a:solidFill>
                  </a:tcPr>
                </a:tc>
                <a:extLst>
                  <a:ext uri="{0D108BD9-81ED-4DB2-BD59-A6C34878D82A}">
                    <a16:rowId xmlns:a16="http://schemas.microsoft.com/office/drawing/2014/main" val="10002"/>
                  </a:ext>
                </a:extLst>
              </a:tr>
              <a:tr h="457200">
                <a:tc>
                  <a:txBody>
                    <a:bodyPr/>
                    <a:lstStyle/>
                    <a:p>
                      <a:r>
                        <a:rPr sz="1350" b="1">
                          <a:solidFill>
                            <a:srgbClr val="1A1D29"/>
                          </a:solidFill>
                          <a:latin typeface="Calibri"/>
                        </a:rPr>
                        <a:t>clock_gettime() in app</a:t>
                      </a:r>
                    </a:p>
                  </a:txBody>
                  <a:tcPr marL="109728" marT="36576" marB="36576">
                    <a:solidFill>
                      <a:srgbClr val="FFFFFF"/>
                    </a:solidFill>
                  </a:tcPr>
                </a:tc>
                <a:tc>
                  <a:txBody>
                    <a:bodyPr/>
                    <a:lstStyle/>
                    <a:p>
                      <a:r>
                        <a:rPr sz="1350" b="0">
                          <a:solidFill>
                            <a:srgbClr val="5B6172"/>
                          </a:solidFill>
                          <a:latin typeface="Calibri"/>
                        </a:rPr>
                        <a:t>largest</a:t>
                      </a:r>
                    </a:p>
                  </a:txBody>
                  <a:tcPr marL="109728" marT="36576" marB="36576">
                    <a:solidFill>
                      <a:srgbClr val="FFFFFF"/>
                    </a:solidFill>
                  </a:tcPr>
                </a:tc>
                <a:tc>
                  <a:txBody>
                    <a:bodyPr/>
                    <a:lstStyle/>
                    <a:p>
                      <a:r>
                        <a:rPr sz="1350" b="0">
                          <a:solidFill>
                            <a:srgbClr val="5B6172"/>
                          </a:solidFill>
                          <a:latin typeface="Calibri"/>
                        </a:rPr>
                        <a:t>event→read gap (not clock error)</a:t>
                      </a:r>
                    </a:p>
                  </a:txBody>
                  <a:tcPr marL="109728" marT="36576" marB="36576">
                    <a:solidFill>
                      <a:srgbClr val="FFFFFF"/>
                    </a:solidFill>
                  </a:tcPr>
                </a:tc>
                <a:extLst>
                  <a:ext uri="{0D108BD9-81ED-4DB2-BD59-A6C34878D82A}">
                    <a16:rowId xmlns:a16="http://schemas.microsoft.com/office/drawing/2014/main" val="10003"/>
                  </a:ext>
                </a:extLst>
              </a:tr>
            </a:tbl>
          </a:graphicData>
        </a:graphic>
      </p:graphicFrame>
      <p:sp>
        <p:nvSpPr>
          <p:cNvPr id="6" name="Rectangle 5"/>
          <p:cNvSpPr/>
          <p:nvPr/>
        </p:nvSpPr>
        <p:spPr>
          <a:xfrm>
            <a:off x="0" y="6601968"/>
            <a:ext cx="12191695" cy="256032"/>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83680"/>
            <a:ext cx="8229600" cy="256032"/>
          </a:xfrm>
          <a:prstGeom prst="rect">
            <a:avLst/>
          </a:prstGeom>
          <a:noFill/>
        </p:spPr>
        <p:txBody>
          <a:bodyPr wrap="square" lIns="0" tIns="0" rIns="0" bIns="0" anchor="ctr">
            <a:spAutoFit/>
          </a:bodyPr>
          <a:lstStyle/>
          <a:p>
            <a:pPr algn="l">
              <a:spcBef>
                <a:spcPts val="0"/>
              </a:spcBef>
              <a:spcAft>
                <a:spcPts val="600"/>
              </a:spcAft>
            </a:pPr>
            <a:r>
              <a:rPr sz="1000" b="0" i="0">
                <a:solidFill>
                  <a:srgbClr val="FFFFFF"/>
                </a:solidFill>
                <a:latin typeface="Calibri"/>
              </a:rPr>
              <a:t>Time Uncertainty as a First-Class Concept</a:t>
            </a:r>
          </a:p>
        </p:txBody>
      </p:sp>
      <p:sp>
        <p:nvSpPr>
          <p:cNvPr id="8" name="TextBox 7"/>
          <p:cNvSpPr txBox="1"/>
          <p:nvPr/>
        </p:nvSpPr>
        <p:spPr>
          <a:xfrm>
            <a:off x="11002975" y="6583680"/>
            <a:ext cx="731520" cy="256032"/>
          </a:xfrm>
          <a:prstGeom prst="rect">
            <a:avLst/>
          </a:prstGeom>
          <a:noFill/>
        </p:spPr>
        <p:txBody>
          <a:bodyPr wrap="square" lIns="0" tIns="0" rIns="0" bIns="0" anchor="ctr">
            <a:spAutoFit/>
          </a:bodyPr>
          <a:lstStyle/>
          <a:p>
            <a:pPr algn="r">
              <a:spcBef>
                <a:spcPts val="0"/>
              </a:spcBef>
              <a:spcAft>
                <a:spcPts val="600"/>
              </a:spcAft>
            </a:pPr>
            <a:r>
              <a:rPr sz="1000" b="1" i="0">
                <a:solidFill>
                  <a:srgbClr val="FFFFFF"/>
                </a:solidFill>
                <a:latin typeface="Calibri"/>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1143000"/>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0972800" cy="365760"/>
          </a:xfrm>
          <a:prstGeom prst="rect">
            <a:avLst/>
          </a:prstGeom>
          <a:noFill/>
        </p:spPr>
        <p:txBody>
          <a:bodyPr wrap="square" lIns="0" tIns="0" rIns="0" bIns="0" anchor="t">
            <a:spAutoFit/>
          </a:bodyPr>
          <a:lstStyle/>
          <a:p>
            <a:pPr algn="l">
              <a:spcBef>
                <a:spcPts val="0"/>
              </a:spcBef>
              <a:spcAft>
                <a:spcPts val="600"/>
              </a:spcAft>
            </a:pPr>
            <a:r>
              <a:rPr sz="1300" b="1" i="0">
                <a:solidFill>
                  <a:srgbClr val="2E6BE6"/>
                </a:solidFill>
                <a:latin typeface="Calibri"/>
              </a:rPr>
              <a:t>ANATOMY</a:t>
            </a:r>
          </a:p>
        </p:txBody>
      </p:sp>
      <p:sp>
        <p:nvSpPr>
          <p:cNvPr id="4" name="TextBox 3"/>
          <p:cNvSpPr txBox="1"/>
          <p:nvPr/>
        </p:nvSpPr>
        <p:spPr>
          <a:xfrm>
            <a:off x="502920" y="566928"/>
            <a:ext cx="11155680" cy="822960"/>
          </a:xfrm>
          <a:prstGeom prst="rect">
            <a:avLst/>
          </a:prstGeom>
          <a:noFill/>
        </p:spPr>
        <p:txBody>
          <a:bodyPr wrap="square" lIns="0" tIns="0" rIns="0" bIns="0" anchor="t">
            <a:spAutoFit/>
          </a:bodyPr>
          <a:lstStyle/>
          <a:p>
            <a:pPr algn="l">
              <a:spcBef>
                <a:spcPts val="0"/>
              </a:spcBef>
              <a:spcAft>
                <a:spcPts val="600"/>
              </a:spcAft>
            </a:pPr>
            <a:r>
              <a:rPr sz="3000" b="1" i="0">
                <a:solidFill>
                  <a:srgbClr val="1A1D29"/>
                </a:solidFill>
                <a:latin typeface="Calibri"/>
              </a:rPr>
              <a:t>Layers 3 &amp; 5: network and kernel path</a:t>
            </a:r>
          </a:p>
        </p:txBody>
      </p:sp>
      <p:sp>
        <p:nvSpPr>
          <p:cNvPr id="5" name="TextBox 4"/>
          <p:cNvSpPr txBox="1"/>
          <p:nvPr/>
        </p:nvSpPr>
        <p:spPr>
          <a:xfrm>
            <a:off x="640080" y="1554480"/>
            <a:ext cx="10972800" cy="4754880"/>
          </a:xfrm>
          <a:prstGeom prst="rect">
            <a:avLst/>
          </a:prstGeom>
          <a:noFill/>
        </p:spPr>
        <p:txBody>
          <a:bodyPr wrap="square" lIns="0" tIns="0" rIns="0" bIns="0" anchor="t">
            <a:spAutoFit/>
          </a:bodyPr>
          <a:lstStyle/>
          <a:p>
            <a:pPr algn="l">
              <a:spcBef>
                <a:spcPts val="0"/>
              </a:spcBef>
              <a:spcAft>
                <a:spcPts val="1000"/>
              </a:spcAft>
            </a:pPr>
            <a:r>
              <a:rPr sz="1800" b="1" i="0" dirty="0">
                <a:solidFill>
                  <a:srgbClr val="2E6BE6"/>
                </a:solidFill>
                <a:latin typeface="Calibri"/>
              </a:rPr>
              <a:t>▸  </a:t>
            </a:r>
            <a:r>
              <a:rPr sz="1800" b="0" i="0" dirty="0">
                <a:solidFill>
                  <a:srgbClr val="1A1D29"/>
                </a:solidFill>
                <a:latin typeface="Calibri"/>
              </a:rPr>
              <a:t>Network (layer 3): each hop adds queueing + routing delay</a:t>
            </a:r>
          </a:p>
          <a:p>
            <a:pPr algn="l">
              <a:spcBef>
                <a:spcPts val="0"/>
              </a:spcBef>
              <a:spcAft>
                <a:spcPts val="1000"/>
              </a:spcAft>
            </a:pPr>
            <a:r>
              <a:rPr sz="1600" b="0" i="0" dirty="0">
                <a:solidFill>
                  <a:srgbClr val="5B6172"/>
                </a:solidFill>
                <a:latin typeface="Calibri"/>
              </a:rPr>
              <a:t>        –  PTP compensates the *estimated* mean path delay — its estimation error remains</a:t>
            </a:r>
          </a:p>
          <a:p>
            <a:pPr algn="l">
              <a:spcBef>
                <a:spcPts val="0"/>
              </a:spcBef>
              <a:spcAft>
                <a:spcPts val="1000"/>
              </a:spcAft>
            </a:pPr>
            <a:r>
              <a:rPr sz="1600" b="0" i="0" dirty="0">
                <a:solidFill>
                  <a:srgbClr val="5B6172"/>
                </a:solidFill>
                <a:latin typeface="Calibri"/>
              </a:rPr>
              <a:t>        –  Residual = asymmetry + delay-estimation error, growing with hops — folds into </a:t>
            </a:r>
            <a:r>
              <a:rPr sz="1600" b="0" i="0" dirty="0" err="1">
                <a:solidFill>
                  <a:srgbClr val="5B6172"/>
                </a:solidFill>
                <a:latin typeface="Calibri"/>
              </a:rPr>
              <a:t>U_est</a:t>
            </a:r>
            <a:endParaRPr sz="1600" b="0" i="0" dirty="0">
              <a:solidFill>
                <a:srgbClr val="5B6172"/>
              </a:solidFill>
              <a:latin typeface="Calibri"/>
            </a:endParaRPr>
          </a:p>
          <a:p>
            <a:pPr algn="l">
              <a:spcBef>
                <a:spcPts val="0"/>
              </a:spcBef>
              <a:spcAft>
                <a:spcPts val="1000"/>
              </a:spcAft>
            </a:pPr>
            <a:r>
              <a:rPr sz="1800" b="1" i="0" dirty="0">
                <a:solidFill>
                  <a:srgbClr val="2E6BE6"/>
                </a:solidFill>
                <a:latin typeface="Calibri"/>
              </a:rPr>
              <a:t>▸  </a:t>
            </a:r>
            <a:r>
              <a:rPr sz="1800" b="0" i="0" dirty="0">
                <a:solidFill>
                  <a:srgbClr val="1A1D29"/>
                </a:solidFill>
                <a:latin typeface="Calibri"/>
              </a:rPr>
              <a:t>Kernel path (layer 5): Linux exposes useful data — but not as one package:</a:t>
            </a:r>
          </a:p>
          <a:p>
            <a:pPr algn="l">
              <a:spcBef>
                <a:spcPts val="0"/>
              </a:spcBef>
              <a:spcAft>
                <a:spcPts val="1000"/>
              </a:spcAft>
            </a:pPr>
            <a:r>
              <a:rPr sz="1600" b="0" i="0" dirty="0">
                <a:solidFill>
                  <a:srgbClr val="5B6172"/>
                </a:solidFill>
                <a:latin typeface="Calibri"/>
              </a:rPr>
              <a:t>        –  PTP_SYS_OFFSET / _EXTENDED — PHC vs system clock</a:t>
            </a:r>
          </a:p>
          <a:p>
            <a:pPr algn="l">
              <a:spcBef>
                <a:spcPts val="0"/>
              </a:spcBef>
              <a:spcAft>
                <a:spcPts val="1000"/>
              </a:spcAft>
            </a:pPr>
            <a:r>
              <a:rPr sz="1600" b="0" i="0" dirty="0">
                <a:solidFill>
                  <a:srgbClr val="5B6172"/>
                </a:solidFill>
                <a:latin typeface="Calibri"/>
              </a:rPr>
              <a:t>        –  SO_TIMESTAMPING — ingress / egress timestamps</a:t>
            </a:r>
          </a:p>
          <a:p>
            <a:pPr algn="l">
              <a:spcBef>
                <a:spcPts val="0"/>
              </a:spcBef>
              <a:spcAft>
                <a:spcPts val="1000"/>
              </a:spcAft>
            </a:pPr>
            <a:r>
              <a:rPr sz="1600" b="0" i="0" dirty="0">
                <a:solidFill>
                  <a:srgbClr val="5B6172"/>
                </a:solidFill>
                <a:latin typeface="Calibri"/>
              </a:rPr>
              <a:t>        –  ptp4l management API — offset, delay, ingress time (</a:t>
            </a:r>
            <a:r>
              <a:rPr sz="1600" b="0" i="0" dirty="0" err="1">
                <a:solidFill>
                  <a:srgbClr val="5B6172"/>
                </a:solidFill>
                <a:latin typeface="Calibri"/>
              </a:rPr>
              <a:t>userspace</a:t>
            </a:r>
            <a:r>
              <a:rPr sz="1600" b="0" i="0" dirty="0">
                <a:solidFill>
                  <a:srgbClr val="5B6172"/>
                </a:solidFill>
                <a:latin typeface="Calibri"/>
              </a:rPr>
              <a:t>)</a:t>
            </a:r>
          </a:p>
        </p:txBody>
      </p:sp>
      <p:sp>
        <p:nvSpPr>
          <p:cNvPr id="6" name="Rectangle 5"/>
          <p:cNvSpPr/>
          <p:nvPr/>
        </p:nvSpPr>
        <p:spPr>
          <a:xfrm>
            <a:off x="0" y="6601968"/>
            <a:ext cx="12191695" cy="256032"/>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83680"/>
            <a:ext cx="8229600" cy="256032"/>
          </a:xfrm>
          <a:prstGeom prst="rect">
            <a:avLst/>
          </a:prstGeom>
          <a:noFill/>
        </p:spPr>
        <p:txBody>
          <a:bodyPr wrap="square" lIns="0" tIns="0" rIns="0" bIns="0" anchor="ctr">
            <a:spAutoFit/>
          </a:bodyPr>
          <a:lstStyle/>
          <a:p>
            <a:pPr algn="l">
              <a:spcBef>
                <a:spcPts val="0"/>
              </a:spcBef>
              <a:spcAft>
                <a:spcPts val="600"/>
              </a:spcAft>
            </a:pPr>
            <a:r>
              <a:rPr sz="1000" b="0" i="0">
                <a:solidFill>
                  <a:srgbClr val="FFFFFF"/>
                </a:solidFill>
                <a:latin typeface="Calibri"/>
              </a:rPr>
              <a:t>Time Uncertainty as a First-Class Concept</a:t>
            </a:r>
          </a:p>
        </p:txBody>
      </p:sp>
      <p:sp>
        <p:nvSpPr>
          <p:cNvPr id="8" name="TextBox 7"/>
          <p:cNvSpPr txBox="1"/>
          <p:nvPr/>
        </p:nvSpPr>
        <p:spPr>
          <a:xfrm>
            <a:off x="11002975" y="6583680"/>
            <a:ext cx="731520" cy="256032"/>
          </a:xfrm>
          <a:prstGeom prst="rect">
            <a:avLst/>
          </a:prstGeom>
          <a:noFill/>
        </p:spPr>
        <p:txBody>
          <a:bodyPr wrap="square" lIns="0" tIns="0" rIns="0" bIns="0" anchor="ctr">
            <a:spAutoFit/>
          </a:bodyPr>
          <a:lstStyle/>
          <a:p>
            <a:pPr algn="r">
              <a:spcBef>
                <a:spcPts val="0"/>
              </a:spcBef>
              <a:spcAft>
                <a:spcPts val="600"/>
              </a:spcAft>
            </a:pPr>
            <a:r>
              <a:rPr sz="1000" b="1" i="0">
                <a:solidFill>
                  <a:srgbClr val="FFFFFF"/>
                </a:solidFill>
                <a:latin typeface="Calibri"/>
              </a:rPr>
              <a:t>17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0" end="0"/>
                                            </p:txEl>
                                          </p:spTgt>
                                        </p:tgtEl>
                                        <p:attrNameLst>
                                          <p:attrName>ppt_c</p:attrName>
                                        </p:attrNameLst>
                                      </p:cBhvr>
                                      <p:to>
                                        <a:srgbClr val="9EA0A0"/>
                                      </p:to>
                                    </p:animClr>
                                  </p:sub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1" end="1"/>
                                            </p:txEl>
                                          </p:spTgt>
                                        </p:tgtEl>
                                        <p:attrNameLst>
                                          <p:attrName>ppt_c</p:attrName>
                                        </p:attrNameLst>
                                      </p:cBhvr>
                                      <p:to>
                                        <a:srgbClr val="9EA0A0"/>
                                      </p:to>
                                    </p:animClr>
                                  </p:sub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2" end="2"/>
                                            </p:txEl>
                                          </p:spTgt>
                                        </p:tgtEl>
                                        <p:attrNameLst>
                                          <p:attrName>ppt_c</p:attrName>
                                        </p:attrNameLst>
                                      </p:cBhvr>
                                      <p:to>
                                        <a:srgbClr val="9EA0A0"/>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1143000"/>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0972800" cy="365760"/>
          </a:xfrm>
          <a:prstGeom prst="rect">
            <a:avLst/>
          </a:prstGeom>
          <a:noFill/>
        </p:spPr>
        <p:txBody>
          <a:bodyPr wrap="square" lIns="0" tIns="0" rIns="0" bIns="0" anchor="t">
            <a:spAutoFit/>
          </a:bodyPr>
          <a:lstStyle/>
          <a:p>
            <a:pPr algn="l">
              <a:spcBef>
                <a:spcPts val="0"/>
              </a:spcBef>
              <a:spcAft>
                <a:spcPts val="600"/>
              </a:spcAft>
            </a:pPr>
            <a:r>
              <a:rPr sz="1300" b="1" i="0">
                <a:solidFill>
                  <a:srgbClr val="2E6BE6"/>
                </a:solidFill>
                <a:latin typeface="Calibri"/>
              </a:rPr>
              <a:t>ANATOMY</a:t>
            </a:r>
          </a:p>
        </p:txBody>
      </p:sp>
      <p:sp>
        <p:nvSpPr>
          <p:cNvPr id="4" name="TextBox 3"/>
          <p:cNvSpPr txBox="1"/>
          <p:nvPr/>
        </p:nvSpPr>
        <p:spPr>
          <a:xfrm>
            <a:off x="502920" y="566928"/>
            <a:ext cx="11155680" cy="822960"/>
          </a:xfrm>
          <a:prstGeom prst="rect">
            <a:avLst/>
          </a:prstGeom>
          <a:noFill/>
        </p:spPr>
        <p:txBody>
          <a:bodyPr wrap="square" lIns="0" tIns="0" rIns="0" bIns="0" anchor="t">
            <a:spAutoFit/>
          </a:bodyPr>
          <a:lstStyle/>
          <a:p>
            <a:pPr algn="l">
              <a:spcBef>
                <a:spcPts val="0"/>
              </a:spcBef>
              <a:spcAft>
                <a:spcPts val="600"/>
              </a:spcAft>
            </a:pPr>
            <a:r>
              <a:rPr sz="3000" b="1" i="0">
                <a:solidFill>
                  <a:srgbClr val="1A1D29"/>
                </a:solidFill>
                <a:latin typeface="Calibri"/>
              </a:rPr>
              <a:t>Layer that everyone forgets: staleness</a:t>
            </a:r>
          </a:p>
        </p:txBody>
      </p:sp>
      <p:sp>
        <p:nvSpPr>
          <p:cNvPr id="5" name="Rectangle 4"/>
          <p:cNvSpPr/>
          <p:nvPr/>
        </p:nvSpPr>
        <p:spPr>
          <a:xfrm>
            <a:off x="640080" y="1600200"/>
            <a:ext cx="10881360" cy="4114800"/>
          </a:xfrm>
          <a:prstGeom prst="rect">
            <a:avLst/>
          </a:prstGeom>
          <a:solidFill>
            <a:srgbClr val="111627"/>
          </a:solidFill>
          <a:ln>
            <a:noFill/>
          </a:ln>
          <a:effectLst/>
        </p:spPr>
        <p:style>
          <a:lnRef idx="1">
            <a:schemeClr val="accent1"/>
          </a:lnRef>
          <a:fillRef idx="3">
            <a:schemeClr val="accent1"/>
          </a:fillRef>
          <a:effectRef idx="2">
            <a:schemeClr val="accent1"/>
          </a:effectRef>
          <a:fontRef idx="minor">
            <a:schemeClr val="lt1"/>
          </a:fontRef>
        </p:style>
        <p:txBody>
          <a:bodyPr wrap="none" lIns="274320" tIns="182880" rIns="182880" bIns="182880" rtlCol="0" anchor="ctr"/>
          <a:lstStyle/>
          <a:p>
            <a:pPr algn="l">
              <a:spcAft>
                <a:spcPts val="200"/>
              </a:spcAft>
            </a:pPr>
            <a:r>
              <a:rPr sz="1500" dirty="0">
                <a:solidFill>
                  <a:srgbClr val="D6E2FF"/>
                </a:solidFill>
                <a:latin typeface="Consolas"/>
              </a:rPr>
              <a:t>  Between syncs, we bound the residual frequency error.</a:t>
            </a:r>
          </a:p>
          <a:p>
            <a:pPr algn="l">
              <a:spcAft>
                <a:spcPts val="200"/>
              </a:spcAft>
            </a:pPr>
            <a:r>
              <a:rPr sz="1500" dirty="0">
                <a:solidFill>
                  <a:srgbClr val="D6E2FF"/>
                </a:solidFill>
                <a:latin typeface="Consolas"/>
              </a:rPr>
              <a:t> </a:t>
            </a:r>
          </a:p>
          <a:p>
            <a:pPr algn="l">
              <a:spcAft>
                <a:spcPts val="200"/>
              </a:spcAft>
            </a:pPr>
            <a:r>
              <a:rPr sz="1500" dirty="0">
                <a:solidFill>
                  <a:srgbClr val="D6E2FF"/>
                </a:solidFill>
                <a:latin typeface="Consolas"/>
              </a:rPr>
              <a:t>  </a:t>
            </a:r>
            <a:r>
              <a:rPr sz="1500" dirty="0" err="1">
                <a:solidFill>
                  <a:srgbClr val="D6E2FF"/>
                </a:solidFill>
                <a:latin typeface="Consolas"/>
              </a:rPr>
              <a:t>U_drift</a:t>
            </a:r>
            <a:r>
              <a:rPr sz="1500" dirty="0">
                <a:solidFill>
                  <a:srgbClr val="D6E2FF"/>
                </a:solidFill>
                <a:latin typeface="Consolas"/>
              </a:rPr>
              <a:t>  =  age  x  </a:t>
            </a:r>
            <a:r>
              <a:rPr sz="1500" dirty="0" err="1">
                <a:solidFill>
                  <a:srgbClr val="D6E2FF"/>
                </a:solidFill>
                <a:latin typeface="Consolas"/>
              </a:rPr>
              <a:t>D_max</a:t>
            </a:r>
            <a:r>
              <a:rPr sz="1500" dirty="0">
                <a:solidFill>
                  <a:srgbClr val="D6E2FF"/>
                </a:solidFill>
                <a:latin typeface="Consolas"/>
              </a:rPr>
              <a:t>      (configured bound)</a:t>
            </a:r>
          </a:p>
          <a:p>
            <a:pPr algn="l">
              <a:spcAft>
                <a:spcPts val="200"/>
              </a:spcAft>
            </a:pPr>
            <a:r>
              <a:rPr sz="1500" dirty="0">
                <a:solidFill>
                  <a:srgbClr val="D6E2FF"/>
                </a:solidFill>
                <a:latin typeface="Consolas"/>
              </a:rPr>
              <a:t> </a:t>
            </a:r>
          </a:p>
          <a:p>
            <a:pPr algn="l">
              <a:spcAft>
                <a:spcPts val="200"/>
              </a:spcAft>
            </a:pPr>
            <a:r>
              <a:rPr sz="1500" dirty="0">
                <a:solidFill>
                  <a:srgbClr val="D6E2FF"/>
                </a:solidFill>
                <a:latin typeface="Consolas"/>
              </a:rPr>
              <a:t>  Example:  100 ppm  x  1 s   =   100 microseconds</a:t>
            </a:r>
          </a:p>
          <a:p>
            <a:pPr algn="l">
              <a:spcAft>
                <a:spcPts val="200"/>
              </a:spcAft>
            </a:pPr>
            <a:r>
              <a:rPr sz="1500" dirty="0">
                <a:solidFill>
                  <a:srgbClr val="D6E2FF"/>
                </a:solidFill>
                <a:latin typeface="Consolas"/>
              </a:rPr>
              <a:t> </a:t>
            </a:r>
          </a:p>
        </p:txBody>
      </p:sp>
      <p:sp>
        <p:nvSpPr>
          <p:cNvPr id="6" name="TextBox 5"/>
          <p:cNvSpPr txBox="1"/>
          <p:nvPr/>
        </p:nvSpPr>
        <p:spPr>
          <a:xfrm>
            <a:off x="658368" y="5824728"/>
            <a:ext cx="10881360" cy="230832"/>
          </a:xfrm>
          <a:prstGeom prst="rect">
            <a:avLst/>
          </a:prstGeom>
          <a:noFill/>
        </p:spPr>
        <p:txBody>
          <a:bodyPr wrap="square" lIns="0" tIns="0" rIns="0" bIns="0" anchor="t">
            <a:spAutoFit/>
          </a:bodyPr>
          <a:lstStyle/>
          <a:p>
            <a:pPr algn="l">
              <a:spcBef>
                <a:spcPts val="0"/>
              </a:spcBef>
              <a:spcAft>
                <a:spcPts val="600"/>
              </a:spcAft>
            </a:pPr>
            <a:r>
              <a:rPr sz="1500" b="0" i="1" dirty="0">
                <a:solidFill>
                  <a:srgbClr val="5B6172"/>
                </a:solidFill>
                <a:latin typeface="Calibri"/>
              </a:rPr>
              <a:t>Staleness turns a point estimate into a growing envelope — age × the configured frequency-error bound.</a:t>
            </a:r>
          </a:p>
        </p:txBody>
      </p:sp>
      <p:sp>
        <p:nvSpPr>
          <p:cNvPr id="7" name="Rectangle 6"/>
          <p:cNvSpPr/>
          <p:nvPr/>
        </p:nvSpPr>
        <p:spPr>
          <a:xfrm>
            <a:off x="0" y="6601968"/>
            <a:ext cx="12191695" cy="256032"/>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83680"/>
            <a:ext cx="8229600" cy="256032"/>
          </a:xfrm>
          <a:prstGeom prst="rect">
            <a:avLst/>
          </a:prstGeom>
          <a:noFill/>
        </p:spPr>
        <p:txBody>
          <a:bodyPr wrap="square" lIns="0" tIns="0" rIns="0" bIns="0" anchor="ctr">
            <a:spAutoFit/>
          </a:bodyPr>
          <a:lstStyle/>
          <a:p>
            <a:pPr algn="l">
              <a:spcBef>
                <a:spcPts val="0"/>
              </a:spcBef>
              <a:spcAft>
                <a:spcPts val="600"/>
              </a:spcAft>
            </a:pPr>
            <a:r>
              <a:rPr sz="1000" b="0" i="0">
                <a:solidFill>
                  <a:srgbClr val="FFFFFF"/>
                </a:solidFill>
                <a:latin typeface="Calibri"/>
              </a:rPr>
              <a:t>Time Uncertainty as a First-Class Concept</a:t>
            </a:r>
          </a:p>
        </p:txBody>
      </p:sp>
      <p:sp>
        <p:nvSpPr>
          <p:cNvPr id="9" name="TextBox 8"/>
          <p:cNvSpPr txBox="1"/>
          <p:nvPr/>
        </p:nvSpPr>
        <p:spPr>
          <a:xfrm>
            <a:off x="11002975" y="6583680"/>
            <a:ext cx="731520" cy="256032"/>
          </a:xfrm>
          <a:prstGeom prst="rect">
            <a:avLst/>
          </a:prstGeom>
          <a:noFill/>
        </p:spPr>
        <p:txBody>
          <a:bodyPr wrap="square" lIns="0" tIns="0" rIns="0" bIns="0" anchor="ctr">
            <a:spAutoFit/>
          </a:bodyPr>
          <a:lstStyle/>
          <a:p>
            <a:pPr algn="r">
              <a:spcBef>
                <a:spcPts val="0"/>
              </a:spcBef>
              <a:spcAft>
                <a:spcPts val="600"/>
              </a:spcAft>
            </a:pPr>
            <a:r>
              <a:rPr sz="1000" b="1" i="0">
                <a:solidFill>
                  <a:srgbClr val="FFFFFF"/>
                </a:solidFill>
                <a:latin typeface="Calibri"/>
              </a:rPr>
              <a:t>18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2E6BE6"/>
        </a:solidFill>
        <a:effectLst/>
      </p:bgPr>
    </p:bg>
    <p:spTree>
      <p:nvGrpSpPr>
        <p:cNvPr id="1" name=""/>
        <p:cNvGrpSpPr/>
        <p:nvPr/>
      </p:nvGrpSpPr>
      <p:grpSpPr>
        <a:xfrm>
          <a:off x="0" y="0"/>
          <a:ext cx="0" cy="0"/>
          <a:chOff x="0" y="0"/>
          <a:chExt cx="0" cy="0"/>
        </a:xfrm>
      </p:grpSpPr>
      <p:sp>
        <p:nvSpPr>
          <p:cNvPr id="2" name="Rectangle 1"/>
          <p:cNvSpPr/>
          <p:nvPr/>
        </p:nvSpPr>
        <p:spPr>
          <a:xfrm>
            <a:off x="0" y="2468880"/>
            <a:ext cx="3200400" cy="9144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1828800"/>
            <a:ext cx="10058400" cy="548640"/>
          </a:xfrm>
          <a:prstGeom prst="rect">
            <a:avLst/>
          </a:prstGeom>
          <a:noFill/>
        </p:spPr>
        <p:txBody>
          <a:bodyPr wrap="square" lIns="0" tIns="0" rIns="0" bIns="0" anchor="t">
            <a:spAutoFit/>
          </a:bodyPr>
          <a:lstStyle/>
          <a:p>
            <a:pPr algn="l">
              <a:spcBef>
                <a:spcPts val="0"/>
              </a:spcBef>
              <a:spcAft>
                <a:spcPts val="600"/>
              </a:spcAft>
            </a:pPr>
            <a:r>
              <a:rPr sz="2000" b="1" i="0">
                <a:solidFill>
                  <a:srgbClr val="C7D2F0"/>
                </a:solidFill>
                <a:latin typeface="Calibri"/>
              </a:rPr>
              <a:t>PART 4</a:t>
            </a:r>
          </a:p>
        </p:txBody>
      </p:sp>
      <p:sp>
        <p:nvSpPr>
          <p:cNvPr id="4" name="TextBox 3"/>
          <p:cNvSpPr txBox="1"/>
          <p:nvPr/>
        </p:nvSpPr>
        <p:spPr>
          <a:xfrm>
            <a:off x="804672" y="2697480"/>
            <a:ext cx="10515600" cy="1828800"/>
          </a:xfrm>
          <a:prstGeom prst="rect">
            <a:avLst/>
          </a:prstGeom>
          <a:noFill/>
        </p:spPr>
        <p:txBody>
          <a:bodyPr wrap="square" lIns="0" tIns="0" rIns="0" bIns="0" anchor="t">
            <a:spAutoFit/>
          </a:bodyPr>
          <a:lstStyle/>
          <a:p>
            <a:pPr algn="l">
              <a:spcBef>
                <a:spcPts val="0"/>
              </a:spcBef>
              <a:spcAft>
                <a:spcPts val="600"/>
              </a:spcAft>
            </a:pPr>
            <a:r>
              <a:rPr sz="4000" b="1" i="0">
                <a:solidFill>
                  <a:srgbClr val="FFFFFF"/>
                </a:solidFill>
                <a:latin typeface="Calibri"/>
              </a:rPr>
              <a:t>Turning PTP state into a bound</a:t>
            </a:r>
          </a:p>
        </p:txBody>
      </p:sp>
      <p:sp>
        <p:nvSpPr>
          <p:cNvPr id="5" name="TextBox 4"/>
          <p:cNvSpPr txBox="1"/>
          <p:nvPr/>
        </p:nvSpPr>
        <p:spPr>
          <a:xfrm>
            <a:off x="11002975" y="6263640"/>
            <a:ext cx="822960" cy="365760"/>
          </a:xfrm>
          <a:prstGeom prst="rect">
            <a:avLst/>
          </a:prstGeom>
          <a:noFill/>
        </p:spPr>
        <p:txBody>
          <a:bodyPr wrap="square" lIns="0" tIns="0" rIns="0" bIns="0" anchor="t">
            <a:spAutoFit/>
          </a:bodyPr>
          <a:lstStyle/>
          <a:p>
            <a:pPr algn="r">
              <a:spcBef>
                <a:spcPts val="0"/>
              </a:spcBef>
              <a:spcAft>
                <a:spcPts val="600"/>
              </a:spcAft>
            </a:pPr>
            <a:r>
              <a:rPr sz="1200" b="1" i="0">
                <a:solidFill>
                  <a:srgbClr val="FFFFFF"/>
                </a:solidFill>
                <a:latin typeface="Calibri"/>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1143000"/>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0972800" cy="365760"/>
          </a:xfrm>
          <a:prstGeom prst="rect">
            <a:avLst/>
          </a:prstGeom>
          <a:noFill/>
        </p:spPr>
        <p:txBody>
          <a:bodyPr wrap="square" lIns="0" tIns="0" rIns="0" bIns="0" anchor="t">
            <a:spAutoFit/>
          </a:bodyPr>
          <a:lstStyle/>
          <a:p>
            <a:pPr algn="l">
              <a:spcBef>
                <a:spcPts val="0"/>
              </a:spcBef>
              <a:spcAft>
                <a:spcPts val="600"/>
              </a:spcAft>
            </a:pPr>
            <a:r>
              <a:rPr sz="1300" b="1" i="0">
                <a:solidFill>
                  <a:srgbClr val="2E6BE6"/>
                </a:solidFill>
                <a:latin typeface="Calibri"/>
              </a:rPr>
              <a:t>PTP → BOUND</a:t>
            </a:r>
          </a:p>
        </p:txBody>
      </p:sp>
      <p:sp>
        <p:nvSpPr>
          <p:cNvPr id="4" name="TextBox 3"/>
          <p:cNvSpPr txBox="1"/>
          <p:nvPr/>
        </p:nvSpPr>
        <p:spPr>
          <a:xfrm>
            <a:off x="502920" y="566928"/>
            <a:ext cx="11155680" cy="822960"/>
          </a:xfrm>
          <a:prstGeom prst="rect">
            <a:avLst/>
          </a:prstGeom>
          <a:noFill/>
        </p:spPr>
        <p:txBody>
          <a:bodyPr wrap="square" lIns="0" tIns="0" rIns="0" bIns="0" anchor="t">
            <a:spAutoFit/>
          </a:bodyPr>
          <a:lstStyle/>
          <a:p>
            <a:pPr algn="l">
              <a:spcBef>
                <a:spcPts val="0"/>
              </a:spcBef>
              <a:spcAft>
                <a:spcPts val="600"/>
              </a:spcAft>
            </a:pPr>
            <a:r>
              <a:rPr sz="3000" b="1" i="0">
                <a:solidFill>
                  <a:srgbClr val="1A1D29"/>
                </a:solidFill>
                <a:latin typeface="Calibri"/>
              </a:rPr>
              <a:t>PTP answers: what does the protocol believe?</a:t>
            </a:r>
          </a:p>
        </p:txBody>
      </p:sp>
      <p:graphicFrame>
        <p:nvGraphicFramePr>
          <p:cNvPr id="5" name="Table 4"/>
          <p:cNvGraphicFramePr>
            <a:graphicFrameLocks noGrp="1"/>
          </p:cNvGraphicFramePr>
          <p:nvPr/>
        </p:nvGraphicFramePr>
        <p:xfrm>
          <a:off x="640080" y="1645920"/>
          <a:ext cx="10881360" cy="2286000"/>
        </p:xfrm>
        <a:graphic>
          <a:graphicData uri="http://schemas.openxmlformats.org/drawingml/2006/table">
            <a:tbl>
              <a:tblPr firstRow="1" bandRow="1">
                <a:tableStyleId>{5C22544A-7EE6-4342-B048-85BDC9FD1C3A}</a:tableStyleId>
              </a:tblPr>
              <a:tblGrid>
                <a:gridCol w="5440680">
                  <a:extLst>
                    <a:ext uri="{9D8B030D-6E8A-4147-A177-3AD203B41FA5}">
                      <a16:colId xmlns:a16="http://schemas.microsoft.com/office/drawing/2014/main" val="20000"/>
                    </a:ext>
                  </a:extLst>
                </a:gridCol>
                <a:gridCol w="5440680">
                  <a:extLst>
                    <a:ext uri="{9D8B030D-6E8A-4147-A177-3AD203B41FA5}">
                      <a16:colId xmlns:a16="http://schemas.microsoft.com/office/drawing/2014/main" val="20001"/>
                    </a:ext>
                  </a:extLst>
                </a:gridCol>
              </a:tblGrid>
              <a:tr h="457200">
                <a:tc>
                  <a:txBody>
                    <a:bodyPr/>
                    <a:lstStyle/>
                    <a:p>
                      <a:r>
                        <a:rPr sz="1500" b="1">
                          <a:solidFill>
                            <a:srgbClr val="FFFFFF"/>
                          </a:solidFill>
                          <a:latin typeface="Calibri"/>
                        </a:rPr>
                        <a:t>Dataset (via ptp4l)</a:t>
                      </a:r>
                    </a:p>
                  </a:txBody>
                  <a:tcPr marL="109728">
                    <a:solidFill>
                      <a:srgbClr val="2E6BE6"/>
                    </a:solidFill>
                  </a:tcPr>
                </a:tc>
                <a:tc>
                  <a:txBody>
                    <a:bodyPr/>
                    <a:lstStyle/>
                    <a:p>
                      <a:r>
                        <a:rPr sz="1500" b="1">
                          <a:solidFill>
                            <a:srgbClr val="FFFFFF"/>
                          </a:solidFill>
                          <a:latin typeface="Calibri"/>
                        </a:rPr>
                        <a:t>Provides</a:t>
                      </a:r>
                    </a:p>
                  </a:txBody>
                  <a:tcPr marL="109728">
                    <a:solidFill>
                      <a:srgbClr val="2E6BE6"/>
                    </a:solidFill>
                  </a:tcPr>
                </a:tc>
                <a:extLst>
                  <a:ext uri="{0D108BD9-81ED-4DB2-BD59-A6C34878D82A}">
                    <a16:rowId xmlns:a16="http://schemas.microsoft.com/office/drawing/2014/main" val="10000"/>
                  </a:ext>
                </a:extLst>
              </a:tr>
              <a:tr h="457200">
                <a:tc>
                  <a:txBody>
                    <a:bodyPr/>
                    <a:lstStyle/>
                    <a:p>
                      <a:r>
                        <a:rPr sz="1350" b="1">
                          <a:solidFill>
                            <a:srgbClr val="1A1D29"/>
                          </a:solidFill>
                          <a:latin typeface="Calibri"/>
                        </a:rPr>
                        <a:t>CURRENT_DATA_SET</a:t>
                      </a:r>
                    </a:p>
                  </a:txBody>
                  <a:tcPr marL="109728" marT="36576" marB="36576">
                    <a:solidFill>
                      <a:srgbClr val="FFFFFF"/>
                    </a:solidFill>
                  </a:tcPr>
                </a:tc>
                <a:tc>
                  <a:txBody>
                    <a:bodyPr/>
                    <a:lstStyle/>
                    <a:p>
                      <a:r>
                        <a:rPr sz="1350" b="0">
                          <a:solidFill>
                            <a:srgbClr val="5B6172"/>
                          </a:solidFill>
                          <a:latin typeface="Calibri"/>
                        </a:rPr>
                        <a:t>offsetFromMaster, meanPathDelay, stepsRemoved</a:t>
                      </a:r>
                    </a:p>
                  </a:txBody>
                  <a:tcPr marL="109728" marT="36576" marB="36576">
                    <a:solidFill>
                      <a:srgbClr val="FFFFFF"/>
                    </a:solidFill>
                  </a:tcPr>
                </a:tc>
                <a:extLst>
                  <a:ext uri="{0D108BD9-81ED-4DB2-BD59-A6C34878D82A}">
                    <a16:rowId xmlns:a16="http://schemas.microsoft.com/office/drawing/2014/main" val="10001"/>
                  </a:ext>
                </a:extLst>
              </a:tr>
              <a:tr h="457200">
                <a:tc>
                  <a:txBody>
                    <a:bodyPr/>
                    <a:lstStyle/>
                    <a:p>
                      <a:r>
                        <a:rPr sz="1350" b="1">
                          <a:solidFill>
                            <a:srgbClr val="1A1D29"/>
                          </a:solidFill>
                          <a:latin typeface="Calibri"/>
                        </a:rPr>
                        <a:t>PORT_DATA_SET</a:t>
                      </a:r>
                    </a:p>
                  </a:txBody>
                  <a:tcPr marL="109728" marT="36576" marB="36576">
                    <a:solidFill>
                      <a:srgbClr val="EDF1FB"/>
                    </a:solidFill>
                  </a:tcPr>
                </a:tc>
                <a:tc>
                  <a:txBody>
                    <a:bodyPr/>
                    <a:lstStyle/>
                    <a:p>
                      <a:r>
                        <a:rPr sz="1350" b="0">
                          <a:solidFill>
                            <a:srgbClr val="5B6172"/>
                          </a:solidFill>
                          <a:latin typeface="Calibri"/>
                        </a:rPr>
                        <a:t>port state, logSyncInterval</a:t>
                      </a:r>
                    </a:p>
                  </a:txBody>
                  <a:tcPr marL="109728" marT="36576" marB="36576">
                    <a:solidFill>
                      <a:srgbClr val="EDF1FB"/>
                    </a:solidFill>
                  </a:tcPr>
                </a:tc>
                <a:extLst>
                  <a:ext uri="{0D108BD9-81ED-4DB2-BD59-A6C34878D82A}">
                    <a16:rowId xmlns:a16="http://schemas.microsoft.com/office/drawing/2014/main" val="10002"/>
                  </a:ext>
                </a:extLst>
              </a:tr>
              <a:tr h="457200">
                <a:tc>
                  <a:txBody>
                    <a:bodyPr/>
                    <a:lstStyle/>
                    <a:p>
                      <a:r>
                        <a:rPr sz="1350" b="1">
                          <a:solidFill>
                            <a:srgbClr val="1A1D29"/>
                          </a:solidFill>
                          <a:latin typeface="Calibri"/>
                        </a:rPr>
                        <a:t>TIME_STATUS_NP</a:t>
                      </a:r>
                    </a:p>
                  </a:txBody>
                  <a:tcPr marL="109728" marT="36576" marB="36576">
                    <a:solidFill>
                      <a:srgbClr val="FFFFFF"/>
                    </a:solidFill>
                  </a:tcPr>
                </a:tc>
                <a:tc>
                  <a:txBody>
                    <a:bodyPr/>
                    <a:lstStyle/>
                    <a:p>
                      <a:r>
                        <a:rPr sz="1350" b="0">
                          <a:solidFill>
                            <a:srgbClr val="5B6172"/>
                          </a:solidFill>
                          <a:latin typeface="Calibri"/>
                        </a:rPr>
                        <a:t>sync ingress time, grandmaster identity</a:t>
                      </a:r>
                    </a:p>
                  </a:txBody>
                  <a:tcPr marL="109728" marT="36576" marB="36576">
                    <a:solidFill>
                      <a:srgbClr val="FFFFFF"/>
                    </a:solidFill>
                  </a:tcPr>
                </a:tc>
                <a:extLst>
                  <a:ext uri="{0D108BD9-81ED-4DB2-BD59-A6C34878D82A}">
                    <a16:rowId xmlns:a16="http://schemas.microsoft.com/office/drawing/2014/main" val="10003"/>
                  </a:ext>
                </a:extLst>
              </a:tr>
              <a:tr h="457200">
                <a:tc>
                  <a:txBody>
                    <a:bodyPr/>
                    <a:lstStyle/>
                    <a:p>
                      <a:r>
                        <a:rPr sz="1350" b="1">
                          <a:solidFill>
                            <a:srgbClr val="1A1D29"/>
                          </a:solidFill>
                          <a:latin typeface="Calibri"/>
                        </a:rPr>
                        <a:t>PORT_HWCLOCK_NP</a:t>
                      </a:r>
                    </a:p>
                  </a:txBody>
                  <a:tcPr marL="109728" marT="36576" marB="36576">
                    <a:solidFill>
                      <a:srgbClr val="EDF1FB"/>
                    </a:solidFill>
                  </a:tcPr>
                </a:tc>
                <a:tc>
                  <a:txBody>
                    <a:bodyPr/>
                    <a:lstStyle/>
                    <a:p>
                      <a:r>
                        <a:rPr sz="1350" b="0">
                          <a:solidFill>
                            <a:srgbClr val="5B6172"/>
                          </a:solidFill>
                          <a:latin typeface="Calibri"/>
                        </a:rPr>
                        <a:t>PHC index (optional)</a:t>
                      </a:r>
                    </a:p>
                  </a:txBody>
                  <a:tcPr marL="109728" marT="36576" marB="36576">
                    <a:solidFill>
                      <a:srgbClr val="EDF1FB"/>
                    </a:solidFill>
                  </a:tcPr>
                </a:tc>
                <a:extLst>
                  <a:ext uri="{0D108BD9-81ED-4DB2-BD59-A6C34878D82A}">
                    <a16:rowId xmlns:a16="http://schemas.microsoft.com/office/drawing/2014/main" val="10004"/>
                  </a:ext>
                </a:extLst>
              </a:tr>
            </a:tbl>
          </a:graphicData>
        </a:graphic>
      </p:graphicFrame>
      <p:sp>
        <p:nvSpPr>
          <p:cNvPr id="6" name="Rectangle 5"/>
          <p:cNvSpPr/>
          <p:nvPr/>
        </p:nvSpPr>
        <p:spPr>
          <a:xfrm>
            <a:off x="0" y="6601968"/>
            <a:ext cx="12191695" cy="256032"/>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83680"/>
            <a:ext cx="8229600" cy="256032"/>
          </a:xfrm>
          <a:prstGeom prst="rect">
            <a:avLst/>
          </a:prstGeom>
          <a:noFill/>
        </p:spPr>
        <p:txBody>
          <a:bodyPr wrap="square" lIns="0" tIns="0" rIns="0" bIns="0" anchor="ctr">
            <a:spAutoFit/>
          </a:bodyPr>
          <a:lstStyle/>
          <a:p>
            <a:pPr algn="l">
              <a:spcBef>
                <a:spcPts val="0"/>
              </a:spcBef>
              <a:spcAft>
                <a:spcPts val="600"/>
              </a:spcAft>
            </a:pPr>
            <a:r>
              <a:rPr sz="1000" b="0" i="0">
                <a:solidFill>
                  <a:srgbClr val="FFFFFF"/>
                </a:solidFill>
                <a:latin typeface="Calibri"/>
              </a:rPr>
              <a:t>Time Uncertainty as a First-Class Concept</a:t>
            </a:r>
          </a:p>
        </p:txBody>
      </p:sp>
      <p:sp>
        <p:nvSpPr>
          <p:cNvPr id="8" name="TextBox 7"/>
          <p:cNvSpPr txBox="1"/>
          <p:nvPr/>
        </p:nvSpPr>
        <p:spPr>
          <a:xfrm>
            <a:off x="11002975" y="6583680"/>
            <a:ext cx="731520" cy="256032"/>
          </a:xfrm>
          <a:prstGeom prst="rect">
            <a:avLst/>
          </a:prstGeom>
          <a:noFill/>
        </p:spPr>
        <p:txBody>
          <a:bodyPr wrap="square" lIns="0" tIns="0" rIns="0" bIns="0" anchor="ctr">
            <a:spAutoFit/>
          </a:bodyPr>
          <a:lstStyle/>
          <a:p>
            <a:pPr algn="r">
              <a:spcBef>
                <a:spcPts val="0"/>
              </a:spcBef>
              <a:spcAft>
                <a:spcPts val="600"/>
              </a:spcAft>
            </a:pPr>
            <a:r>
              <a:rPr sz="1000" b="1" i="0">
                <a:solidFill>
                  <a:srgbClr val="FFFFFF"/>
                </a:solidFill>
                <a:latin typeface="Calibri"/>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1143000"/>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0972800" cy="365760"/>
          </a:xfrm>
          <a:prstGeom prst="rect">
            <a:avLst/>
          </a:prstGeom>
          <a:noFill/>
        </p:spPr>
        <p:txBody>
          <a:bodyPr wrap="square" lIns="0" tIns="0" rIns="0" bIns="0" anchor="t">
            <a:spAutoFit/>
          </a:bodyPr>
          <a:lstStyle/>
          <a:p>
            <a:pPr algn="l">
              <a:spcBef>
                <a:spcPts val="0"/>
              </a:spcBef>
              <a:spcAft>
                <a:spcPts val="600"/>
              </a:spcAft>
            </a:pPr>
            <a:r>
              <a:rPr sz="1300" b="1" i="0">
                <a:solidFill>
                  <a:srgbClr val="2E6BE6"/>
                </a:solidFill>
                <a:latin typeface="Calibri"/>
              </a:rPr>
              <a:t>PTP → BOUND</a:t>
            </a:r>
          </a:p>
        </p:txBody>
      </p:sp>
      <p:sp>
        <p:nvSpPr>
          <p:cNvPr id="4" name="TextBox 3"/>
          <p:cNvSpPr txBox="1"/>
          <p:nvPr/>
        </p:nvSpPr>
        <p:spPr>
          <a:xfrm>
            <a:off x="502920" y="566928"/>
            <a:ext cx="11155680" cy="822960"/>
          </a:xfrm>
          <a:prstGeom prst="rect">
            <a:avLst/>
          </a:prstGeom>
          <a:noFill/>
        </p:spPr>
        <p:txBody>
          <a:bodyPr wrap="square" lIns="0" tIns="0" rIns="0" bIns="0" anchor="t">
            <a:spAutoFit/>
          </a:bodyPr>
          <a:lstStyle/>
          <a:p>
            <a:pPr algn="l">
              <a:spcBef>
                <a:spcPts val="0"/>
              </a:spcBef>
              <a:spcAft>
                <a:spcPts val="600"/>
              </a:spcAft>
            </a:pPr>
            <a:r>
              <a:rPr sz="3000" b="1" i="0">
                <a:solidFill>
                  <a:srgbClr val="1A1D29"/>
                </a:solidFill>
                <a:latin typeface="Calibri"/>
              </a:rPr>
              <a:t>Ingress time is the drift anchor</a:t>
            </a:r>
          </a:p>
        </p:txBody>
      </p:sp>
      <p:sp>
        <p:nvSpPr>
          <p:cNvPr id="5" name="Rectangle 4"/>
          <p:cNvSpPr/>
          <p:nvPr/>
        </p:nvSpPr>
        <p:spPr>
          <a:xfrm>
            <a:off x="640080" y="1600200"/>
            <a:ext cx="10881360" cy="4480560"/>
          </a:xfrm>
          <a:prstGeom prst="rect">
            <a:avLst/>
          </a:prstGeom>
          <a:solidFill>
            <a:srgbClr val="111627"/>
          </a:solidFill>
          <a:ln>
            <a:noFill/>
          </a:ln>
          <a:effectLst/>
        </p:spPr>
        <p:style>
          <a:lnRef idx="1">
            <a:schemeClr val="accent1"/>
          </a:lnRef>
          <a:fillRef idx="3">
            <a:schemeClr val="accent1"/>
          </a:fillRef>
          <a:effectRef idx="2">
            <a:schemeClr val="accent1"/>
          </a:effectRef>
          <a:fontRef idx="minor">
            <a:schemeClr val="lt1"/>
          </a:fontRef>
        </p:style>
        <p:txBody>
          <a:bodyPr wrap="none" lIns="274320" tIns="182880" rIns="182880" bIns="182880" rtlCol="0" anchor="ctr"/>
          <a:lstStyle/>
          <a:p>
            <a:pPr algn="l">
              <a:spcAft>
                <a:spcPts val="200"/>
              </a:spcAft>
            </a:pPr>
            <a:r>
              <a:rPr sz="1500" dirty="0">
                <a:solidFill>
                  <a:srgbClr val="D6E2FF"/>
                </a:solidFill>
                <a:latin typeface="Consolas"/>
              </a:rPr>
              <a:t>  </a:t>
            </a:r>
            <a:r>
              <a:rPr sz="1500" dirty="0" err="1">
                <a:solidFill>
                  <a:srgbClr val="D6E2FF"/>
                </a:solidFill>
                <a:latin typeface="Consolas"/>
              </a:rPr>
              <a:t>TIME_STATUS_NP.ingress_time</a:t>
            </a:r>
            <a:endParaRPr sz="1500" dirty="0">
              <a:solidFill>
                <a:srgbClr val="D6E2FF"/>
              </a:solidFill>
              <a:latin typeface="Consolas"/>
            </a:endParaRPr>
          </a:p>
          <a:p>
            <a:pPr algn="l">
              <a:spcAft>
                <a:spcPts val="200"/>
              </a:spcAft>
            </a:pPr>
            <a:r>
              <a:rPr sz="1500" dirty="0">
                <a:solidFill>
                  <a:srgbClr val="D6E2FF"/>
                </a:solidFill>
                <a:latin typeface="Consolas"/>
              </a:rPr>
              <a:t>     = PHC time of the last sync event</a:t>
            </a:r>
          </a:p>
          <a:p>
            <a:pPr algn="l">
              <a:spcAft>
                <a:spcPts val="200"/>
              </a:spcAft>
            </a:pPr>
            <a:r>
              <a:rPr sz="1500" dirty="0">
                <a:solidFill>
                  <a:srgbClr val="D6E2FF"/>
                </a:solidFill>
                <a:latin typeface="Consolas"/>
              </a:rPr>
              <a:t> </a:t>
            </a:r>
          </a:p>
          <a:p>
            <a:pPr algn="l">
              <a:spcAft>
                <a:spcPts val="200"/>
              </a:spcAft>
            </a:pPr>
            <a:r>
              <a:rPr sz="1500" dirty="0">
                <a:solidFill>
                  <a:srgbClr val="D6E2FF"/>
                </a:solidFill>
                <a:latin typeface="Consolas"/>
              </a:rPr>
              <a:t>  drift = (</a:t>
            </a:r>
            <a:r>
              <a:rPr sz="1500" dirty="0" err="1">
                <a:solidFill>
                  <a:srgbClr val="D6E2FF"/>
                </a:solidFill>
                <a:latin typeface="Consolas"/>
              </a:rPr>
              <a:t>time_now</a:t>
            </a:r>
            <a:r>
              <a:rPr sz="1500" dirty="0">
                <a:solidFill>
                  <a:srgbClr val="D6E2FF"/>
                </a:solidFill>
                <a:latin typeface="Consolas"/>
              </a:rPr>
              <a:t> - </a:t>
            </a:r>
            <a:r>
              <a:rPr sz="1500" dirty="0" err="1">
                <a:solidFill>
                  <a:srgbClr val="D6E2FF"/>
                </a:solidFill>
                <a:latin typeface="Consolas"/>
              </a:rPr>
              <a:t>ingress_time</a:t>
            </a:r>
            <a:r>
              <a:rPr sz="1500" dirty="0">
                <a:solidFill>
                  <a:srgbClr val="D6E2FF"/>
                </a:solidFill>
                <a:latin typeface="Consolas"/>
              </a:rPr>
              <a:t>) * </a:t>
            </a:r>
            <a:r>
              <a:rPr sz="1500" dirty="0" err="1">
                <a:solidFill>
                  <a:srgbClr val="D6E2FF"/>
                </a:solidFill>
                <a:latin typeface="Consolas"/>
              </a:rPr>
              <a:t>D_max</a:t>
            </a:r>
            <a:r>
              <a:rPr sz="1500" dirty="0">
                <a:solidFill>
                  <a:srgbClr val="D6E2FF"/>
                </a:solidFill>
                <a:latin typeface="Consolas"/>
              </a:rPr>
              <a:t> / 1e9</a:t>
            </a:r>
          </a:p>
          <a:p>
            <a:pPr algn="l">
              <a:spcAft>
                <a:spcPts val="200"/>
              </a:spcAft>
            </a:pPr>
            <a:r>
              <a:rPr sz="1500" dirty="0">
                <a:solidFill>
                  <a:srgbClr val="D6E2FF"/>
                </a:solidFill>
                <a:latin typeface="Consolas"/>
              </a:rPr>
              <a:t>        = attributed residual </a:t>
            </a:r>
            <a:r>
              <a:rPr sz="1500" dirty="0" err="1">
                <a:solidFill>
                  <a:srgbClr val="D6E2FF"/>
                </a:solidFill>
                <a:latin typeface="Consolas"/>
              </a:rPr>
              <a:t>freq</a:t>
            </a:r>
            <a:r>
              <a:rPr sz="1500" dirty="0">
                <a:solidFill>
                  <a:srgbClr val="D6E2FF"/>
                </a:solidFill>
                <a:latin typeface="Consolas"/>
              </a:rPr>
              <a:t>-error bound</a:t>
            </a:r>
          </a:p>
          <a:p>
            <a:pPr algn="l">
              <a:spcAft>
                <a:spcPts val="200"/>
              </a:spcAft>
            </a:pPr>
            <a:r>
              <a:rPr sz="1500" dirty="0">
                <a:solidFill>
                  <a:srgbClr val="D6E2FF"/>
                </a:solidFill>
                <a:latin typeface="Consolas"/>
              </a:rPr>
              <a:t> </a:t>
            </a:r>
          </a:p>
          <a:p>
            <a:pPr algn="l">
              <a:spcAft>
                <a:spcPts val="200"/>
              </a:spcAft>
            </a:pPr>
            <a:r>
              <a:rPr sz="1500" dirty="0">
                <a:solidFill>
                  <a:srgbClr val="D6E2FF"/>
                </a:solidFill>
                <a:latin typeface="Consolas"/>
              </a:rPr>
              <a:t>  Caveat: offset and ingress come from *different*</a:t>
            </a:r>
          </a:p>
          <a:p>
            <a:pPr algn="l">
              <a:spcAft>
                <a:spcPts val="200"/>
              </a:spcAft>
            </a:pPr>
            <a:r>
              <a:rPr sz="1500" dirty="0">
                <a:solidFill>
                  <a:srgbClr val="D6E2FF"/>
                </a:solidFill>
                <a:latin typeface="Consolas"/>
              </a:rPr>
              <a:t>  datasets - no common observation epoch</a:t>
            </a:r>
            <a:r>
              <a:rPr lang="pl-PL" sz="1500" dirty="0">
                <a:solidFill>
                  <a:srgbClr val="D6E2FF"/>
                </a:solidFill>
                <a:latin typeface="Consolas"/>
              </a:rPr>
              <a:t>.</a:t>
            </a:r>
            <a:endParaRPr sz="1500" dirty="0">
              <a:solidFill>
                <a:srgbClr val="D6E2FF"/>
              </a:solidFill>
              <a:latin typeface="Consolas"/>
            </a:endParaRPr>
          </a:p>
        </p:txBody>
      </p:sp>
      <p:sp>
        <p:nvSpPr>
          <p:cNvPr id="6" name="Rectangle 5"/>
          <p:cNvSpPr/>
          <p:nvPr/>
        </p:nvSpPr>
        <p:spPr>
          <a:xfrm>
            <a:off x="0" y="6601968"/>
            <a:ext cx="12191695" cy="256032"/>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83680"/>
            <a:ext cx="8229600" cy="256032"/>
          </a:xfrm>
          <a:prstGeom prst="rect">
            <a:avLst/>
          </a:prstGeom>
          <a:noFill/>
        </p:spPr>
        <p:txBody>
          <a:bodyPr wrap="square" lIns="0" tIns="0" rIns="0" bIns="0" anchor="ctr">
            <a:spAutoFit/>
          </a:bodyPr>
          <a:lstStyle/>
          <a:p>
            <a:pPr algn="l">
              <a:spcBef>
                <a:spcPts val="0"/>
              </a:spcBef>
              <a:spcAft>
                <a:spcPts val="600"/>
              </a:spcAft>
            </a:pPr>
            <a:r>
              <a:rPr sz="1000" b="0" i="0">
                <a:solidFill>
                  <a:srgbClr val="FFFFFF"/>
                </a:solidFill>
                <a:latin typeface="Calibri"/>
              </a:rPr>
              <a:t>Time Uncertainty as a First-Class Concept</a:t>
            </a:r>
          </a:p>
        </p:txBody>
      </p:sp>
      <p:sp>
        <p:nvSpPr>
          <p:cNvPr id="8" name="TextBox 7"/>
          <p:cNvSpPr txBox="1"/>
          <p:nvPr/>
        </p:nvSpPr>
        <p:spPr>
          <a:xfrm>
            <a:off x="11002975" y="6583680"/>
            <a:ext cx="731520" cy="256032"/>
          </a:xfrm>
          <a:prstGeom prst="rect">
            <a:avLst/>
          </a:prstGeom>
          <a:noFill/>
        </p:spPr>
        <p:txBody>
          <a:bodyPr wrap="square" lIns="0" tIns="0" rIns="0" bIns="0" anchor="ctr">
            <a:spAutoFit/>
          </a:bodyPr>
          <a:lstStyle/>
          <a:p>
            <a:pPr algn="r">
              <a:spcBef>
                <a:spcPts val="0"/>
              </a:spcBef>
              <a:spcAft>
                <a:spcPts val="600"/>
              </a:spcAft>
            </a:pPr>
            <a:r>
              <a:rPr sz="1000" b="1" i="0">
                <a:solidFill>
                  <a:srgbClr val="FFFFFF"/>
                </a:solidFill>
                <a:latin typeface="Calibri"/>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1143000"/>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0972800" cy="365760"/>
          </a:xfrm>
          <a:prstGeom prst="rect">
            <a:avLst/>
          </a:prstGeom>
          <a:noFill/>
        </p:spPr>
        <p:txBody>
          <a:bodyPr wrap="square" lIns="0" tIns="0" rIns="0" bIns="0" anchor="t">
            <a:spAutoFit/>
          </a:bodyPr>
          <a:lstStyle/>
          <a:p>
            <a:pPr algn="l">
              <a:spcBef>
                <a:spcPts val="0"/>
              </a:spcBef>
              <a:spcAft>
                <a:spcPts val="600"/>
              </a:spcAft>
            </a:pPr>
            <a:r>
              <a:rPr sz="1300" b="1" i="0">
                <a:solidFill>
                  <a:srgbClr val="2E6BE6"/>
                </a:solidFill>
                <a:latin typeface="Calibri"/>
              </a:rPr>
              <a:t>PTP → BOUND</a:t>
            </a:r>
          </a:p>
        </p:txBody>
      </p:sp>
      <p:sp>
        <p:nvSpPr>
          <p:cNvPr id="4" name="TextBox 3"/>
          <p:cNvSpPr txBox="1"/>
          <p:nvPr/>
        </p:nvSpPr>
        <p:spPr>
          <a:xfrm>
            <a:off x="502920" y="566928"/>
            <a:ext cx="11155680" cy="822960"/>
          </a:xfrm>
          <a:prstGeom prst="rect">
            <a:avLst/>
          </a:prstGeom>
          <a:noFill/>
        </p:spPr>
        <p:txBody>
          <a:bodyPr wrap="square" lIns="0" tIns="0" rIns="0" bIns="0" anchor="t">
            <a:spAutoFit/>
          </a:bodyPr>
          <a:lstStyle/>
          <a:p>
            <a:pPr algn="l">
              <a:spcBef>
                <a:spcPts val="0"/>
              </a:spcBef>
              <a:spcAft>
                <a:spcPts val="600"/>
              </a:spcAft>
            </a:pPr>
            <a:r>
              <a:rPr sz="3000" b="1" i="0">
                <a:solidFill>
                  <a:srgbClr val="1A1D29"/>
                </a:solidFill>
                <a:latin typeface="Calibri"/>
              </a:rPr>
              <a:t>The model — stated with its assumptions</a:t>
            </a:r>
          </a:p>
        </p:txBody>
      </p:sp>
      <p:sp>
        <p:nvSpPr>
          <p:cNvPr id="5" name="Rectangle 4"/>
          <p:cNvSpPr/>
          <p:nvPr/>
        </p:nvSpPr>
        <p:spPr>
          <a:xfrm>
            <a:off x="640080" y="1600200"/>
            <a:ext cx="10881360" cy="4114800"/>
          </a:xfrm>
          <a:prstGeom prst="rect">
            <a:avLst/>
          </a:prstGeom>
          <a:solidFill>
            <a:srgbClr val="111627"/>
          </a:solidFill>
          <a:ln>
            <a:noFill/>
          </a:ln>
          <a:effectLst/>
        </p:spPr>
        <p:style>
          <a:lnRef idx="1">
            <a:schemeClr val="accent1"/>
          </a:lnRef>
          <a:fillRef idx="3">
            <a:schemeClr val="accent1"/>
          </a:fillRef>
          <a:effectRef idx="2">
            <a:schemeClr val="accent1"/>
          </a:effectRef>
          <a:fontRef idx="minor">
            <a:schemeClr val="lt1"/>
          </a:fontRef>
        </p:style>
        <p:txBody>
          <a:bodyPr wrap="none" lIns="274320" tIns="182880" rIns="182880" bIns="182880" rtlCol="0" anchor="ctr"/>
          <a:lstStyle/>
          <a:p>
            <a:pPr algn="l">
              <a:spcAft>
                <a:spcPts val="200"/>
              </a:spcAft>
            </a:pPr>
            <a:r>
              <a:rPr sz="1500">
                <a:solidFill>
                  <a:srgbClr val="D6E2FF"/>
                </a:solidFill>
                <a:latin typeface="Consolas"/>
              </a:rPr>
              <a:t>  U_event  =  U_clock            +  U_capture</a:t>
            </a:r>
          </a:p>
          <a:p>
            <a:pPr algn="l">
              <a:spcAft>
                <a:spcPts val="200"/>
              </a:spcAft>
            </a:pPr>
            <a:r>
              <a:rPr sz="1500">
                <a:solidFill>
                  <a:srgbClr val="D6E2FF"/>
                </a:solidFill>
                <a:latin typeface="Consolas"/>
              </a:rPr>
              <a:t>              (daemon / library)     (application)</a:t>
            </a:r>
          </a:p>
          <a:p>
            <a:pPr algn="l">
              <a:spcAft>
                <a:spcPts val="200"/>
              </a:spcAft>
            </a:pPr>
            <a:r>
              <a:rPr sz="1500">
                <a:solidFill>
                  <a:srgbClr val="D6E2FF"/>
                </a:solidFill>
                <a:latin typeface="Consolas"/>
              </a:rPr>
              <a:t> </a:t>
            </a:r>
          </a:p>
          <a:p>
            <a:pPr algn="l">
              <a:spcAft>
                <a:spcPts val="200"/>
              </a:spcAft>
            </a:pPr>
            <a:r>
              <a:rPr sz="1500">
                <a:solidFill>
                  <a:srgbClr val="D6E2FF"/>
                </a:solidFill>
                <a:latin typeface="Consolas"/>
              </a:rPr>
              <a:t>  U_clock  =  |offset_est|         # estimated bias, uncorrected</a:t>
            </a:r>
          </a:p>
          <a:p>
            <a:pPr algn="l">
              <a:spcAft>
                <a:spcPts val="200"/>
              </a:spcAft>
            </a:pPr>
            <a:r>
              <a:rPr sz="1500">
                <a:solidFill>
                  <a:srgbClr val="D6E2FF"/>
                </a:solidFill>
                <a:latin typeface="Consolas"/>
              </a:rPr>
              <a:t>           +  U_est               # uncertainty of that estimate</a:t>
            </a:r>
          </a:p>
          <a:p>
            <a:pPr algn="l">
              <a:spcAft>
                <a:spcPts val="200"/>
              </a:spcAft>
            </a:pPr>
            <a:r>
              <a:rPr sz="1500">
                <a:solidFill>
                  <a:srgbClr val="D6E2FF"/>
                </a:solidFill>
                <a:latin typeface="Consolas"/>
              </a:rPr>
              <a:t>           +  age x D_max         # attributed drift since anchor</a:t>
            </a:r>
          </a:p>
          <a:p>
            <a:pPr algn="l">
              <a:spcAft>
                <a:spcPts val="200"/>
              </a:spcAft>
            </a:pPr>
            <a:r>
              <a:rPr sz="1500">
                <a:solidFill>
                  <a:srgbClr val="D6E2FF"/>
                </a:solidFill>
                <a:latin typeface="Consolas"/>
              </a:rPr>
              <a:t>           +  res / 2             # clock / timestamp quantization</a:t>
            </a:r>
          </a:p>
          <a:p>
            <a:pPr algn="l">
              <a:spcAft>
                <a:spcPts val="200"/>
              </a:spcAft>
            </a:pPr>
            <a:r>
              <a:rPr sz="1500">
                <a:solidFill>
                  <a:srgbClr val="D6E2FF"/>
                </a:solidFill>
                <a:latin typeface="Consolas"/>
              </a:rPr>
              <a:t> </a:t>
            </a:r>
          </a:p>
          <a:p>
            <a:pPr algn="l">
              <a:spcAft>
                <a:spcPts val="200"/>
              </a:spcAft>
            </a:pPr>
            <a:r>
              <a:rPr sz="1500">
                <a:solidFill>
                  <a:srgbClr val="D6E2FF"/>
                </a:solidFill>
                <a:latin typeface="Consolas"/>
              </a:rPr>
              <a:t>  Assumptions:  |freq err| &lt;= D_max ,  |asymmetry| &lt;= A_max ,</a:t>
            </a:r>
          </a:p>
          <a:p>
            <a:pPr algn="l">
              <a:spcAft>
                <a:spcPts val="200"/>
              </a:spcAft>
            </a:pPr>
            <a:r>
              <a:rPr sz="1500">
                <a:solidFill>
                  <a:srgbClr val="D6E2FF"/>
                </a:solidFill>
                <a:latin typeface="Consolas"/>
              </a:rPr>
              <a:t>                |offset-est err| &lt;= U_est</a:t>
            </a:r>
          </a:p>
        </p:txBody>
      </p:sp>
      <p:sp>
        <p:nvSpPr>
          <p:cNvPr id="6" name="TextBox 5"/>
          <p:cNvSpPr txBox="1"/>
          <p:nvPr/>
        </p:nvSpPr>
        <p:spPr>
          <a:xfrm>
            <a:off x="658368" y="5824728"/>
            <a:ext cx="10881360" cy="457200"/>
          </a:xfrm>
          <a:prstGeom prst="rect">
            <a:avLst/>
          </a:prstGeom>
          <a:noFill/>
        </p:spPr>
        <p:txBody>
          <a:bodyPr wrap="square" lIns="0" tIns="0" rIns="0" bIns="0" anchor="t">
            <a:spAutoFit/>
          </a:bodyPr>
          <a:lstStyle/>
          <a:p>
            <a:pPr algn="l">
              <a:spcBef>
                <a:spcPts val="0"/>
              </a:spcBef>
              <a:spcAft>
                <a:spcPts val="600"/>
              </a:spcAft>
            </a:pPr>
            <a:r>
              <a:rPr sz="1500" b="0" i="1">
                <a:solidFill>
                  <a:srgbClr val="5B6172"/>
                </a:solidFill>
                <a:latin typeface="Calibri"/>
              </a:rPr>
              <a:t>An operational envelope under stated assumptions — not a proven upper bound on true clock error.</a:t>
            </a:r>
          </a:p>
        </p:txBody>
      </p:sp>
      <p:sp>
        <p:nvSpPr>
          <p:cNvPr id="7" name="Rectangle 6"/>
          <p:cNvSpPr/>
          <p:nvPr/>
        </p:nvSpPr>
        <p:spPr>
          <a:xfrm>
            <a:off x="0" y="6601968"/>
            <a:ext cx="12191695" cy="256032"/>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83680"/>
            <a:ext cx="8229600" cy="256032"/>
          </a:xfrm>
          <a:prstGeom prst="rect">
            <a:avLst/>
          </a:prstGeom>
          <a:noFill/>
        </p:spPr>
        <p:txBody>
          <a:bodyPr wrap="square" lIns="0" tIns="0" rIns="0" bIns="0" anchor="ctr">
            <a:spAutoFit/>
          </a:bodyPr>
          <a:lstStyle/>
          <a:p>
            <a:pPr algn="l">
              <a:spcBef>
                <a:spcPts val="0"/>
              </a:spcBef>
              <a:spcAft>
                <a:spcPts val="600"/>
              </a:spcAft>
            </a:pPr>
            <a:r>
              <a:rPr sz="1000" b="0" i="0">
                <a:solidFill>
                  <a:srgbClr val="FFFFFF"/>
                </a:solidFill>
                <a:latin typeface="Calibri"/>
              </a:rPr>
              <a:t>Time Uncertainty as a First-Class Concept</a:t>
            </a:r>
          </a:p>
        </p:txBody>
      </p:sp>
      <p:sp>
        <p:nvSpPr>
          <p:cNvPr id="9" name="TextBox 8"/>
          <p:cNvSpPr txBox="1"/>
          <p:nvPr/>
        </p:nvSpPr>
        <p:spPr>
          <a:xfrm>
            <a:off x="11002975" y="6583680"/>
            <a:ext cx="731520" cy="256032"/>
          </a:xfrm>
          <a:prstGeom prst="rect">
            <a:avLst/>
          </a:prstGeom>
          <a:noFill/>
        </p:spPr>
        <p:txBody>
          <a:bodyPr wrap="square" lIns="0" tIns="0" rIns="0" bIns="0" anchor="ctr">
            <a:spAutoFit/>
          </a:bodyPr>
          <a:lstStyle/>
          <a:p>
            <a:pPr algn="r">
              <a:spcBef>
                <a:spcPts val="0"/>
              </a:spcBef>
              <a:spcAft>
                <a:spcPts val="600"/>
              </a:spcAft>
            </a:pPr>
            <a:r>
              <a:rPr sz="1000" b="1" i="0">
                <a:solidFill>
                  <a:srgbClr val="FFFFFF"/>
                </a:solidFill>
                <a:latin typeface="Calibri"/>
              </a:rP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2E6BE6"/>
        </a:solidFill>
        <a:effectLst/>
      </p:bgPr>
    </p:bg>
    <p:spTree>
      <p:nvGrpSpPr>
        <p:cNvPr id="1" name=""/>
        <p:cNvGrpSpPr/>
        <p:nvPr/>
      </p:nvGrpSpPr>
      <p:grpSpPr>
        <a:xfrm>
          <a:off x="0" y="0"/>
          <a:ext cx="0" cy="0"/>
          <a:chOff x="0" y="0"/>
          <a:chExt cx="0" cy="0"/>
        </a:xfrm>
      </p:grpSpPr>
      <p:sp>
        <p:nvSpPr>
          <p:cNvPr id="2" name="Rectangle 1"/>
          <p:cNvSpPr/>
          <p:nvPr/>
        </p:nvSpPr>
        <p:spPr>
          <a:xfrm>
            <a:off x="0" y="2468880"/>
            <a:ext cx="3200400" cy="9144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1828800"/>
            <a:ext cx="10058400" cy="548640"/>
          </a:xfrm>
          <a:prstGeom prst="rect">
            <a:avLst/>
          </a:prstGeom>
          <a:noFill/>
        </p:spPr>
        <p:txBody>
          <a:bodyPr wrap="square" lIns="0" tIns="0" rIns="0" bIns="0" anchor="t">
            <a:spAutoFit/>
          </a:bodyPr>
          <a:lstStyle/>
          <a:p>
            <a:pPr algn="l">
              <a:spcBef>
                <a:spcPts val="0"/>
              </a:spcBef>
              <a:spcAft>
                <a:spcPts val="600"/>
              </a:spcAft>
            </a:pPr>
            <a:r>
              <a:rPr sz="2000" b="1" i="0">
                <a:solidFill>
                  <a:srgbClr val="C7D2F0"/>
                </a:solidFill>
                <a:latin typeface="Calibri"/>
              </a:rPr>
              <a:t>PART 5</a:t>
            </a:r>
          </a:p>
        </p:txBody>
      </p:sp>
      <p:sp>
        <p:nvSpPr>
          <p:cNvPr id="4" name="TextBox 3"/>
          <p:cNvSpPr txBox="1"/>
          <p:nvPr/>
        </p:nvSpPr>
        <p:spPr>
          <a:xfrm>
            <a:off x="804672" y="2697480"/>
            <a:ext cx="10515600" cy="1828800"/>
          </a:xfrm>
          <a:prstGeom prst="rect">
            <a:avLst/>
          </a:prstGeom>
          <a:noFill/>
        </p:spPr>
        <p:txBody>
          <a:bodyPr wrap="square" lIns="0" tIns="0" rIns="0" bIns="0" anchor="t">
            <a:spAutoFit/>
          </a:bodyPr>
          <a:lstStyle/>
          <a:p>
            <a:pPr algn="l">
              <a:spcBef>
                <a:spcPts val="0"/>
              </a:spcBef>
              <a:spcAft>
                <a:spcPts val="600"/>
              </a:spcAft>
            </a:pPr>
            <a:r>
              <a:rPr sz="4000" b="1" i="0">
                <a:solidFill>
                  <a:srgbClr val="FFFFFF"/>
                </a:solidFill>
                <a:latin typeface="Calibri"/>
              </a:rPr>
              <a:t>A model implementation: ptp-uncertainty</a:t>
            </a:r>
          </a:p>
        </p:txBody>
      </p:sp>
      <p:sp>
        <p:nvSpPr>
          <p:cNvPr id="5" name="TextBox 4"/>
          <p:cNvSpPr txBox="1"/>
          <p:nvPr/>
        </p:nvSpPr>
        <p:spPr>
          <a:xfrm>
            <a:off x="11002975" y="6263640"/>
            <a:ext cx="822960" cy="365760"/>
          </a:xfrm>
          <a:prstGeom prst="rect">
            <a:avLst/>
          </a:prstGeom>
          <a:noFill/>
        </p:spPr>
        <p:txBody>
          <a:bodyPr wrap="square" lIns="0" tIns="0" rIns="0" bIns="0" anchor="t">
            <a:spAutoFit/>
          </a:bodyPr>
          <a:lstStyle/>
          <a:p>
            <a:pPr algn="r">
              <a:spcBef>
                <a:spcPts val="0"/>
              </a:spcBef>
              <a:spcAft>
                <a:spcPts val="600"/>
              </a:spcAft>
            </a:pPr>
            <a:r>
              <a:rPr sz="1200" b="1" i="0">
                <a:solidFill>
                  <a:srgbClr val="FFFFFF"/>
                </a:solidFill>
                <a:latin typeface="Calibri"/>
              </a:rPr>
              <a:t>24</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1143000"/>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0972800" cy="365760"/>
          </a:xfrm>
          <a:prstGeom prst="rect">
            <a:avLst/>
          </a:prstGeom>
          <a:noFill/>
        </p:spPr>
        <p:txBody>
          <a:bodyPr wrap="square" lIns="0" tIns="0" rIns="0" bIns="0" anchor="t">
            <a:spAutoFit/>
          </a:bodyPr>
          <a:lstStyle/>
          <a:p>
            <a:pPr algn="l">
              <a:spcBef>
                <a:spcPts val="0"/>
              </a:spcBef>
              <a:spcAft>
                <a:spcPts val="600"/>
              </a:spcAft>
            </a:pPr>
            <a:r>
              <a:rPr sz="1300" b="1" i="0">
                <a:solidFill>
                  <a:srgbClr val="2E6BE6"/>
                </a:solidFill>
                <a:latin typeface="Calibri"/>
              </a:rPr>
              <a:t>IMPLEMENTATION</a:t>
            </a:r>
          </a:p>
        </p:txBody>
      </p:sp>
      <p:sp>
        <p:nvSpPr>
          <p:cNvPr id="4" name="TextBox 3"/>
          <p:cNvSpPr txBox="1"/>
          <p:nvPr/>
        </p:nvSpPr>
        <p:spPr>
          <a:xfrm>
            <a:off x="502920" y="566928"/>
            <a:ext cx="11155680" cy="822960"/>
          </a:xfrm>
          <a:prstGeom prst="rect">
            <a:avLst/>
          </a:prstGeom>
          <a:noFill/>
        </p:spPr>
        <p:txBody>
          <a:bodyPr wrap="square" lIns="0" tIns="0" rIns="0" bIns="0" anchor="t">
            <a:spAutoFit/>
          </a:bodyPr>
          <a:lstStyle/>
          <a:p>
            <a:pPr algn="l">
              <a:spcBef>
                <a:spcPts val="0"/>
              </a:spcBef>
              <a:spcAft>
                <a:spcPts val="600"/>
              </a:spcAft>
            </a:pPr>
            <a:r>
              <a:rPr sz="3000" b="1" i="0">
                <a:solidFill>
                  <a:srgbClr val="1A1D29"/>
                </a:solidFill>
                <a:latin typeface="Calibri"/>
              </a:rPr>
              <a:t>Architecture</a:t>
            </a:r>
          </a:p>
        </p:txBody>
      </p:sp>
      <p:sp>
        <p:nvSpPr>
          <p:cNvPr id="5" name="Rectangle 4"/>
          <p:cNvSpPr/>
          <p:nvPr/>
        </p:nvSpPr>
        <p:spPr>
          <a:xfrm>
            <a:off x="640080" y="1600200"/>
            <a:ext cx="10881360" cy="4114800"/>
          </a:xfrm>
          <a:prstGeom prst="rect">
            <a:avLst/>
          </a:prstGeom>
          <a:solidFill>
            <a:srgbClr val="111627"/>
          </a:solidFill>
          <a:ln>
            <a:noFill/>
          </a:ln>
          <a:effectLst/>
        </p:spPr>
        <p:style>
          <a:lnRef idx="1">
            <a:schemeClr val="accent1"/>
          </a:lnRef>
          <a:fillRef idx="3">
            <a:schemeClr val="accent1"/>
          </a:fillRef>
          <a:effectRef idx="2">
            <a:schemeClr val="accent1"/>
          </a:effectRef>
          <a:fontRef idx="minor">
            <a:schemeClr val="lt1"/>
          </a:fontRef>
        </p:style>
        <p:txBody>
          <a:bodyPr wrap="none" lIns="274320" tIns="182880" rIns="182880" bIns="182880" rtlCol="0" anchor="ctr"/>
          <a:lstStyle/>
          <a:p>
            <a:pPr algn="l">
              <a:spcAft>
                <a:spcPts val="200"/>
              </a:spcAft>
            </a:pPr>
            <a:r>
              <a:rPr sz="1500">
                <a:solidFill>
                  <a:srgbClr val="D6E2FF"/>
                </a:solidFill>
                <a:latin typeface="Consolas"/>
              </a:rPr>
              <a:t>  ptp4l</a:t>
            </a:r>
          </a:p>
          <a:p>
            <a:pPr algn="l">
              <a:spcAft>
                <a:spcPts val="200"/>
              </a:spcAft>
            </a:pPr>
            <a:r>
              <a:rPr sz="1500">
                <a:solidFill>
                  <a:srgbClr val="D6E2FF"/>
                </a:solidFill>
                <a:latin typeface="Consolas"/>
              </a:rPr>
              <a:t>    |  Unix management socket (poll offset/delay/ingress)</a:t>
            </a:r>
          </a:p>
          <a:p>
            <a:pPr algn="l">
              <a:spcAft>
                <a:spcPts val="200"/>
              </a:spcAft>
            </a:pPr>
            <a:r>
              <a:rPr sz="1500">
                <a:solidFill>
                  <a:srgbClr val="D6E2FF"/>
                </a:solidFill>
                <a:latin typeface="Consolas"/>
              </a:rPr>
              <a:t>    v</a:t>
            </a:r>
          </a:p>
          <a:p>
            <a:pPr algn="l">
              <a:spcAft>
                <a:spcPts val="200"/>
              </a:spcAft>
            </a:pPr>
            <a:r>
              <a:rPr sz="1500">
                <a:solidFill>
                  <a:srgbClr val="D6E2FF"/>
                </a:solidFill>
                <a:latin typeface="Consolas"/>
              </a:rPr>
              <a:t>  ptp_unc_dmn        &lt;- daemon: collects + anchors</a:t>
            </a:r>
          </a:p>
          <a:p>
            <a:pPr algn="l">
              <a:spcAft>
                <a:spcPts val="200"/>
              </a:spcAft>
            </a:pPr>
            <a:r>
              <a:rPr sz="1500">
                <a:solidFill>
                  <a:srgbClr val="D6E2FF"/>
                </a:solidFill>
                <a:latin typeface="Consolas"/>
              </a:rPr>
              <a:t>    |  /ptp_uncertainty (POSIX shared memory)</a:t>
            </a:r>
          </a:p>
          <a:p>
            <a:pPr algn="l">
              <a:spcAft>
                <a:spcPts val="200"/>
              </a:spcAft>
            </a:pPr>
            <a:r>
              <a:rPr sz="1500">
                <a:solidFill>
                  <a:srgbClr val="D6E2FF"/>
                </a:solidFill>
                <a:latin typeface="Consolas"/>
              </a:rPr>
              <a:t>    v</a:t>
            </a:r>
          </a:p>
          <a:p>
            <a:pPr algn="l">
              <a:spcAft>
                <a:spcPts val="200"/>
              </a:spcAft>
            </a:pPr>
            <a:r>
              <a:rPr sz="1500">
                <a:solidFill>
                  <a:srgbClr val="D6E2FF"/>
                </a:solidFill>
                <a:latin typeface="Consolas"/>
              </a:rPr>
              <a:t>  libptp_unc.so      &lt;- client lib: extrapolates at read time</a:t>
            </a:r>
          </a:p>
          <a:p>
            <a:pPr algn="l">
              <a:spcAft>
                <a:spcPts val="200"/>
              </a:spcAft>
            </a:pPr>
            <a:r>
              <a:rPr sz="1500">
                <a:solidFill>
                  <a:srgbClr val="D6E2FF"/>
                </a:solidFill>
                <a:latin typeface="Consolas"/>
              </a:rPr>
              <a:t>    |</a:t>
            </a:r>
          </a:p>
          <a:p>
            <a:pPr algn="l">
              <a:spcAft>
                <a:spcPts val="200"/>
              </a:spcAft>
            </a:pPr>
            <a:r>
              <a:rPr sz="1500">
                <a:solidFill>
                  <a:srgbClr val="D6E2FF"/>
                </a:solidFill>
                <a:latin typeface="Consolas"/>
              </a:rPr>
              <a:t>    v</a:t>
            </a:r>
          </a:p>
          <a:p>
            <a:pPr algn="l">
              <a:spcAft>
                <a:spcPts val="200"/>
              </a:spcAft>
            </a:pPr>
            <a:r>
              <a:rPr sz="1500">
                <a:solidFill>
                  <a:srgbClr val="D6E2FF"/>
                </a:solidFill>
                <a:latin typeface="Consolas"/>
              </a:rPr>
              <a:t>  applications       &lt;- get a live bound, no PTP code needed</a:t>
            </a:r>
          </a:p>
        </p:txBody>
      </p:sp>
      <p:sp>
        <p:nvSpPr>
          <p:cNvPr id="6" name="TextBox 5"/>
          <p:cNvSpPr txBox="1"/>
          <p:nvPr/>
        </p:nvSpPr>
        <p:spPr>
          <a:xfrm>
            <a:off x="658368" y="5824728"/>
            <a:ext cx="10881360" cy="457200"/>
          </a:xfrm>
          <a:prstGeom prst="rect">
            <a:avLst/>
          </a:prstGeom>
          <a:noFill/>
        </p:spPr>
        <p:txBody>
          <a:bodyPr wrap="square" lIns="0" tIns="0" rIns="0" bIns="0" anchor="t">
            <a:spAutoFit/>
          </a:bodyPr>
          <a:lstStyle/>
          <a:p>
            <a:pPr algn="l">
              <a:spcBef>
                <a:spcPts val="0"/>
              </a:spcBef>
              <a:spcAft>
                <a:spcPts val="600"/>
              </a:spcAft>
            </a:pPr>
            <a:r>
              <a:rPr sz="1500" b="0" i="1">
                <a:solidFill>
                  <a:srgbClr val="5B6172"/>
                </a:solidFill>
                <a:latin typeface="Calibri"/>
              </a:rPr>
              <a:t>No direct PHC access required. A live bound, not just the last offset snapshot.</a:t>
            </a:r>
          </a:p>
        </p:txBody>
      </p:sp>
      <p:sp>
        <p:nvSpPr>
          <p:cNvPr id="7" name="Rectangle 6"/>
          <p:cNvSpPr/>
          <p:nvPr/>
        </p:nvSpPr>
        <p:spPr>
          <a:xfrm>
            <a:off x="0" y="6601968"/>
            <a:ext cx="12191695" cy="256032"/>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83680"/>
            <a:ext cx="8229600" cy="256032"/>
          </a:xfrm>
          <a:prstGeom prst="rect">
            <a:avLst/>
          </a:prstGeom>
          <a:noFill/>
        </p:spPr>
        <p:txBody>
          <a:bodyPr wrap="square" lIns="0" tIns="0" rIns="0" bIns="0" anchor="ctr">
            <a:spAutoFit/>
          </a:bodyPr>
          <a:lstStyle/>
          <a:p>
            <a:pPr algn="l">
              <a:spcBef>
                <a:spcPts val="0"/>
              </a:spcBef>
              <a:spcAft>
                <a:spcPts val="600"/>
              </a:spcAft>
            </a:pPr>
            <a:r>
              <a:rPr sz="1000" b="0" i="0">
                <a:solidFill>
                  <a:srgbClr val="FFFFFF"/>
                </a:solidFill>
                <a:latin typeface="Calibri"/>
              </a:rPr>
              <a:t>Time Uncertainty as a First-Class Concept</a:t>
            </a:r>
          </a:p>
        </p:txBody>
      </p:sp>
      <p:sp>
        <p:nvSpPr>
          <p:cNvPr id="9" name="TextBox 8"/>
          <p:cNvSpPr txBox="1"/>
          <p:nvPr/>
        </p:nvSpPr>
        <p:spPr>
          <a:xfrm>
            <a:off x="11002975" y="6583680"/>
            <a:ext cx="731520" cy="256032"/>
          </a:xfrm>
          <a:prstGeom prst="rect">
            <a:avLst/>
          </a:prstGeom>
          <a:noFill/>
        </p:spPr>
        <p:txBody>
          <a:bodyPr wrap="square" lIns="0" tIns="0" rIns="0" bIns="0" anchor="ctr">
            <a:spAutoFit/>
          </a:bodyPr>
          <a:lstStyle/>
          <a:p>
            <a:pPr algn="r">
              <a:spcBef>
                <a:spcPts val="0"/>
              </a:spcBef>
              <a:spcAft>
                <a:spcPts val="600"/>
              </a:spcAft>
            </a:pPr>
            <a:r>
              <a:rPr sz="1000" b="1" i="0">
                <a:solidFill>
                  <a:srgbClr val="FFFFFF"/>
                </a:solidFill>
                <a:latin typeface="Calibri"/>
              </a:rPr>
              <a:t>25</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1143000"/>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0972800" cy="365760"/>
          </a:xfrm>
          <a:prstGeom prst="rect">
            <a:avLst/>
          </a:prstGeom>
          <a:noFill/>
        </p:spPr>
        <p:txBody>
          <a:bodyPr wrap="square" lIns="0" tIns="0" rIns="0" bIns="0" anchor="t">
            <a:spAutoFit/>
          </a:bodyPr>
          <a:lstStyle/>
          <a:p>
            <a:pPr algn="l">
              <a:spcBef>
                <a:spcPts val="0"/>
              </a:spcBef>
              <a:spcAft>
                <a:spcPts val="600"/>
              </a:spcAft>
            </a:pPr>
            <a:r>
              <a:rPr sz="1300" b="1" i="0">
                <a:solidFill>
                  <a:srgbClr val="2E6BE6"/>
                </a:solidFill>
                <a:latin typeface="Calibri"/>
              </a:rPr>
              <a:t>IMPLEMENTATION</a:t>
            </a:r>
          </a:p>
        </p:txBody>
      </p:sp>
      <p:sp>
        <p:nvSpPr>
          <p:cNvPr id="4" name="TextBox 3"/>
          <p:cNvSpPr txBox="1"/>
          <p:nvPr/>
        </p:nvSpPr>
        <p:spPr>
          <a:xfrm>
            <a:off x="502920" y="566928"/>
            <a:ext cx="11155680" cy="822960"/>
          </a:xfrm>
          <a:prstGeom prst="rect">
            <a:avLst/>
          </a:prstGeom>
          <a:noFill/>
        </p:spPr>
        <p:txBody>
          <a:bodyPr wrap="square" lIns="0" tIns="0" rIns="0" bIns="0" anchor="t">
            <a:spAutoFit/>
          </a:bodyPr>
          <a:lstStyle/>
          <a:p>
            <a:pPr algn="l">
              <a:spcBef>
                <a:spcPts val="0"/>
              </a:spcBef>
              <a:spcAft>
                <a:spcPts val="600"/>
              </a:spcAft>
            </a:pPr>
            <a:r>
              <a:rPr sz="3000" b="1" i="0">
                <a:solidFill>
                  <a:srgbClr val="1A1D29"/>
                </a:solidFill>
                <a:latin typeface="Calibri"/>
              </a:rPr>
              <a:t>What the daemon collects</a:t>
            </a:r>
          </a:p>
        </p:txBody>
      </p:sp>
      <p:graphicFrame>
        <p:nvGraphicFramePr>
          <p:cNvPr id="5" name="Table 4"/>
          <p:cNvGraphicFramePr>
            <a:graphicFrameLocks noGrp="1"/>
          </p:cNvGraphicFramePr>
          <p:nvPr/>
        </p:nvGraphicFramePr>
        <p:xfrm>
          <a:off x="640080" y="1645920"/>
          <a:ext cx="10881360" cy="2286000"/>
        </p:xfrm>
        <a:graphic>
          <a:graphicData uri="http://schemas.openxmlformats.org/drawingml/2006/table">
            <a:tbl>
              <a:tblPr firstRow="1" bandRow="1">
                <a:tableStyleId>{5C22544A-7EE6-4342-B048-85BDC9FD1C3A}</a:tableStyleId>
              </a:tblPr>
              <a:tblGrid>
                <a:gridCol w="5440680">
                  <a:extLst>
                    <a:ext uri="{9D8B030D-6E8A-4147-A177-3AD203B41FA5}">
                      <a16:colId xmlns:a16="http://schemas.microsoft.com/office/drawing/2014/main" val="20000"/>
                    </a:ext>
                  </a:extLst>
                </a:gridCol>
                <a:gridCol w="5440680">
                  <a:extLst>
                    <a:ext uri="{9D8B030D-6E8A-4147-A177-3AD203B41FA5}">
                      <a16:colId xmlns:a16="http://schemas.microsoft.com/office/drawing/2014/main" val="20001"/>
                    </a:ext>
                  </a:extLst>
                </a:gridCol>
              </a:tblGrid>
              <a:tr h="457200">
                <a:tc>
                  <a:txBody>
                    <a:bodyPr/>
                    <a:lstStyle/>
                    <a:p>
                      <a:r>
                        <a:rPr sz="1500" b="1">
                          <a:solidFill>
                            <a:srgbClr val="FFFFFF"/>
                          </a:solidFill>
                          <a:latin typeface="Calibri"/>
                        </a:rPr>
                        <a:t>Field</a:t>
                      </a:r>
                    </a:p>
                  </a:txBody>
                  <a:tcPr marL="109728">
                    <a:solidFill>
                      <a:srgbClr val="2E6BE6"/>
                    </a:solidFill>
                  </a:tcPr>
                </a:tc>
                <a:tc>
                  <a:txBody>
                    <a:bodyPr/>
                    <a:lstStyle/>
                    <a:p>
                      <a:r>
                        <a:rPr sz="1500" b="1">
                          <a:solidFill>
                            <a:srgbClr val="FFFFFF"/>
                          </a:solidFill>
                          <a:latin typeface="Calibri"/>
                        </a:rPr>
                        <a:t>Source</a:t>
                      </a:r>
                    </a:p>
                  </a:txBody>
                  <a:tcPr marL="109728">
                    <a:solidFill>
                      <a:srgbClr val="2E6BE6"/>
                    </a:solidFill>
                  </a:tcPr>
                </a:tc>
                <a:extLst>
                  <a:ext uri="{0D108BD9-81ED-4DB2-BD59-A6C34878D82A}">
                    <a16:rowId xmlns:a16="http://schemas.microsoft.com/office/drawing/2014/main" val="10000"/>
                  </a:ext>
                </a:extLst>
              </a:tr>
              <a:tr h="457200">
                <a:tc>
                  <a:txBody>
                    <a:bodyPr/>
                    <a:lstStyle/>
                    <a:p>
                      <a:r>
                        <a:rPr sz="1350" b="1">
                          <a:solidFill>
                            <a:srgbClr val="1A1D29"/>
                          </a:solidFill>
                          <a:latin typeface="Calibri"/>
                        </a:rPr>
                        <a:t>offset, delay, steps removed</a:t>
                      </a:r>
                    </a:p>
                  </a:txBody>
                  <a:tcPr marL="109728" marT="36576" marB="36576">
                    <a:solidFill>
                      <a:srgbClr val="FFFFFF"/>
                    </a:solidFill>
                  </a:tcPr>
                </a:tc>
                <a:tc>
                  <a:txBody>
                    <a:bodyPr/>
                    <a:lstStyle/>
                    <a:p>
                      <a:r>
                        <a:rPr sz="1350" b="0">
                          <a:solidFill>
                            <a:srgbClr val="5B6172"/>
                          </a:solidFill>
                          <a:latin typeface="Calibri"/>
                        </a:rPr>
                        <a:t>CURRENT_DATA_SET</a:t>
                      </a:r>
                    </a:p>
                  </a:txBody>
                  <a:tcPr marL="109728" marT="36576" marB="36576">
                    <a:solidFill>
                      <a:srgbClr val="FFFFFF"/>
                    </a:solidFill>
                  </a:tcPr>
                </a:tc>
                <a:extLst>
                  <a:ext uri="{0D108BD9-81ED-4DB2-BD59-A6C34878D82A}">
                    <a16:rowId xmlns:a16="http://schemas.microsoft.com/office/drawing/2014/main" val="10001"/>
                  </a:ext>
                </a:extLst>
              </a:tr>
              <a:tr h="457200">
                <a:tc>
                  <a:txBody>
                    <a:bodyPr/>
                    <a:lstStyle/>
                    <a:p>
                      <a:r>
                        <a:rPr sz="1350" b="1">
                          <a:solidFill>
                            <a:srgbClr val="1A1D29"/>
                          </a:solidFill>
                          <a:latin typeface="Calibri"/>
                        </a:rPr>
                        <a:t>port state, sync interval</a:t>
                      </a:r>
                    </a:p>
                  </a:txBody>
                  <a:tcPr marL="109728" marT="36576" marB="36576">
                    <a:solidFill>
                      <a:srgbClr val="EDF1FB"/>
                    </a:solidFill>
                  </a:tcPr>
                </a:tc>
                <a:tc>
                  <a:txBody>
                    <a:bodyPr/>
                    <a:lstStyle/>
                    <a:p>
                      <a:r>
                        <a:rPr sz="1350" b="0">
                          <a:solidFill>
                            <a:srgbClr val="5B6172"/>
                          </a:solidFill>
                          <a:latin typeface="Calibri"/>
                        </a:rPr>
                        <a:t>PORT_DATA_SET</a:t>
                      </a:r>
                    </a:p>
                  </a:txBody>
                  <a:tcPr marL="109728" marT="36576" marB="36576">
                    <a:solidFill>
                      <a:srgbClr val="EDF1FB"/>
                    </a:solidFill>
                  </a:tcPr>
                </a:tc>
                <a:extLst>
                  <a:ext uri="{0D108BD9-81ED-4DB2-BD59-A6C34878D82A}">
                    <a16:rowId xmlns:a16="http://schemas.microsoft.com/office/drawing/2014/main" val="10002"/>
                  </a:ext>
                </a:extLst>
              </a:tr>
              <a:tr h="457200">
                <a:tc>
                  <a:txBody>
                    <a:bodyPr/>
                    <a:lstStyle/>
                    <a:p>
                      <a:r>
                        <a:rPr sz="1350" b="1">
                          <a:solidFill>
                            <a:srgbClr val="1A1D29"/>
                          </a:solidFill>
                          <a:latin typeface="Calibri"/>
                        </a:rPr>
                        <a:t>ingress time, grandmaster id</a:t>
                      </a:r>
                    </a:p>
                  </a:txBody>
                  <a:tcPr marL="109728" marT="36576" marB="36576">
                    <a:solidFill>
                      <a:srgbClr val="FFFFFF"/>
                    </a:solidFill>
                  </a:tcPr>
                </a:tc>
                <a:tc>
                  <a:txBody>
                    <a:bodyPr/>
                    <a:lstStyle/>
                    <a:p>
                      <a:r>
                        <a:rPr sz="1350" b="0">
                          <a:solidFill>
                            <a:srgbClr val="5B6172"/>
                          </a:solidFill>
                          <a:latin typeface="Calibri"/>
                        </a:rPr>
                        <a:t>TIME_STATUS_NP</a:t>
                      </a:r>
                    </a:p>
                  </a:txBody>
                  <a:tcPr marL="109728" marT="36576" marB="36576">
                    <a:solidFill>
                      <a:srgbClr val="FFFFFF"/>
                    </a:solidFill>
                  </a:tcPr>
                </a:tc>
                <a:extLst>
                  <a:ext uri="{0D108BD9-81ED-4DB2-BD59-A6C34878D82A}">
                    <a16:rowId xmlns:a16="http://schemas.microsoft.com/office/drawing/2014/main" val="10003"/>
                  </a:ext>
                </a:extLst>
              </a:tr>
              <a:tr h="457200">
                <a:tc>
                  <a:txBody>
                    <a:bodyPr/>
                    <a:lstStyle/>
                    <a:p>
                      <a:r>
                        <a:rPr sz="1350" b="1">
                          <a:solidFill>
                            <a:srgbClr val="1A1D29"/>
                          </a:solidFill>
                          <a:latin typeface="Calibri"/>
                        </a:rPr>
                        <a:t>PHC index</a:t>
                      </a:r>
                    </a:p>
                  </a:txBody>
                  <a:tcPr marL="109728" marT="36576" marB="36576">
                    <a:solidFill>
                      <a:srgbClr val="EDF1FB"/>
                    </a:solidFill>
                  </a:tcPr>
                </a:tc>
                <a:tc>
                  <a:txBody>
                    <a:bodyPr/>
                    <a:lstStyle/>
                    <a:p>
                      <a:r>
                        <a:rPr sz="1350" b="0">
                          <a:solidFill>
                            <a:srgbClr val="5B6172"/>
                          </a:solidFill>
                          <a:latin typeface="Calibri"/>
                        </a:rPr>
                        <a:t>PORT_HWCLOCK_NP</a:t>
                      </a:r>
                    </a:p>
                  </a:txBody>
                  <a:tcPr marL="109728" marT="36576" marB="36576">
                    <a:solidFill>
                      <a:srgbClr val="EDF1FB"/>
                    </a:solidFill>
                  </a:tcPr>
                </a:tc>
                <a:extLst>
                  <a:ext uri="{0D108BD9-81ED-4DB2-BD59-A6C34878D82A}">
                    <a16:rowId xmlns:a16="http://schemas.microsoft.com/office/drawing/2014/main" val="10004"/>
                  </a:ext>
                </a:extLst>
              </a:tr>
            </a:tbl>
          </a:graphicData>
        </a:graphic>
      </p:graphicFrame>
      <p:sp>
        <p:nvSpPr>
          <p:cNvPr id="6" name="Rectangle 5"/>
          <p:cNvSpPr/>
          <p:nvPr/>
        </p:nvSpPr>
        <p:spPr>
          <a:xfrm>
            <a:off x="0" y="6601968"/>
            <a:ext cx="12191695" cy="256032"/>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83680"/>
            <a:ext cx="8229600" cy="256032"/>
          </a:xfrm>
          <a:prstGeom prst="rect">
            <a:avLst/>
          </a:prstGeom>
          <a:noFill/>
        </p:spPr>
        <p:txBody>
          <a:bodyPr wrap="square" lIns="0" tIns="0" rIns="0" bIns="0" anchor="ctr">
            <a:spAutoFit/>
          </a:bodyPr>
          <a:lstStyle/>
          <a:p>
            <a:pPr algn="l">
              <a:spcBef>
                <a:spcPts val="0"/>
              </a:spcBef>
              <a:spcAft>
                <a:spcPts val="600"/>
              </a:spcAft>
            </a:pPr>
            <a:r>
              <a:rPr sz="1000" b="0" i="0">
                <a:solidFill>
                  <a:srgbClr val="FFFFFF"/>
                </a:solidFill>
                <a:latin typeface="Calibri"/>
              </a:rPr>
              <a:t>Time Uncertainty as a First-Class Concept</a:t>
            </a:r>
          </a:p>
        </p:txBody>
      </p:sp>
      <p:sp>
        <p:nvSpPr>
          <p:cNvPr id="8" name="TextBox 7"/>
          <p:cNvSpPr txBox="1"/>
          <p:nvPr/>
        </p:nvSpPr>
        <p:spPr>
          <a:xfrm>
            <a:off x="11002975" y="6583680"/>
            <a:ext cx="731520" cy="256032"/>
          </a:xfrm>
          <a:prstGeom prst="rect">
            <a:avLst/>
          </a:prstGeom>
          <a:noFill/>
        </p:spPr>
        <p:txBody>
          <a:bodyPr wrap="square" lIns="0" tIns="0" rIns="0" bIns="0" anchor="ctr">
            <a:spAutoFit/>
          </a:bodyPr>
          <a:lstStyle/>
          <a:p>
            <a:pPr algn="r">
              <a:spcBef>
                <a:spcPts val="0"/>
              </a:spcBef>
              <a:spcAft>
                <a:spcPts val="600"/>
              </a:spcAft>
            </a:pPr>
            <a:r>
              <a:rPr sz="1000" b="1" i="0">
                <a:solidFill>
                  <a:srgbClr val="FFFFFF"/>
                </a:solidFill>
                <a:latin typeface="Calibri"/>
              </a:rPr>
              <a:t>26</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1143000"/>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0972800" cy="365760"/>
          </a:xfrm>
          <a:prstGeom prst="rect">
            <a:avLst/>
          </a:prstGeom>
          <a:noFill/>
        </p:spPr>
        <p:txBody>
          <a:bodyPr wrap="square" lIns="0" tIns="0" rIns="0" bIns="0" anchor="t">
            <a:spAutoFit/>
          </a:bodyPr>
          <a:lstStyle/>
          <a:p>
            <a:pPr algn="l">
              <a:spcBef>
                <a:spcPts val="0"/>
              </a:spcBef>
              <a:spcAft>
                <a:spcPts val="600"/>
              </a:spcAft>
            </a:pPr>
            <a:r>
              <a:rPr sz="1300" b="1" i="0">
                <a:solidFill>
                  <a:srgbClr val="2E6BE6"/>
                </a:solidFill>
                <a:latin typeface="Calibri"/>
              </a:rPr>
              <a:t>IMPLEMENTATION</a:t>
            </a:r>
          </a:p>
        </p:txBody>
      </p:sp>
      <p:sp>
        <p:nvSpPr>
          <p:cNvPr id="4" name="TextBox 3"/>
          <p:cNvSpPr txBox="1"/>
          <p:nvPr/>
        </p:nvSpPr>
        <p:spPr>
          <a:xfrm>
            <a:off x="502920" y="566928"/>
            <a:ext cx="11155680" cy="822960"/>
          </a:xfrm>
          <a:prstGeom prst="rect">
            <a:avLst/>
          </a:prstGeom>
          <a:noFill/>
        </p:spPr>
        <p:txBody>
          <a:bodyPr wrap="square" lIns="0" tIns="0" rIns="0" bIns="0" anchor="t">
            <a:spAutoFit/>
          </a:bodyPr>
          <a:lstStyle/>
          <a:p>
            <a:pPr algn="l">
              <a:spcBef>
                <a:spcPts val="0"/>
              </a:spcBef>
              <a:spcAft>
                <a:spcPts val="600"/>
              </a:spcAft>
            </a:pPr>
            <a:r>
              <a:rPr sz="3000" b="1" i="0">
                <a:solidFill>
                  <a:srgbClr val="1A1D29"/>
                </a:solidFill>
                <a:latin typeface="Calibri"/>
              </a:rPr>
              <a:t>Client API</a:t>
            </a:r>
          </a:p>
        </p:txBody>
      </p:sp>
      <p:sp>
        <p:nvSpPr>
          <p:cNvPr id="5" name="Rectangle 4"/>
          <p:cNvSpPr/>
          <p:nvPr/>
        </p:nvSpPr>
        <p:spPr>
          <a:xfrm>
            <a:off x="640080" y="1600200"/>
            <a:ext cx="10881360" cy="4114800"/>
          </a:xfrm>
          <a:prstGeom prst="rect">
            <a:avLst/>
          </a:prstGeom>
          <a:solidFill>
            <a:srgbClr val="111627"/>
          </a:solidFill>
          <a:ln>
            <a:noFill/>
          </a:ln>
          <a:effectLst/>
        </p:spPr>
        <p:style>
          <a:lnRef idx="1">
            <a:schemeClr val="accent1"/>
          </a:lnRef>
          <a:fillRef idx="3">
            <a:schemeClr val="accent1"/>
          </a:fillRef>
          <a:effectRef idx="2">
            <a:schemeClr val="accent1"/>
          </a:effectRef>
          <a:fontRef idx="minor">
            <a:schemeClr val="lt1"/>
          </a:fontRef>
        </p:style>
        <p:txBody>
          <a:bodyPr wrap="none" lIns="274320" tIns="182880" rIns="182880" bIns="182880" rtlCol="0" anchor="ctr"/>
          <a:lstStyle/>
          <a:p>
            <a:pPr algn="l">
              <a:spcAft>
                <a:spcPts val="200"/>
              </a:spcAft>
            </a:pPr>
            <a:r>
              <a:rPr sz="1500">
                <a:solidFill>
                  <a:srgbClr val="D6E2FF"/>
                </a:solidFill>
                <a:latin typeface="Consolas"/>
              </a:rPr>
              <a:t>  struct ptp_unc_handle *h = ptp_unc_open();</a:t>
            </a:r>
          </a:p>
          <a:p>
            <a:pPr algn="l">
              <a:spcAft>
                <a:spcPts val="200"/>
              </a:spcAft>
            </a:pPr>
            <a:r>
              <a:rPr sz="1500">
                <a:solidFill>
                  <a:srgbClr val="D6E2FF"/>
                </a:solidFill>
                <a:latin typeface="Consolas"/>
              </a:rPr>
              <a:t>  struct ptp_uncertainty u;</a:t>
            </a:r>
          </a:p>
          <a:p>
            <a:pPr algn="l">
              <a:spcAft>
                <a:spcPts val="200"/>
              </a:spcAft>
            </a:pPr>
            <a:r>
              <a:rPr sz="1500">
                <a:solidFill>
                  <a:srgbClr val="D6E2FF"/>
                </a:solidFill>
                <a:latin typeface="Consolas"/>
              </a:rPr>
              <a:t> </a:t>
            </a:r>
          </a:p>
          <a:p>
            <a:pPr algn="l">
              <a:spcAft>
                <a:spcPts val="200"/>
              </a:spcAft>
            </a:pPr>
            <a:r>
              <a:rPr sz="1500">
                <a:solidFill>
                  <a:srgbClr val="D6E2FF"/>
                </a:solidFill>
                <a:latin typeface="Consolas"/>
              </a:rPr>
              <a:t>  ptp_unc_get(h, &amp;u);            // U_clock at now</a:t>
            </a:r>
          </a:p>
          <a:p>
            <a:pPr algn="l">
              <a:spcAft>
                <a:spcPts val="200"/>
              </a:spcAft>
            </a:pPr>
            <a:r>
              <a:rPr sz="1500">
                <a:solidFill>
                  <a:srgbClr val="D6E2FF"/>
                </a:solidFill>
                <a:latin typeface="Consolas"/>
              </a:rPr>
              <a:t> </a:t>
            </a:r>
          </a:p>
          <a:p>
            <a:pPr algn="l">
              <a:spcAft>
                <a:spcPts val="200"/>
              </a:spcAft>
            </a:pPr>
            <a:r>
              <a:rPr sz="1500">
                <a:solidFill>
                  <a:srgbClr val="D6E2FF"/>
                </a:solidFill>
                <a:latin typeface="Consolas"/>
              </a:rPr>
              <a:t>  // u.total_uncertainty_ns  = U_clock (daemon)</a:t>
            </a:r>
          </a:p>
          <a:p>
            <a:pPr algn="l">
              <a:spcAft>
                <a:spcPts val="200"/>
              </a:spcAft>
            </a:pPr>
            <a:r>
              <a:rPr sz="1500">
                <a:solidFill>
                  <a:srgbClr val="D6E2FF"/>
                </a:solidFill>
                <a:latin typeface="Consolas"/>
              </a:rPr>
              <a:t>  // u.is_synchronized, u.ptp4l_connected</a:t>
            </a:r>
          </a:p>
          <a:p>
            <a:pPr algn="l">
              <a:spcAft>
                <a:spcPts val="200"/>
              </a:spcAft>
            </a:pPr>
            <a:r>
              <a:rPr sz="1500">
                <a:solidFill>
                  <a:srgbClr val="D6E2FF"/>
                </a:solidFill>
                <a:latin typeface="Consolas"/>
              </a:rPr>
              <a:t>  // u.age_ns  (snapshot freshness != drift anchor)</a:t>
            </a:r>
          </a:p>
          <a:p>
            <a:pPr algn="l">
              <a:spcAft>
                <a:spcPts val="200"/>
              </a:spcAft>
            </a:pPr>
            <a:r>
              <a:rPr sz="1500">
                <a:solidFill>
                  <a:srgbClr val="D6E2FF"/>
                </a:solidFill>
                <a:latin typeface="Consolas"/>
              </a:rPr>
              <a:t> </a:t>
            </a:r>
          </a:p>
          <a:p>
            <a:pPr algn="l">
              <a:spcAft>
                <a:spcPts val="200"/>
              </a:spcAft>
            </a:pPr>
            <a:r>
              <a:rPr sz="1500">
                <a:solidFill>
                  <a:srgbClr val="D6E2FF"/>
                </a:solidFill>
                <a:latin typeface="Consolas"/>
              </a:rPr>
              <a:t>  U_event = u.total_uncertainty_ns + U_capture;</a:t>
            </a:r>
          </a:p>
          <a:p>
            <a:pPr algn="l">
              <a:spcAft>
                <a:spcPts val="200"/>
              </a:spcAft>
            </a:pPr>
            <a:r>
              <a:rPr sz="1500">
                <a:solidFill>
                  <a:srgbClr val="D6E2FF"/>
                </a:solidFill>
                <a:latin typeface="Consolas"/>
              </a:rPr>
              <a:t>  ptp_unc_close(h);</a:t>
            </a:r>
          </a:p>
        </p:txBody>
      </p:sp>
      <p:sp>
        <p:nvSpPr>
          <p:cNvPr id="6" name="TextBox 5"/>
          <p:cNvSpPr txBox="1"/>
          <p:nvPr/>
        </p:nvSpPr>
        <p:spPr>
          <a:xfrm>
            <a:off x="658368" y="5824728"/>
            <a:ext cx="10881360" cy="457200"/>
          </a:xfrm>
          <a:prstGeom prst="rect">
            <a:avLst/>
          </a:prstGeom>
          <a:noFill/>
        </p:spPr>
        <p:txBody>
          <a:bodyPr wrap="square" lIns="0" tIns="0" rIns="0" bIns="0" anchor="t">
            <a:spAutoFit/>
          </a:bodyPr>
          <a:lstStyle/>
          <a:p>
            <a:pPr algn="l">
              <a:spcBef>
                <a:spcPts val="0"/>
              </a:spcBef>
              <a:spcAft>
                <a:spcPts val="600"/>
              </a:spcAft>
            </a:pPr>
            <a:r>
              <a:rPr sz="1500" b="0" i="1">
                <a:solidFill>
                  <a:srgbClr val="5B6172"/>
                </a:solidFill>
                <a:latin typeface="Calibri"/>
              </a:rPr>
              <a:t>The daemon returns U_clock; the application adds its own U_capture to get U_event — the daemon cannot know how you stamped.</a:t>
            </a:r>
          </a:p>
        </p:txBody>
      </p:sp>
      <p:sp>
        <p:nvSpPr>
          <p:cNvPr id="7" name="Rectangle 6"/>
          <p:cNvSpPr/>
          <p:nvPr/>
        </p:nvSpPr>
        <p:spPr>
          <a:xfrm>
            <a:off x="0" y="6601968"/>
            <a:ext cx="12191695" cy="256032"/>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83680"/>
            <a:ext cx="8229600" cy="256032"/>
          </a:xfrm>
          <a:prstGeom prst="rect">
            <a:avLst/>
          </a:prstGeom>
          <a:noFill/>
        </p:spPr>
        <p:txBody>
          <a:bodyPr wrap="square" lIns="0" tIns="0" rIns="0" bIns="0" anchor="ctr">
            <a:spAutoFit/>
          </a:bodyPr>
          <a:lstStyle/>
          <a:p>
            <a:pPr algn="l">
              <a:spcBef>
                <a:spcPts val="0"/>
              </a:spcBef>
              <a:spcAft>
                <a:spcPts val="600"/>
              </a:spcAft>
            </a:pPr>
            <a:r>
              <a:rPr sz="1000" b="0" i="0">
                <a:solidFill>
                  <a:srgbClr val="FFFFFF"/>
                </a:solidFill>
                <a:latin typeface="Calibri"/>
              </a:rPr>
              <a:t>Time Uncertainty as a First-Class Concept</a:t>
            </a:r>
          </a:p>
        </p:txBody>
      </p:sp>
      <p:sp>
        <p:nvSpPr>
          <p:cNvPr id="9" name="TextBox 8"/>
          <p:cNvSpPr txBox="1"/>
          <p:nvPr/>
        </p:nvSpPr>
        <p:spPr>
          <a:xfrm>
            <a:off x="11002975" y="6583680"/>
            <a:ext cx="731520" cy="256032"/>
          </a:xfrm>
          <a:prstGeom prst="rect">
            <a:avLst/>
          </a:prstGeom>
          <a:noFill/>
        </p:spPr>
        <p:txBody>
          <a:bodyPr wrap="square" lIns="0" tIns="0" rIns="0" bIns="0" anchor="ctr">
            <a:spAutoFit/>
          </a:bodyPr>
          <a:lstStyle/>
          <a:p>
            <a:pPr algn="r">
              <a:spcBef>
                <a:spcPts val="0"/>
              </a:spcBef>
              <a:spcAft>
                <a:spcPts val="600"/>
              </a:spcAft>
            </a:pPr>
            <a:r>
              <a:rPr sz="1000" b="1" i="0">
                <a:solidFill>
                  <a:srgbClr val="FFFFFF"/>
                </a:solidFill>
                <a:latin typeface="Calibri"/>
              </a:rPr>
              <a:t>27</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1143000"/>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0972800" cy="365760"/>
          </a:xfrm>
          <a:prstGeom prst="rect">
            <a:avLst/>
          </a:prstGeom>
          <a:noFill/>
        </p:spPr>
        <p:txBody>
          <a:bodyPr wrap="square" lIns="0" tIns="0" rIns="0" bIns="0" anchor="t">
            <a:spAutoFit/>
          </a:bodyPr>
          <a:lstStyle/>
          <a:p>
            <a:pPr algn="l">
              <a:spcBef>
                <a:spcPts val="0"/>
              </a:spcBef>
              <a:spcAft>
                <a:spcPts val="600"/>
              </a:spcAft>
            </a:pPr>
            <a:r>
              <a:rPr sz="1300" b="1" i="0">
                <a:solidFill>
                  <a:srgbClr val="2E6BE6"/>
                </a:solidFill>
                <a:latin typeface="Calibri"/>
              </a:rPr>
              <a:t>IMPLEMENTATION</a:t>
            </a:r>
          </a:p>
        </p:txBody>
      </p:sp>
      <p:sp>
        <p:nvSpPr>
          <p:cNvPr id="4" name="TextBox 3"/>
          <p:cNvSpPr txBox="1"/>
          <p:nvPr/>
        </p:nvSpPr>
        <p:spPr>
          <a:xfrm>
            <a:off x="502920" y="566928"/>
            <a:ext cx="11155680" cy="822960"/>
          </a:xfrm>
          <a:prstGeom prst="rect">
            <a:avLst/>
          </a:prstGeom>
          <a:noFill/>
        </p:spPr>
        <p:txBody>
          <a:bodyPr wrap="square" lIns="0" tIns="0" rIns="0" bIns="0" anchor="t">
            <a:spAutoFit/>
          </a:bodyPr>
          <a:lstStyle/>
          <a:p>
            <a:pPr algn="l">
              <a:spcBef>
                <a:spcPts val="0"/>
              </a:spcBef>
              <a:spcAft>
                <a:spcPts val="600"/>
              </a:spcAft>
            </a:pPr>
            <a:r>
              <a:rPr sz="3000" b="1" i="0">
                <a:solidFill>
                  <a:srgbClr val="1A1D29"/>
                </a:solidFill>
                <a:latin typeface="Calibri"/>
              </a:rPr>
              <a:t>Behavior under failure = explicit correctness</a:t>
            </a:r>
          </a:p>
        </p:txBody>
      </p:sp>
      <p:sp>
        <p:nvSpPr>
          <p:cNvPr id="5" name="Rectangle 4"/>
          <p:cNvSpPr/>
          <p:nvPr/>
        </p:nvSpPr>
        <p:spPr>
          <a:xfrm>
            <a:off x="640080" y="1600200"/>
            <a:ext cx="10881360" cy="4114800"/>
          </a:xfrm>
          <a:prstGeom prst="rect">
            <a:avLst/>
          </a:prstGeom>
          <a:solidFill>
            <a:srgbClr val="111627"/>
          </a:solidFill>
          <a:ln>
            <a:noFill/>
          </a:ln>
          <a:effectLst/>
        </p:spPr>
        <p:style>
          <a:lnRef idx="1">
            <a:schemeClr val="accent1"/>
          </a:lnRef>
          <a:fillRef idx="3">
            <a:schemeClr val="accent1"/>
          </a:fillRef>
          <a:effectRef idx="2">
            <a:schemeClr val="accent1"/>
          </a:effectRef>
          <a:fontRef idx="minor">
            <a:schemeClr val="lt1"/>
          </a:fontRef>
        </p:style>
        <p:txBody>
          <a:bodyPr wrap="none" lIns="274320" tIns="182880" rIns="182880" bIns="182880" rtlCol="0" anchor="ctr"/>
          <a:lstStyle/>
          <a:p>
            <a:pPr algn="l">
              <a:spcAft>
                <a:spcPts val="200"/>
              </a:spcAft>
            </a:pPr>
            <a:r>
              <a:rPr sz="1500" dirty="0">
                <a:solidFill>
                  <a:srgbClr val="D6E2FF"/>
                </a:solidFill>
                <a:latin typeface="Consolas"/>
              </a:rPr>
              <a:t>  // ptp4l restarts or disconnects:</a:t>
            </a:r>
          </a:p>
          <a:p>
            <a:pPr algn="l">
              <a:spcAft>
                <a:spcPts val="200"/>
              </a:spcAft>
            </a:pPr>
            <a:r>
              <a:rPr sz="1500" dirty="0">
                <a:solidFill>
                  <a:srgbClr val="D6E2FF"/>
                </a:solidFill>
                <a:latin typeface="Consolas"/>
              </a:rPr>
              <a:t>  //   - preserve last valid sync anchor</a:t>
            </a:r>
          </a:p>
          <a:p>
            <a:pPr algn="l">
              <a:spcAft>
                <a:spcPts val="200"/>
              </a:spcAft>
            </a:pPr>
            <a:r>
              <a:rPr sz="1500" dirty="0">
                <a:solidFill>
                  <a:srgbClr val="D6E2FF"/>
                </a:solidFill>
                <a:latin typeface="Consolas"/>
              </a:rPr>
              <a:t>  //   - set ptp4l_connected = 0</a:t>
            </a:r>
          </a:p>
          <a:p>
            <a:pPr algn="l">
              <a:spcAft>
                <a:spcPts val="200"/>
              </a:spcAft>
            </a:pPr>
            <a:r>
              <a:rPr sz="1500" dirty="0">
                <a:solidFill>
                  <a:srgbClr val="D6E2FF"/>
                </a:solidFill>
                <a:latin typeface="Consolas"/>
              </a:rPr>
              <a:t>  //   - drift KEEPS growing from the held anchor</a:t>
            </a:r>
          </a:p>
          <a:p>
            <a:pPr algn="l">
              <a:spcAft>
                <a:spcPts val="200"/>
              </a:spcAft>
            </a:pPr>
            <a:r>
              <a:rPr sz="1500" dirty="0">
                <a:solidFill>
                  <a:srgbClr val="D6E2FF"/>
                </a:solidFill>
                <a:latin typeface="Consolas"/>
              </a:rPr>
              <a:t> </a:t>
            </a:r>
          </a:p>
          <a:p>
            <a:pPr algn="l">
              <a:spcAft>
                <a:spcPts val="200"/>
              </a:spcAft>
            </a:pPr>
            <a:r>
              <a:rPr sz="1500" dirty="0">
                <a:solidFill>
                  <a:srgbClr val="D6E2FF"/>
                </a:solidFill>
                <a:latin typeface="Consolas"/>
              </a:rPr>
              <a:t>  if (!u.ptp4l_connected ||</a:t>
            </a:r>
          </a:p>
          <a:p>
            <a:pPr algn="l">
              <a:spcAft>
                <a:spcPts val="200"/>
              </a:spcAft>
            </a:pPr>
            <a:r>
              <a:rPr sz="1500" dirty="0">
                <a:solidFill>
                  <a:srgbClr val="D6E2FF"/>
                </a:solidFill>
                <a:latin typeface="Consolas"/>
              </a:rPr>
              <a:t>      </a:t>
            </a:r>
            <a:r>
              <a:rPr sz="1500" dirty="0" err="1">
                <a:solidFill>
                  <a:srgbClr val="D6E2FF"/>
                </a:solidFill>
                <a:latin typeface="Consolas"/>
              </a:rPr>
              <a:t>u.total_uncertainty_ns</a:t>
            </a:r>
            <a:r>
              <a:rPr sz="1500" dirty="0">
                <a:solidFill>
                  <a:srgbClr val="D6E2FF"/>
                </a:solidFill>
                <a:latin typeface="Consolas"/>
              </a:rPr>
              <a:t> &gt; threshold)</a:t>
            </a:r>
          </a:p>
          <a:p>
            <a:pPr algn="l">
              <a:spcAft>
                <a:spcPts val="200"/>
              </a:spcAft>
            </a:pPr>
            <a:r>
              <a:rPr sz="1500" dirty="0">
                <a:solidFill>
                  <a:srgbClr val="D6E2FF"/>
                </a:solidFill>
                <a:latin typeface="Consolas"/>
              </a:rPr>
              <a:t>      </a:t>
            </a:r>
            <a:r>
              <a:rPr sz="1500" dirty="0" err="1">
                <a:solidFill>
                  <a:srgbClr val="D6E2FF"/>
                </a:solidFill>
                <a:latin typeface="Consolas"/>
              </a:rPr>
              <a:t>mark_event_ordering_untrusted</a:t>
            </a:r>
            <a:r>
              <a:rPr sz="1500" dirty="0">
                <a:solidFill>
                  <a:srgbClr val="D6E2FF"/>
                </a:solidFill>
                <a:latin typeface="Consolas"/>
              </a:rPr>
              <a:t>();</a:t>
            </a:r>
          </a:p>
        </p:txBody>
      </p:sp>
      <p:sp>
        <p:nvSpPr>
          <p:cNvPr id="6" name="TextBox 5"/>
          <p:cNvSpPr txBox="1"/>
          <p:nvPr/>
        </p:nvSpPr>
        <p:spPr>
          <a:xfrm>
            <a:off x="658368" y="5824728"/>
            <a:ext cx="10881360" cy="457200"/>
          </a:xfrm>
          <a:prstGeom prst="rect">
            <a:avLst/>
          </a:prstGeom>
          <a:noFill/>
        </p:spPr>
        <p:txBody>
          <a:bodyPr wrap="square" lIns="0" tIns="0" rIns="0" bIns="0" anchor="t">
            <a:spAutoFit/>
          </a:bodyPr>
          <a:lstStyle/>
          <a:p>
            <a:pPr algn="l">
              <a:spcBef>
                <a:spcPts val="0"/>
              </a:spcBef>
              <a:spcAft>
                <a:spcPts val="600"/>
              </a:spcAft>
            </a:pPr>
            <a:r>
              <a:rPr sz="1500" b="0" i="1">
                <a:solidFill>
                  <a:srgbClr val="5B6172"/>
                </a:solidFill>
                <a:latin typeface="Calibri"/>
              </a:rPr>
              <a:t>The application decides what 'trustworthy enough' means — the daemon just keeps the bound honest.</a:t>
            </a:r>
          </a:p>
        </p:txBody>
      </p:sp>
      <p:sp>
        <p:nvSpPr>
          <p:cNvPr id="7" name="Rectangle 6"/>
          <p:cNvSpPr/>
          <p:nvPr/>
        </p:nvSpPr>
        <p:spPr>
          <a:xfrm>
            <a:off x="0" y="6601968"/>
            <a:ext cx="12191695" cy="256032"/>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83680"/>
            <a:ext cx="8229600" cy="256032"/>
          </a:xfrm>
          <a:prstGeom prst="rect">
            <a:avLst/>
          </a:prstGeom>
          <a:noFill/>
        </p:spPr>
        <p:txBody>
          <a:bodyPr wrap="square" lIns="0" tIns="0" rIns="0" bIns="0" anchor="ctr">
            <a:spAutoFit/>
          </a:bodyPr>
          <a:lstStyle/>
          <a:p>
            <a:pPr algn="l">
              <a:spcBef>
                <a:spcPts val="0"/>
              </a:spcBef>
              <a:spcAft>
                <a:spcPts val="600"/>
              </a:spcAft>
            </a:pPr>
            <a:r>
              <a:rPr sz="1000" b="0" i="0">
                <a:solidFill>
                  <a:srgbClr val="FFFFFF"/>
                </a:solidFill>
                <a:latin typeface="Calibri"/>
              </a:rPr>
              <a:t>Time Uncertainty as a First-Class Concept</a:t>
            </a:r>
          </a:p>
        </p:txBody>
      </p:sp>
      <p:sp>
        <p:nvSpPr>
          <p:cNvPr id="9" name="TextBox 8"/>
          <p:cNvSpPr txBox="1"/>
          <p:nvPr/>
        </p:nvSpPr>
        <p:spPr>
          <a:xfrm>
            <a:off x="11002975" y="6583680"/>
            <a:ext cx="731520" cy="256032"/>
          </a:xfrm>
          <a:prstGeom prst="rect">
            <a:avLst/>
          </a:prstGeom>
          <a:noFill/>
        </p:spPr>
        <p:txBody>
          <a:bodyPr wrap="square" lIns="0" tIns="0" rIns="0" bIns="0" anchor="ctr">
            <a:spAutoFit/>
          </a:bodyPr>
          <a:lstStyle/>
          <a:p>
            <a:pPr algn="r">
              <a:spcBef>
                <a:spcPts val="0"/>
              </a:spcBef>
              <a:spcAft>
                <a:spcPts val="600"/>
              </a:spcAft>
            </a:pPr>
            <a:r>
              <a:rPr sz="1000" b="1" i="0">
                <a:solidFill>
                  <a:srgbClr val="FFFFFF"/>
                </a:solidFill>
                <a:latin typeface="Calibri"/>
              </a:rPr>
              <a:t>28</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1143000"/>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0972800" cy="365760"/>
          </a:xfrm>
          <a:prstGeom prst="rect">
            <a:avLst/>
          </a:prstGeom>
          <a:noFill/>
        </p:spPr>
        <p:txBody>
          <a:bodyPr wrap="square" lIns="0" tIns="0" rIns="0" bIns="0" anchor="t">
            <a:spAutoFit/>
          </a:bodyPr>
          <a:lstStyle/>
          <a:p>
            <a:pPr algn="l">
              <a:spcBef>
                <a:spcPts val="0"/>
              </a:spcBef>
              <a:spcAft>
                <a:spcPts val="600"/>
              </a:spcAft>
            </a:pPr>
            <a:r>
              <a:rPr sz="1300" b="1" i="0">
                <a:solidFill>
                  <a:srgbClr val="2E6BE6"/>
                </a:solidFill>
                <a:latin typeface="Calibri"/>
              </a:rPr>
              <a:t>INDUSTRY VALIDATION</a:t>
            </a:r>
          </a:p>
        </p:txBody>
      </p:sp>
      <p:sp>
        <p:nvSpPr>
          <p:cNvPr id="4" name="TextBox 3"/>
          <p:cNvSpPr txBox="1"/>
          <p:nvPr/>
        </p:nvSpPr>
        <p:spPr>
          <a:xfrm>
            <a:off x="502920" y="566928"/>
            <a:ext cx="11155680" cy="822960"/>
          </a:xfrm>
          <a:prstGeom prst="rect">
            <a:avLst/>
          </a:prstGeom>
          <a:noFill/>
        </p:spPr>
        <p:txBody>
          <a:bodyPr wrap="square" lIns="0" tIns="0" rIns="0" bIns="0" anchor="t">
            <a:spAutoFit/>
          </a:bodyPr>
          <a:lstStyle/>
          <a:p>
            <a:pPr algn="l">
              <a:spcBef>
                <a:spcPts val="0"/>
              </a:spcBef>
              <a:spcAft>
                <a:spcPts val="600"/>
              </a:spcAft>
            </a:pPr>
            <a:r>
              <a:rPr sz="3000" b="1" i="0">
                <a:solidFill>
                  <a:srgbClr val="1A1D29"/>
                </a:solidFill>
                <a:latin typeface="Calibri"/>
              </a:rPr>
              <a:t>You don’t have to take my word for it: Meta’s fbclock</a:t>
            </a:r>
          </a:p>
        </p:txBody>
      </p:sp>
      <p:sp>
        <p:nvSpPr>
          <p:cNvPr id="5" name="Rectangle 4"/>
          <p:cNvSpPr/>
          <p:nvPr/>
        </p:nvSpPr>
        <p:spPr>
          <a:xfrm>
            <a:off x="640080" y="1691640"/>
            <a:ext cx="5349240" cy="4297680"/>
          </a:xfrm>
          <a:prstGeom prst="rect">
            <a:avLst/>
          </a:prstGeom>
          <a:solidFill>
            <a:srgbClr val="ED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56232"/>
            <a:ext cx="4892040" cy="457200"/>
          </a:xfrm>
          <a:prstGeom prst="rect">
            <a:avLst/>
          </a:prstGeom>
          <a:noFill/>
        </p:spPr>
        <p:txBody>
          <a:bodyPr wrap="square" lIns="0" tIns="0" rIns="0" bIns="0" anchor="t">
            <a:spAutoFit/>
          </a:bodyPr>
          <a:lstStyle/>
          <a:p>
            <a:pPr algn="l">
              <a:spcBef>
                <a:spcPts val="0"/>
              </a:spcBef>
              <a:spcAft>
                <a:spcPts val="600"/>
              </a:spcAft>
            </a:pPr>
            <a:r>
              <a:rPr sz="1800" b="1" i="0">
                <a:solidFill>
                  <a:srgbClr val="2E6BE6"/>
                </a:solidFill>
                <a:latin typeface="Calibri"/>
              </a:rPr>
              <a:t>Meta fbclock  (deployed at scale, 2022)</a:t>
            </a:r>
          </a:p>
        </p:txBody>
      </p:sp>
      <p:sp>
        <p:nvSpPr>
          <p:cNvPr id="7" name="TextBox 6"/>
          <p:cNvSpPr txBox="1"/>
          <p:nvPr/>
        </p:nvSpPr>
        <p:spPr>
          <a:xfrm>
            <a:off x="868680" y="2468880"/>
            <a:ext cx="4892040" cy="923330"/>
          </a:xfrm>
          <a:prstGeom prst="rect">
            <a:avLst/>
          </a:prstGeom>
          <a:noFill/>
        </p:spPr>
        <p:txBody>
          <a:bodyPr wrap="square" lIns="0" tIns="0" rIns="0" bIns="0" anchor="t">
            <a:spAutoFit/>
          </a:bodyPr>
          <a:lstStyle/>
          <a:p>
            <a:pPr algn="l">
              <a:spcBef>
                <a:spcPts val="0"/>
              </a:spcBef>
              <a:spcAft>
                <a:spcPts val="900"/>
              </a:spcAft>
            </a:pPr>
            <a:r>
              <a:rPr sz="1500" b="1" i="0" dirty="0">
                <a:solidFill>
                  <a:srgbClr val="2E6BE6"/>
                </a:solidFill>
                <a:latin typeface="Calibri"/>
              </a:rPr>
              <a:t>•  </a:t>
            </a:r>
            <a:r>
              <a:rPr sz="1500" b="0" i="0" dirty="0">
                <a:solidFill>
                  <a:srgbClr val="1A1D29"/>
                </a:solidFill>
                <a:latin typeface="Calibri"/>
              </a:rPr>
              <a:t>Returns a Window of Uncertainty: [</a:t>
            </a:r>
            <a:r>
              <a:rPr sz="1500" b="0" i="0" dirty="0" err="1">
                <a:solidFill>
                  <a:srgbClr val="1A1D29"/>
                </a:solidFill>
                <a:latin typeface="Calibri"/>
              </a:rPr>
              <a:t>earliest_ns</a:t>
            </a:r>
            <a:r>
              <a:rPr sz="1500" b="0" i="0" dirty="0">
                <a:solidFill>
                  <a:srgbClr val="1A1D29"/>
                </a:solidFill>
                <a:latin typeface="Calibri"/>
              </a:rPr>
              <a:t>, </a:t>
            </a:r>
            <a:r>
              <a:rPr sz="1500" b="0" i="0" dirty="0" err="1">
                <a:solidFill>
                  <a:srgbClr val="1A1D29"/>
                </a:solidFill>
                <a:latin typeface="Calibri"/>
              </a:rPr>
              <a:t>latest_ns</a:t>
            </a:r>
            <a:r>
              <a:rPr sz="1500" b="0" i="0" dirty="0">
                <a:solidFill>
                  <a:srgbClr val="1A1D29"/>
                </a:solidFill>
                <a:latin typeface="Calibri"/>
              </a:rPr>
              <a:t>]</a:t>
            </a:r>
          </a:p>
          <a:p>
            <a:pPr algn="l">
              <a:spcBef>
                <a:spcPts val="0"/>
              </a:spcBef>
              <a:spcAft>
                <a:spcPts val="900"/>
              </a:spcAft>
            </a:pPr>
            <a:r>
              <a:rPr sz="1500" b="1" i="0" dirty="0">
                <a:solidFill>
                  <a:srgbClr val="2E6BE6"/>
                </a:solidFill>
                <a:latin typeface="Calibri"/>
              </a:rPr>
              <a:t>•  </a:t>
            </a:r>
            <a:r>
              <a:rPr sz="1500" b="0" i="0" dirty="0">
                <a:solidFill>
                  <a:srgbClr val="1A1D29"/>
                </a:solidFill>
                <a:latin typeface="Calibri"/>
              </a:rPr>
              <a:t>Statistical </a:t>
            </a:r>
            <a:r>
              <a:rPr sz="1500" b="0" i="0" dirty="0" err="1">
                <a:solidFill>
                  <a:srgbClr val="1A1D29"/>
                </a:solidFill>
                <a:latin typeface="Calibri"/>
              </a:rPr>
              <a:t>k·σ</a:t>
            </a:r>
            <a:r>
              <a:rPr sz="1500" b="0" i="0" dirty="0">
                <a:solidFill>
                  <a:srgbClr val="1A1D29"/>
                </a:solidFill>
                <a:latin typeface="Calibri"/>
              </a:rPr>
              <a:t> window (Meta targets 6-nines certainty)</a:t>
            </a:r>
          </a:p>
          <a:p>
            <a:pPr algn="l">
              <a:spcBef>
                <a:spcPts val="0"/>
              </a:spcBef>
              <a:spcAft>
                <a:spcPts val="900"/>
              </a:spcAft>
            </a:pPr>
            <a:r>
              <a:rPr sz="1500" b="1" i="0" dirty="0">
                <a:solidFill>
                  <a:srgbClr val="2E6BE6"/>
                </a:solidFill>
                <a:latin typeface="Calibri"/>
              </a:rPr>
              <a:t>•  </a:t>
            </a:r>
            <a:r>
              <a:rPr sz="1500" b="0" i="0" dirty="0">
                <a:solidFill>
                  <a:srgbClr val="1A1D29"/>
                </a:solidFill>
                <a:latin typeface="Calibri"/>
              </a:rPr>
              <a:t>Holdover: drift from PHC </a:t>
            </a:r>
            <a:r>
              <a:rPr sz="1500" b="0" i="0" dirty="0" err="1">
                <a:solidFill>
                  <a:srgbClr val="1A1D29"/>
                </a:solidFill>
                <a:latin typeface="Calibri"/>
              </a:rPr>
              <a:t>freq</a:t>
            </a:r>
            <a:r>
              <a:rPr sz="1500" b="0" i="0" dirty="0">
                <a:solidFill>
                  <a:srgbClr val="1A1D29"/>
                </a:solidFill>
                <a:latin typeface="Calibri"/>
              </a:rPr>
              <a:t>-adjust history</a:t>
            </a:r>
          </a:p>
        </p:txBody>
      </p:sp>
      <p:sp>
        <p:nvSpPr>
          <p:cNvPr id="8" name="Rectangle 7"/>
          <p:cNvSpPr/>
          <p:nvPr/>
        </p:nvSpPr>
        <p:spPr>
          <a:xfrm>
            <a:off x="6355080" y="1691640"/>
            <a:ext cx="5349240" cy="4297680"/>
          </a:xfrm>
          <a:prstGeom prst="rect">
            <a:avLst/>
          </a:prstGeom>
          <a:solidFill>
            <a:srgbClr val="EA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0" y="1856232"/>
            <a:ext cx="4892040" cy="457200"/>
          </a:xfrm>
          <a:prstGeom prst="rect">
            <a:avLst/>
          </a:prstGeom>
          <a:noFill/>
        </p:spPr>
        <p:txBody>
          <a:bodyPr wrap="square" lIns="0" tIns="0" rIns="0" bIns="0" anchor="t">
            <a:spAutoFit/>
          </a:bodyPr>
          <a:lstStyle/>
          <a:p>
            <a:pPr algn="l">
              <a:spcBef>
                <a:spcPts val="0"/>
              </a:spcBef>
              <a:spcAft>
                <a:spcPts val="600"/>
              </a:spcAft>
            </a:pPr>
            <a:r>
              <a:rPr sz="1800" b="1" i="0">
                <a:solidFill>
                  <a:srgbClr val="14B8A6"/>
                </a:solidFill>
                <a:latin typeface="Calibri"/>
              </a:rPr>
              <a:t>ptp-uncertainty  (this talk)</a:t>
            </a:r>
          </a:p>
        </p:txBody>
      </p:sp>
      <p:sp>
        <p:nvSpPr>
          <p:cNvPr id="10" name="TextBox 9"/>
          <p:cNvSpPr txBox="1"/>
          <p:nvPr/>
        </p:nvSpPr>
        <p:spPr>
          <a:xfrm>
            <a:off x="6583680" y="2468880"/>
            <a:ext cx="4892040" cy="923330"/>
          </a:xfrm>
          <a:prstGeom prst="rect">
            <a:avLst/>
          </a:prstGeom>
          <a:noFill/>
        </p:spPr>
        <p:txBody>
          <a:bodyPr wrap="square" lIns="0" tIns="0" rIns="0" bIns="0" anchor="t">
            <a:spAutoFit/>
          </a:bodyPr>
          <a:lstStyle/>
          <a:p>
            <a:pPr algn="l">
              <a:spcBef>
                <a:spcPts val="0"/>
              </a:spcBef>
              <a:spcAft>
                <a:spcPts val="900"/>
              </a:spcAft>
            </a:pPr>
            <a:r>
              <a:rPr sz="1500" b="1" i="0" dirty="0">
                <a:solidFill>
                  <a:srgbClr val="14B8A6"/>
                </a:solidFill>
                <a:latin typeface="Calibri"/>
              </a:rPr>
              <a:t>•  </a:t>
            </a:r>
            <a:r>
              <a:rPr sz="1500" b="0" i="0" dirty="0">
                <a:solidFill>
                  <a:srgbClr val="1A1D29"/>
                </a:solidFill>
                <a:latin typeface="Calibri"/>
              </a:rPr>
              <a:t>Returns </a:t>
            </a:r>
            <a:r>
              <a:rPr sz="1500" b="0" i="0" dirty="0" err="1">
                <a:solidFill>
                  <a:srgbClr val="1A1D29"/>
                </a:solidFill>
                <a:latin typeface="Calibri"/>
              </a:rPr>
              <a:t>total_uncertainty_ns</a:t>
            </a:r>
            <a:r>
              <a:rPr sz="1500" b="0" i="0" dirty="0">
                <a:solidFill>
                  <a:srgbClr val="1A1D29"/>
                </a:solidFill>
                <a:latin typeface="Calibri"/>
              </a:rPr>
              <a:t> → [t−U, </a:t>
            </a:r>
            <a:r>
              <a:rPr sz="1500" b="0" i="0" dirty="0" err="1">
                <a:solidFill>
                  <a:srgbClr val="1A1D29"/>
                </a:solidFill>
                <a:latin typeface="Calibri"/>
              </a:rPr>
              <a:t>t+U</a:t>
            </a:r>
            <a:r>
              <a:rPr sz="1500" b="0" i="0" dirty="0">
                <a:solidFill>
                  <a:srgbClr val="1A1D29"/>
                </a:solidFill>
                <a:latin typeface="Calibri"/>
              </a:rPr>
              <a:t>]</a:t>
            </a:r>
          </a:p>
          <a:p>
            <a:pPr algn="l">
              <a:spcBef>
                <a:spcPts val="0"/>
              </a:spcBef>
              <a:spcAft>
                <a:spcPts val="900"/>
              </a:spcAft>
            </a:pPr>
            <a:r>
              <a:rPr sz="1500" b="1" i="0" dirty="0">
                <a:solidFill>
                  <a:srgbClr val="14B8A6"/>
                </a:solidFill>
                <a:latin typeface="Calibri"/>
              </a:rPr>
              <a:t>•  </a:t>
            </a:r>
            <a:r>
              <a:rPr sz="1500" b="0" i="0" dirty="0">
                <a:solidFill>
                  <a:srgbClr val="1A1D29"/>
                </a:solidFill>
                <a:latin typeface="Calibri"/>
              </a:rPr>
              <a:t>Conservative worst-case bound (layer stats on top if wanted)</a:t>
            </a:r>
          </a:p>
          <a:p>
            <a:pPr algn="l">
              <a:spcBef>
                <a:spcPts val="0"/>
              </a:spcBef>
              <a:spcAft>
                <a:spcPts val="900"/>
              </a:spcAft>
            </a:pPr>
            <a:r>
              <a:rPr sz="1500" b="1" i="0" dirty="0">
                <a:solidFill>
                  <a:srgbClr val="14B8A6"/>
                </a:solidFill>
                <a:latin typeface="Calibri"/>
              </a:rPr>
              <a:t>•  </a:t>
            </a:r>
            <a:r>
              <a:rPr sz="1500" b="0" i="0" dirty="0">
                <a:solidFill>
                  <a:srgbClr val="1A1D29"/>
                </a:solidFill>
                <a:latin typeface="Calibri"/>
              </a:rPr>
              <a:t>Holdover: hold last anchor, drift grows at </a:t>
            </a:r>
            <a:r>
              <a:rPr sz="1500" b="0" i="0" dirty="0" err="1">
                <a:solidFill>
                  <a:srgbClr val="1A1D29"/>
                </a:solidFill>
                <a:latin typeface="Calibri"/>
              </a:rPr>
              <a:t>max_drift_ppb</a:t>
            </a:r>
            <a:endParaRPr sz="1500" b="0" i="0" dirty="0">
              <a:solidFill>
                <a:srgbClr val="1A1D29"/>
              </a:solidFill>
              <a:latin typeface="Calibri"/>
            </a:endParaRPr>
          </a:p>
        </p:txBody>
      </p:sp>
      <p:sp>
        <p:nvSpPr>
          <p:cNvPr id="11" name="Rectangle 10"/>
          <p:cNvSpPr/>
          <p:nvPr/>
        </p:nvSpPr>
        <p:spPr>
          <a:xfrm>
            <a:off x="0" y="6601968"/>
            <a:ext cx="12191695" cy="256032"/>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6583680"/>
            <a:ext cx="8229600" cy="256032"/>
          </a:xfrm>
          <a:prstGeom prst="rect">
            <a:avLst/>
          </a:prstGeom>
          <a:noFill/>
        </p:spPr>
        <p:txBody>
          <a:bodyPr wrap="square" lIns="0" tIns="0" rIns="0" bIns="0" anchor="ctr">
            <a:spAutoFit/>
          </a:bodyPr>
          <a:lstStyle/>
          <a:p>
            <a:pPr algn="l">
              <a:spcBef>
                <a:spcPts val="0"/>
              </a:spcBef>
              <a:spcAft>
                <a:spcPts val="600"/>
              </a:spcAft>
            </a:pPr>
            <a:r>
              <a:rPr sz="1000" b="0" i="0">
                <a:solidFill>
                  <a:srgbClr val="FFFFFF"/>
                </a:solidFill>
                <a:latin typeface="Calibri"/>
              </a:rPr>
              <a:t>Time Uncertainty as a First-Class Concept</a:t>
            </a:r>
          </a:p>
        </p:txBody>
      </p:sp>
      <p:sp>
        <p:nvSpPr>
          <p:cNvPr id="13" name="TextBox 12"/>
          <p:cNvSpPr txBox="1"/>
          <p:nvPr/>
        </p:nvSpPr>
        <p:spPr>
          <a:xfrm>
            <a:off x="11002975" y="6583680"/>
            <a:ext cx="731520" cy="256032"/>
          </a:xfrm>
          <a:prstGeom prst="rect">
            <a:avLst/>
          </a:prstGeom>
          <a:noFill/>
        </p:spPr>
        <p:txBody>
          <a:bodyPr wrap="square" lIns="0" tIns="0" rIns="0" bIns="0" anchor="ctr">
            <a:spAutoFit/>
          </a:bodyPr>
          <a:lstStyle/>
          <a:p>
            <a:pPr algn="r">
              <a:spcBef>
                <a:spcPts val="0"/>
              </a:spcBef>
              <a:spcAft>
                <a:spcPts val="600"/>
              </a:spcAft>
            </a:pPr>
            <a:r>
              <a:rPr sz="1000" b="1" i="0">
                <a:solidFill>
                  <a:srgbClr val="FFFFFF"/>
                </a:solidFill>
                <a:latin typeface="Calibri"/>
              </a:rPr>
              <a:t>29</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2E6BE6"/>
        </a:solidFill>
        <a:effectLst/>
      </p:bgPr>
    </p:bg>
    <p:spTree>
      <p:nvGrpSpPr>
        <p:cNvPr id="1" name=""/>
        <p:cNvGrpSpPr/>
        <p:nvPr/>
      </p:nvGrpSpPr>
      <p:grpSpPr>
        <a:xfrm>
          <a:off x="0" y="0"/>
          <a:ext cx="0" cy="0"/>
          <a:chOff x="0" y="0"/>
          <a:chExt cx="0" cy="0"/>
        </a:xfrm>
      </p:grpSpPr>
      <p:sp>
        <p:nvSpPr>
          <p:cNvPr id="2" name="Rectangle 1"/>
          <p:cNvSpPr/>
          <p:nvPr/>
        </p:nvSpPr>
        <p:spPr>
          <a:xfrm>
            <a:off x="0" y="2468880"/>
            <a:ext cx="3200400" cy="9144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1828800"/>
            <a:ext cx="10058400" cy="548640"/>
          </a:xfrm>
          <a:prstGeom prst="rect">
            <a:avLst/>
          </a:prstGeom>
          <a:noFill/>
        </p:spPr>
        <p:txBody>
          <a:bodyPr wrap="square" lIns="0" tIns="0" rIns="0" bIns="0" anchor="t">
            <a:spAutoFit/>
          </a:bodyPr>
          <a:lstStyle/>
          <a:p>
            <a:pPr algn="l">
              <a:spcBef>
                <a:spcPts val="0"/>
              </a:spcBef>
              <a:spcAft>
                <a:spcPts val="600"/>
              </a:spcAft>
            </a:pPr>
            <a:r>
              <a:rPr sz="2000" b="1" i="0">
                <a:solidFill>
                  <a:srgbClr val="C7D2F0"/>
                </a:solidFill>
                <a:latin typeface="Calibri"/>
              </a:rPr>
              <a:t>PART 6</a:t>
            </a:r>
          </a:p>
        </p:txBody>
      </p:sp>
      <p:sp>
        <p:nvSpPr>
          <p:cNvPr id="4" name="TextBox 3"/>
          <p:cNvSpPr txBox="1"/>
          <p:nvPr/>
        </p:nvSpPr>
        <p:spPr>
          <a:xfrm>
            <a:off x="804672" y="2697480"/>
            <a:ext cx="10515600" cy="1828800"/>
          </a:xfrm>
          <a:prstGeom prst="rect">
            <a:avLst/>
          </a:prstGeom>
          <a:noFill/>
        </p:spPr>
        <p:txBody>
          <a:bodyPr wrap="square" lIns="0" tIns="0" rIns="0" bIns="0" anchor="t">
            <a:spAutoFit/>
          </a:bodyPr>
          <a:lstStyle/>
          <a:p>
            <a:pPr algn="l">
              <a:spcBef>
                <a:spcPts val="0"/>
              </a:spcBef>
              <a:spcAft>
                <a:spcPts val="600"/>
              </a:spcAft>
            </a:pPr>
            <a:r>
              <a:rPr sz="4000" b="1" i="0">
                <a:solidFill>
                  <a:srgbClr val="FFFFFF"/>
                </a:solidFill>
                <a:latin typeface="Calibri"/>
              </a:rPr>
              <a:t>Model behavior across oscillator bounds</a:t>
            </a:r>
          </a:p>
        </p:txBody>
      </p:sp>
      <p:sp>
        <p:nvSpPr>
          <p:cNvPr id="5" name="TextBox 4"/>
          <p:cNvSpPr txBox="1"/>
          <p:nvPr/>
        </p:nvSpPr>
        <p:spPr>
          <a:xfrm>
            <a:off x="11002975" y="6263640"/>
            <a:ext cx="822960" cy="365760"/>
          </a:xfrm>
          <a:prstGeom prst="rect">
            <a:avLst/>
          </a:prstGeom>
          <a:noFill/>
        </p:spPr>
        <p:txBody>
          <a:bodyPr wrap="square" lIns="0" tIns="0" rIns="0" bIns="0" anchor="t">
            <a:spAutoFit/>
          </a:bodyPr>
          <a:lstStyle/>
          <a:p>
            <a:pPr algn="r">
              <a:spcBef>
                <a:spcPts val="0"/>
              </a:spcBef>
              <a:spcAft>
                <a:spcPts val="600"/>
              </a:spcAft>
            </a:pPr>
            <a:r>
              <a:rPr sz="1200" b="1" i="0">
                <a:solidFill>
                  <a:srgbClr val="FFFFFF"/>
                </a:solidFill>
                <a:latin typeface="Calibri"/>
              </a:rPr>
              <a:t>30</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164592"/>
            <a:ext cx="164592" cy="502920"/>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19456"/>
            <a:ext cx="10972800" cy="365760"/>
          </a:xfrm>
          <a:prstGeom prst="rect">
            <a:avLst/>
          </a:prstGeom>
          <a:noFill/>
        </p:spPr>
        <p:txBody>
          <a:bodyPr wrap="square" lIns="0" tIns="0" rIns="0" bIns="0" anchor="t">
            <a:spAutoFit/>
          </a:bodyPr>
          <a:lstStyle/>
          <a:p>
            <a:pPr algn="l">
              <a:spcBef>
                <a:spcPts val="0"/>
              </a:spcBef>
              <a:spcAft>
                <a:spcPts val="600"/>
              </a:spcAft>
            </a:pPr>
            <a:r>
              <a:rPr sz="1300" b="1" i="0">
                <a:solidFill>
                  <a:srgbClr val="2E6BE6"/>
                </a:solidFill>
                <a:latin typeface="Calibri"/>
              </a:rPr>
              <a:t>MODEL SWEEP</a:t>
            </a:r>
          </a:p>
        </p:txBody>
      </p:sp>
      <p:pic>
        <p:nvPicPr>
          <p:cNvPr id="4" name="Picture 3" descr="fig_sawtooth.png"/>
          <p:cNvPicPr>
            <a:picLocks noChangeAspect="1"/>
          </p:cNvPicPr>
          <p:nvPr/>
        </p:nvPicPr>
        <p:blipFill>
          <a:blip r:embed="rId3"/>
          <a:stretch>
            <a:fillRect/>
          </a:stretch>
        </p:blipFill>
        <p:spPr>
          <a:xfrm>
            <a:off x="746607" y="749808"/>
            <a:ext cx="10698480" cy="5176683"/>
          </a:xfrm>
          <a:prstGeom prst="rect">
            <a:avLst/>
          </a:prstGeom>
        </p:spPr>
      </p:pic>
      <p:sp>
        <p:nvSpPr>
          <p:cNvPr id="5" name="TextBox 4"/>
          <p:cNvSpPr txBox="1"/>
          <p:nvPr/>
        </p:nvSpPr>
        <p:spPr>
          <a:xfrm>
            <a:off x="640080" y="5981355"/>
            <a:ext cx="10881360" cy="457200"/>
          </a:xfrm>
          <a:prstGeom prst="rect">
            <a:avLst/>
          </a:prstGeom>
          <a:noFill/>
        </p:spPr>
        <p:txBody>
          <a:bodyPr wrap="square" lIns="0" tIns="0" rIns="0" bIns="0" anchor="t">
            <a:spAutoFit/>
          </a:bodyPr>
          <a:lstStyle/>
          <a:p>
            <a:pPr algn="ctr">
              <a:spcBef>
                <a:spcPts val="0"/>
              </a:spcBef>
              <a:spcAft>
                <a:spcPts val="600"/>
              </a:spcAft>
            </a:pPr>
            <a:r>
              <a:rPr sz="1500" b="1" i="0">
                <a:solidFill>
                  <a:srgbClr val="1A1D29"/>
                </a:solidFill>
                <a:latin typeface="Calibri"/>
              </a:rPr>
              <a:t>Between syncs the bound grows as age × D_max, then resets at ingress — this is the model's attributed drift, not measured drift.</a:t>
            </a:r>
          </a:p>
        </p:txBody>
      </p:sp>
      <p:sp>
        <p:nvSpPr>
          <p:cNvPr id="6" name="Rectangle 5"/>
          <p:cNvSpPr/>
          <p:nvPr/>
        </p:nvSpPr>
        <p:spPr>
          <a:xfrm>
            <a:off x="0" y="6601968"/>
            <a:ext cx="12191695" cy="256032"/>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83680"/>
            <a:ext cx="8229600" cy="256032"/>
          </a:xfrm>
          <a:prstGeom prst="rect">
            <a:avLst/>
          </a:prstGeom>
          <a:noFill/>
        </p:spPr>
        <p:txBody>
          <a:bodyPr wrap="square" lIns="0" tIns="0" rIns="0" bIns="0" anchor="ctr">
            <a:spAutoFit/>
          </a:bodyPr>
          <a:lstStyle/>
          <a:p>
            <a:pPr algn="l">
              <a:spcBef>
                <a:spcPts val="0"/>
              </a:spcBef>
              <a:spcAft>
                <a:spcPts val="600"/>
              </a:spcAft>
            </a:pPr>
            <a:r>
              <a:rPr sz="1000" b="0" i="0">
                <a:solidFill>
                  <a:srgbClr val="FFFFFF"/>
                </a:solidFill>
                <a:latin typeface="Calibri"/>
              </a:rPr>
              <a:t>Time Uncertainty as a First-Class Concept</a:t>
            </a:r>
          </a:p>
        </p:txBody>
      </p:sp>
      <p:sp>
        <p:nvSpPr>
          <p:cNvPr id="8" name="TextBox 7"/>
          <p:cNvSpPr txBox="1"/>
          <p:nvPr/>
        </p:nvSpPr>
        <p:spPr>
          <a:xfrm>
            <a:off x="11002975" y="6583680"/>
            <a:ext cx="731520" cy="256032"/>
          </a:xfrm>
          <a:prstGeom prst="rect">
            <a:avLst/>
          </a:prstGeom>
          <a:noFill/>
        </p:spPr>
        <p:txBody>
          <a:bodyPr wrap="square" lIns="0" tIns="0" rIns="0" bIns="0" anchor="ctr">
            <a:spAutoFit/>
          </a:bodyPr>
          <a:lstStyle/>
          <a:p>
            <a:pPr algn="r">
              <a:spcBef>
                <a:spcPts val="0"/>
              </a:spcBef>
              <a:spcAft>
                <a:spcPts val="600"/>
              </a:spcAft>
            </a:pPr>
            <a:r>
              <a:rPr sz="1000" b="1" i="0">
                <a:solidFill>
                  <a:srgbClr val="FFFFFF"/>
                </a:solidFill>
                <a:latin typeface="Calibri"/>
              </a:rPr>
              <a:t>31</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164592"/>
            <a:ext cx="164592" cy="502920"/>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19456"/>
            <a:ext cx="10972800" cy="365760"/>
          </a:xfrm>
          <a:prstGeom prst="rect">
            <a:avLst/>
          </a:prstGeom>
          <a:noFill/>
        </p:spPr>
        <p:txBody>
          <a:bodyPr wrap="square" lIns="0" tIns="0" rIns="0" bIns="0" anchor="t">
            <a:spAutoFit/>
          </a:bodyPr>
          <a:lstStyle/>
          <a:p>
            <a:pPr algn="l">
              <a:spcBef>
                <a:spcPts val="0"/>
              </a:spcBef>
              <a:spcAft>
                <a:spcPts val="600"/>
              </a:spcAft>
            </a:pPr>
            <a:r>
              <a:rPr sz="1300" b="1" i="0">
                <a:solidFill>
                  <a:srgbClr val="2E6BE6"/>
                </a:solidFill>
                <a:latin typeface="Calibri"/>
              </a:rPr>
              <a:t>MODEL SWEEP</a:t>
            </a:r>
          </a:p>
        </p:txBody>
      </p:sp>
      <p:pic>
        <p:nvPicPr>
          <p:cNvPr id="4" name="Picture 3" descr="fig_compare.png"/>
          <p:cNvPicPr>
            <a:picLocks noChangeAspect="1"/>
          </p:cNvPicPr>
          <p:nvPr/>
        </p:nvPicPr>
        <p:blipFill>
          <a:blip r:embed="rId3"/>
          <a:stretch>
            <a:fillRect/>
          </a:stretch>
        </p:blipFill>
        <p:spPr>
          <a:xfrm>
            <a:off x="746607" y="749808"/>
            <a:ext cx="10698480" cy="5176683"/>
          </a:xfrm>
          <a:prstGeom prst="rect">
            <a:avLst/>
          </a:prstGeom>
        </p:spPr>
      </p:pic>
      <p:sp>
        <p:nvSpPr>
          <p:cNvPr id="5" name="TextBox 4"/>
          <p:cNvSpPr txBox="1"/>
          <p:nvPr/>
        </p:nvSpPr>
        <p:spPr>
          <a:xfrm>
            <a:off x="640080" y="5981355"/>
            <a:ext cx="10881360" cy="457200"/>
          </a:xfrm>
          <a:prstGeom prst="rect">
            <a:avLst/>
          </a:prstGeom>
          <a:noFill/>
        </p:spPr>
        <p:txBody>
          <a:bodyPr wrap="square" lIns="0" tIns="0" rIns="0" bIns="0" anchor="t">
            <a:spAutoFit/>
          </a:bodyPr>
          <a:lstStyle/>
          <a:p>
            <a:pPr algn="ctr">
              <a:spcBef>
                <a:spcPts val="0"/>
              </a:spcBef>
              <a:spcAft>
                <a:spcPts val="600"/>
              </a:spcAft>
            </a:pPr>
            <a:r>
              <a:rPr sz="1500" b="1" i="0">
                <a:solidFill>
                  <a:srgbClr val="1A1D29"/>
                </a:solidFill>
                <a:latin typeface="Calibri"/>
              </a:rPr>
              <a:t>Same PTP state, four configured drift bounds — the assumed D_max alone spans two orders of magnitude.</a:t>
            </a:r>
          </a:p>
        </p:txBody>
      </p:sp>
      <p:sp>
        <p:nvSpPr>
          <p:cNvPr id="6" name="Rectangle 5"/>
          <p:cNvSpPr/>
          <p:nvPr/>
        </p:nvSpPr>
        <p:spPr>
          <a:xfrm>
            <a:off x="0" y="6601968"/>
            <a:ext cx="12191695" cy="256032"/>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83680"/>
            <a:ext cx="8229600" cy="256032"/>
          </a:xfrm>
          <a:prstGeom prst="rect">
            <a:avLst/>
          </a:prstGeom>
          <a:noFill/>
        </p:spPr>
        <p:txBody>
          <a:bodyPr wrap="square" lIns="0" tIns="0" rIns="0" bIns="0" anchor="ctr">
            <a:spAutoFit/>
          </a:bodyPr>
          <a:lstStyle/>
          <a:p>
            <a:pPr algn="l">
              <a:spcBef>
                <a:spcPts val="0"/>
              </a:spcBef>
              <a:spcAft>
                <a:spcPts val="600"/>
              </a:spcAft>
            </a:pPr>
            <a:r>
              <a:rPr sz="1000" b="0" i="0">
                <a:solidFill>
                  <a:srgbClr val="FFFFFF"/>
                </a:solidFill>
                <a:latin typeface="Calibri"/>
              </a:rPr>
              <a:t>Time Uncertainty as a First-Class Concept</a:t>
            </a:r>
          </a:p>
        </p:txBody>
      </p:sp>
      <p:sp>
        <p:nvSpPr>
          <p:cNvPr id="8" name="TextBox 7"/>
          <p:cNvSpPr txBox="1"/>
          <p:nvPr/>
        </p:nvSpPr>
        <p:spPr>
          <a:xfrm>
            <a:off x="11002975" y="6583680"/>
            <a:ext cx="731520" cy="256032"/>
          </a:xfrm>
          <a:prstGeom prst="rect">
            <a:avLst/>
          </a:prstGeom>
          <a:noFill/>
        </p:spPr>
        <p:txBody>
          <a:bodyPr wrap="square" lIns="0" tIns="0" rIns="0" bIns="0" anchor="ctr">
            <a:spAutoFit/>
          </a:bodyPr>
          <a:lstStyle/>
          <a:p>
            <a:pPr algn="r">
              <a:spcBef>
                <a:spcPts val="0"/>
              </a:spcBef>
              <a:spcAft>
                <a:spcPts val="600"/>
              </a:spcAft>
            </a:pPr>
            <a:r>
              <a:rPr sz="1000" b="1" i="0">
                <a:solidFill>
                  <a:srgbClr val="FFFFFF"/>
                </a:solidFill>
                <a:latin typeface="Calibri"/>
              </a:rPr>
              <a:t>32</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164592"/>
            <a:ext cx="164592" cy="502920"/>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19456"/>
            <a:ext cx="10972800" cy="365760"/>
          </a:xfrm>
          <a:prstGeom prst="rect">
            <a:avLst/>
          </a:prstGeom>
          <a:noFill/>
        </p:spPr>
        <p:txBody>
          <a:bodyPr wrap="square" lIns="0" tIns="0" rIns="0" bIns="0" anchor="t">
            <a:spAutoFit/>
          </a:bodyPr>
          <a:lstStyle/>
          <a:p>
            <a:pPr algn="l">
              <a:spcBef>
                <a:spcPts val="0"/>
              </a:spcBef>
              <a:spcAft>
                <a:spcPts val="600"/>
              </a:spcAft>
            </a:pPr>
            <a:r>
              <a:rPr sz="1300" b="1" i="0">
                <a:solidFill>
                  <a:srgbClr val="2E6BE6"/>
                </a:solidFill>
                <a:latin typeface="Calibri"/>
              </a:rPr>
              <a:t>MODEL SWEEP</a:t>
            </a:r>
          </a:p>
        </p:txBody>
      </p:sp>
      <p:pic>
        <p:nvPicPr>
          <p:cNvPr id="4" name="Picture 3" descr="fig_budget.png"/>
          <p:cNvPicPr>
            <a:picLocks noChangeAspect="1"/>
          </p:cNvPicPr>
          <p:nvPr/>
        </p:nvPicPr>
        <p:blipFill>
          <a:blip r:embed="rId3"/>
          <a:stretch>
            <a:fillRect/>
          </a:stretch>
        </p:blipFill>
        <p:spPr>
          <a:xfrm>
            <a:off x="746607" y="749807"/>
            <a:ext cx="10698722" cy="5176800"/>
          </a:xfrm>
          <a:prstGeom prst="rect">
            <a:avLst/>
          </a:prstGeom>
        </p:spPr>
      </p:pic>
      <p:sp>
        <p:nvSpPr>
          <p:cNvPr id="5" name="TextBox 4"/>
          <p:cNvSpPr txBox="1"/>
          <p:nvPr/>
        </p:nvSpPr>
        <p:spPr>
          <a:xfrm>
            <a:off x="640080" y="5981355"/>
            <a:ext cx="10881360" cy="457200"/>
          </a:xfrm>
          <a:prstGeom prst="rect">
            <a:avLst/>
          </a:prstGeom>
          <a:noFill/>
        </p:spPr>
        <p:txBody>
          <a:bodyPr wrap="square" lIns="0" tIns="0" rIns="0" bIns="0" anchor="t">
            <a:spAutoFit/>
          </a:bodyPr>
          <a:lstStyle/>
          <a:p>
            <a:pPr algn="ctr">
              <a:spcBef>
                <a:spcPts val="0"/>
              </a:spcBef>
              <a:spcAft>
                <a:spcPts val="600"/>
              </a:spcAft>
            </a:pPr>
            <a:r>
              <a:rPr sz="1500" b="1" i="0">
                <a:solidFill>
                  <a:srgbClr val="1A1D29"/>
                </a:solidFill>
                <a:latin typeface="Calibri"/>
              </a:rPr>
              <a:t>Between syncs the configured drift bound — not PTP — sets whether the envelope is 0.3 µs or 120 µs.</a:t>
            </a:r>
          </a:p>
        </p:txBody>
      </p:sp>
      <p:sp>
        <p:nvSpPr>
          <p:cNvPr id="6" name="Rectangle 5"/>
          <p:cNvSpPr/>
          <p:nvPr/>
        </p:nvSpPr>
        <p:spPr>
          <a:xfrm>
            <a:off x="0" y="6601968"/>
            <a:ext cx="12191695" cy="256032"/>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83680"/>
            <a:ext cx="8229600" cy="256032"/>
          </a:xfrm>
          <a:prstGeom prst="rect">
            <a:avLst/>
          </a:prstGeom>
          <a:noFill/>
        </p:spPr>
        <p:txBody>
          <a:bodyPr wrap="square" lIns="0" tIns="0" rIns="0" bIns="0" anchor="ctr">
            <a:spAutoFit/>
          </a:bodyPr>
          <a:lstStyle/>
          <a:p>
            <a:pPr algn="l">
              <a:spcBef>
                <a:spcPts val="0"/>
              </a:spcBef>
              <a:spcAft>
                <a:spcPts val="600"/>
              </a:spcAft>
            </a:pPr>
            <a:r>
              <a:rPr sz="1000" b="0" i="0">
                <a:solidFill>
                  <a:srgbClr val="FFFFFF"/>
                </a:solidFill>
                <a:latin typeface="Calibri"/>
              </a:rPr>
              <a:t>Time Uncertainty as a First-Class Concept</a:t>
            </a:r>
          </a:p>
        </p:txBody>
      </p:sp>
      <p:sp>
        <p:nvSpPr>
          <p:cNvPr id="8" name="TextBox 7"/>
          <p:cNvSpPr txBox="1"/>
          <p:nvPr/>
        </p:nvSpPr>
        <p:spPr>
          <a:xfrm>
            <a:off x="11002975" y="6583680"/>
            <a:ext cx="731520" cy="256032"/>
          </a:xfrm>
          <a:prstGeom prst="rect">
            <a:avLst/>
          </a:prstGeom>
          <a:noFill/>
        </p:spPr>
        <p:txBody>
          <a:bodyPr wrap="square" lIns="0" tIns="0" rIns="0" bIns="0" anchor="ctr">
            <a:spAutoFit/>
          </a:bodyPr>
          <a:lstStyle/>
          <a:p>
            <a:pPr algn="r">
              <a:spcBef>
                <a:spcPts val="0"/>
              </a:spcBef>
              <a:spcAft>
                <a:spcPts val="600"/>
              </a:spcAft>
            </a:pPr>
            <a:r>
              <a:rPr sz="1000" b="1" i="0">
                <a:solidFill>
                  <a:srgbClr val="FFFFFF"/>
                </a:solidFill>
                <a:latin typeface="Calibri"/>
              </a:rPr>
              <a:t>33</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BF50B82-022D-5D1D-5A85-CD65A3C1C02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4F4E398-E69B-0D87-BC02-F4245537C285}"/>
              </a:ext>
            </a:extLst>
          </p:cNvPr>
          <p:cNvSpPr/>
          <p:nvPr/>
        </p:nvSpPr>
        <p:spPr>
          <a:xfrm>
            <a:off x="0" y="164592"/>
            <a:ext cx="164592" cy="502920"/>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8D3B5662-CED3-E68E-2677-5EE6205ED9FD}"/>
              </a:ext>
            </a:extLst>
          </p:cNvPr>
          <p:cNvSpPr txBox="1"/>
          <p:nvPr/>
        </p:nvSpPr>
        <p:spPr>
          <a:xfrm>
            <a:off x="502920" y="219456"/>
            <a:ext cx="10972800" cy="365760"/>
          </a:xfrm>
          <a:prstGeom prst="rect">
            <a:avLst/>
          </a:prstGeom>
          <a:noFill/>
        </p:spPr>
        <p:txBody>
          <a:bodyPr wrap="square" lIns="0" tIns="0" rIns="0" bIns="0" anchor="t">
            <a:spAutoFit/>
          </a:bodyPr>
          <a:lstStyle/>
          <a:p>
            <a:pPr algn="l">
              <a:spcBef>
                <a:spcPts val="0"/>
              </a:spcBef>
              <a:spcAft>
                <a:spcPts val="600"/>
              </a:spcAft>
            </a:pPr>
            <a:r>
              <a:rPr sz="1300" b="1" i="0">
                <a:solidFill>
                  <a:srgbClr val="2E6BE6"/>
                </a:solidFill>
                <a:latin typeface="Calibri"/>
              </a:rPr>
              <a:t>MODEL SWEEP</a:t>
            </a:r>
          </a:p>
        </p:txBody>
      </p:sp>
      <p:sp>
        <p:nvSpPr>
          <p:cNvPr id="5" name="TextBox 4">
            <a:extLst>
              <a:ext uri="{FF2B5EF4-FFF2-40B4-BE49-F238E27FC236}">
                <a16:creationId xmlns:a16="http://schemas.microsoft.com/office/drawing/2014/main" id="{5A8D1ADE-BF4F-9159-2052-8012FA53963C}"/>
              </a:ext>
            </a:extLst>
          </p:cNvPr>
          <p:cNvSpPr txBox="1"/>
          <p:nvPr/>
        </p:nvSpPr>
        <p:spPr>
          <a:xfrm>
            <a:off x="640080" y="5981355"/>
            <a:ext cx="10881360" cy="457200"/>
          </a:xfrm>
          <a:prstGeom prst="rect">
            <a:avLst/>
          </a:prstGeom>
          <a:noFill/>
        </p:spPr>
        <p:txBody>
          <a:bodyPr wrap="square" lIns="0" tIns="0" rIns="0" bIns="0" anchor="t">
            <a:spAutoFit/>
          </a:bodyPr>
          <a:lstStyle/>
          <a:p>
            <a:pPr algn="ctr">
              <a:spcBef>
                <a:spcPts val="0"/>
              </a:spcBef>
              <a:spcAft>
                <a:spcPts val="600"/>
              </a:spcAft>
            </a:pPr>
            <a:r>
              <a:rPr sz="1500" b="1" i="0">
                <a:solidFill>
                  <a:srgbClr val="1A1D29"/>
                </a:solidFill>
                <a:latin typeface="Calibri"/>
              </a:rPr>
              <a:t>Between syncs the configured drift bound — not PTP — sets whether the envelope is 0.3 µs or 120 µs.</a:t>
            </a:r>
          </a:p>
        </p:txBody>
      </p:sp>
      <p:sp>
        <p:nvSpPr>
          <p:cNvPr id="6" name="Rectangle 5">
            <a:extLst>
              <a:ext uri="{FF2B5EF4-FFF2-40B4-BE49-F238E27FC236}">
                <a16:creationId xmlns:a16="http://schemas.microsoft.com/office/drawing/2014/main" id="{57EE4754-90DB-CA00-73A3-258C462091FE}"/>
              </a:ext>
            </a:extLst>
          </p:cNvPr>
          <p:cNvSpPr/>
          <p:nvPr/>
        </p:nvSpPr>
        <p:spPr>
          <a:xfrm>
            <a:off x="0" y="6601968"/>
            <a:ext cx="12191695" cy="256032"/>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622163A8-21F4-1594-220E-8D3042A6D781}"/>
              </a:ext>
            </a:extLst>
          </p:cNvPr>
          <p:cNvSpPr txBox="1"/>
          <p:nvPr/>
        </p:nvSpPr>
        <p:spPr>
          <a:xfrm>
            <a:off x="457200" y="6583680"/>
            <a:ext cx="8229600" cy="256032"/>
          </a:xfrm>
          <a:prstGeom prst="rect">
            <a:avLst/>
          </a:prstGeom>
          <a:noFill/>
        </p:spPr>
        <p:txBody>
          <a:bodyPr wrap="square" lIns="0" tIns="0" rIns="0" bIns="0" anchor="ctr">
            <a:spAutoFit/>
          </a:bodyPr>
          <a:lstStyle/>
          <a:p>
            <a:pPr algn="l">
              <a:spcBef>
                <a:spcPts val="0"/>
              </a:spcBef>
              <a:spcAft>
                <a:spcPts val="600"/>
              </a:spcAft>
            </a:pPr>
            <a:r>
              <a:rPr sz="1000" b="0" i="0">
                <a:solidFill>
                  <a:srgbClr val="FFFFFF"/>
                </a:solidFill>
                <a:latin typeface="Calibri"/>
              </a:rPr>
              <a:t>Time Uncertainty as a First-Class Concept</a:t>
            </a:r>
          </a:p>
        </p:txBody>
      </p:sp>
      <p:sp>
        <p:nvSpPr>
          <p:cNvPr id="8" name="TextBox 7">
            <a:extLst>
              <a:ext uri="{FF2B5EF4-FFF2-40B4-BE49-F238E27FC236}">
                <a16:creationId xmlns:a16="http://schemas.microsoft.com/office/drawing/2014/main" id="{501B7419-E4EA-209B-828E-548CBCE0509E}"/>
              </a:ext>
            </a:extLst>
          </p:cNvPr>
          <p:cNvSpPr txBox="1"/>
          <p:nvPr/>
        </p:nvSpPr>
        <p:spPr>
          <a:xfrm>
            <a:off x="11002975" y="6583680"/>
            <a:ext cx="731520" cy="256032"/>
          </a:xfrm>
          <a:prstGeom prst="rect">
            <a:avLst/>
          </a:prstGeom>
          <a:noFill/>
        </p:spPr>
        <p:txBody>
          <a:bodyPr wrap="square" lIns="0" tIns="0" rIns="0" bIns="0" anchor="ctr">
            <a:spAutoFit/>
          </a:bodyPr>
          <a:lstStyle/>
          <a:p>
            <a:pPr algn="r">
              <a:spcBef>
                <a:spcPts val="0"/>
              </a:spcBef>
              <a:spcAft>
                <a:spcPts val="600"/>
              </a:spcAft>
            </a:pPr>
            <a:r>
              <a:rPr sz="1000" b="1" i="0">
                <a:solidFill>
                  <a:srgbClr val="FFFFFF"/>
                </a:solidFill>
                <a:latin typeface="Calibri"/>
              </a:rPr>
              <a:t>33</a:t>
            </a:r>
          </a:p>
        </p:txBody>
      </p:sp>
      <p:pic>
        <p:nvPicPr>
          <p:cNvPr id="11" name="Picture 10">
            <a:extLst>
              <a:ext uri="{FF2B5EF4-FFF2-40B4-BE49-F238E27FC236}">
                <a16:creationId xmlns:a16="http://schemas.microsoft.com/office/drawing/2014/main" id="{F76BB479-0F12-2934-3E3F-7D03DCE9057D}"/>
              </a:ext>
            </a:extLst>
          </p:cNvPr>
          <p:cNvPicPr>
            <a:picLocks noChangeAspect="1"/>
          </p:cNvPicPr>
          <p:nvPr/>
        </p:nvPicPr>
        <p:blipFill>
          <a:blip r:embed="rId3"/>
          <a:stretch>
            <a:fillRect/>
          </a:stretch>
        </p:blipFill>
        <p:spPr>
          <a:xfrm>
            <a:off x="546099" y="685799"/>
            <a:ext cx="10689133" cy="5176800"/>
          </a:xfrm>
          <a:prstGeom prst="rect">
            <a:avLst/>
          </a:prstGeom>
        </p:spPr>
      </p:pic>
    </p:spTree>
    <p:extLst>
      <p:ext uri="{BB962C8B-B14F-4D97-AF65-F5344CB8AC3E}">
        <p14:creationId xmlns:p14="http://schemas.microsoft.com/office/powerpoint/2010/main" val="23405404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2E6BE6"/>
        </a:solidFill>
        <a:effectLst/>
      </p:bgPr>
    </p:bg>
    <p:spTree>
      <p:nvGrpSpPr>
        <p:cNvPr id="1" name=""/>
        <p:cNvGrpSpPr/>
        <p:nvPr/>
      </p:nvGrpSpPr>
      <p:grpSpPr>
        <a:xfrm>
          <a:off x="0" y="0"/>
          <a:ext cx="0" cy="0"/>
          <a:chOff x="0" y="0"/>
          <a:chExt cx="0" cy="0"/>
        </a:xfrm>
      </p:grpSpPr>
      <p:sp>
        <p:nvSpPr>
          <p:cNvPr id="2" name="Rectangle 1"/>
          <p:cNvSpPr/>
          <p:nvPr/>
        </p:nvSpPr>
        <p:spPr>
          <a:xfrm>
            <a:off x="0" y="2468880"/>
            <a:ext cx="3200400" cy="9144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1828800"/>
            <a:ext cx="10058400" cy="548640"/>
          </a:xfrm>
          <a:prstGeom prst="rect">
            <a:avLst/>
          </a:prstGeom>
          <a:noFill/>
        </p:spPr>
        <p:txBody>
          <a:bodyPr wrap="square" lIns="0" tIns="0" rIns="0" bIns="0" anchor="t">
            <a:spAutoFit/>
          </a:bodyPr>
          <a:lstStyle/>
          <a:p>
            <a:pPr algn="l">
              <a:spcBef>
                <a:spcPts val="0"/>
              </a:spcBef>
              <a:spcAft>
                <a:spcPts val="600"/>
              </a:spcAft>
            </a:pPr>
            <a:r>
              <a:rPr sz="2000" b="1" i="0">
                <a:solidFill>
                  <a:srgbClr val="C7D2F0"/>
                </a:solidFill>
                <a:latin typeface="Calibri"/>
              </a:rPr>
              <a:t>PART 7</a:t>
            </a:r>
          </a:p>
        </p:txBody>
      </p:sp>
      <p:sp>
        <p:nvSpPr>
          <p:cNvPr id="4" name="TextBox 3"/>
          <p:cNvSpPr txBox="1"/>
          <p:nvPr/>
        </p:nvSpPr>
        <p:spPr>
          <a:xfrm>
            <a:off x="804672" y="2697480"/>
            <a:ext cx="10515600" cy="1828800"/>
          </a:xfrm>
          <a:prstGeom prst="rect">
            <a:avLst/>
          </a:prstGeom>
          <a:noFill/>
        </p:spPr>
        <p:txBody>
          <a:bodyPr wrap="square" lIns="0" tIns="0" rIns="0" bIns="0" anchor="t">
            <a:spAutoFit/>
          </a:bodyPr>
          <a:lstStyle/>
          <a:p>
            <a:pPr algn="l">
              <a:spcBef>
                <a:spcPts val="0"/>
              </a:spcBef>
              <a:spcAft>
                <a:spcPts val="600"/>
              </a:spcAft>
            </a:pPr>
            <a:r>
              <a:rPr sz="4000" b="1" i="0">
                <a:solidFill>
                  <a:srgbClr val="FFFFFF"/>
                </a:solidFill>
                <a:latin typeface="Calibri"/>
              </a:rPr>
              <a:t>The full story: fast time + its uncertainty</a:t>
            </a:r>
          </a:p>
        </p:txBody>
      </p:sp>
      <p:sp>
        <p:nvSpPr>
          <p:cNvPr id="5" name="TextBox 4"/>
          <p:cNvSpPr txBox="1"/>
          <p:nvPr/>
        </p:nvSpPr>
        <p:spPr>
          <a:xfrm>
            <a:off x="11002975" y="6263640"/>
            <a:ext cx="822960" cy="365760"/>
          </a:xfrm>
          <a:prstGeom prst="rect">
            <a:avLst/>
          </a:prstGeom>
          <a:noFill/>
        </p:spPr>
        <p:txBody>
          <a:bodyPr wrap="square" lIns="0" tIns="0" rIns="0" bIns="0" anchor="t">
            <a:spAutoFit/>
          </a:bodyPr>
          <a:lstStyle/>
          <a:p>
            <a:pPr algn="r">
              <a:spcBef>
                <a:spcPts val="0"/>
              </a:spcBef>
              <a:spcAft>
                <a:spcPts val="600"/>
              </a:spcAft>
            </a:pPr>
            <a:r>
              <a:rPr sz="1200" b="1" i="0">
                <a:solidFill>
                  <a:srgbClr val="FFFFFF"/>
                </a:solidFill>
                <a:latin typeface="Calibri"/>
              </a:rPr>
              <a:t>34</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EDF1FB"/>
        </a:solidFill>
        <a:effectLst/>
      </p:bgPr>
    </p:bg>
    <p:spTree>
      <p:nvGrpSpPr>
        <p:cNvPr id="1" name=""/>
        <p:cNvGrpSpPr/>
        <p:nvPr/>
      </p:nvGrpSpPr>
      <p:grpSpPr>
        <a:xfrm>
          <a:off x="0" y="0"/>
          <a:ext cx="0" cy="0"/>
          <a:chOff x="0" y="0"/>
          <a:chExt cx="0" cy="0"/>
        </a:xfrm>
      </p:grpSpPr>
      <p:sp>
        <p:nvSpPr>
          <p:cNvPr id="2" name="Rectangle 1"/>
          <p:cNvSpPr/>
          <p:nvPr/>
        </p:nvSpPr>
        <p:spPr>
          <a:xfrm>
            <a:off x="822960" y="2331720"/>
            <a:ext cx="2377440" cy="91440"/>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514600"/>
            <a:ext cx="10515600" cy="1828800"/>
          </a:xfrm>
          <a:prstGeom prst="rect">
            <a:avLst/>
          </a:prstGeom>
          <a:noFill/>
        </p:spPr>
        <p:txBody>
          <a:bodyPr wrap="square" lIns="0" tIns="0" rIns="0" bIns="0" anchor="t">
            <a:spAutoFit/>
          </a:bodyPr>
          <a:lstStyle/>
          <a:p>
            <a:pPr algn="l">
              <a:spcBef>
                <a:spcPts val="0"/>
              </a:spcBef>
              <a:spcAft>
                <a:spcPts val="600"/>
              </a:spcAft>
            </a:pPr>
            <a:r>
              <a:rPr sz="3400" b="1" i="0">
                <a:solidFill>
                  <a:srgbClr val="1A1D29"/>
                </a:solidFill>
                <a:latin typeface="Calibri"/>
              </a:rPr>
              <a:t>Fast access gives you the time cheaply. Uncertainty tells you how far to trust it.</a:t>
            </a:r>
          </a:p>
        </p:txBody>
      </p:sp>
      <p:sp>
        <p:nvSpPr>
          <p:cNvPr id="4" name="TextBox 3"/>
          <p:cNvSpPr txBox="1"/>
          <p:nvPr/>
        </p:nvSpPr>
        <p:spPr>
          <a:xfrm>
            <a:off x="841248" y="4206240"/>
            <a:ext cx="10515600" cy="1097280"/>
          </a:xfrm>
          <a:prstGeom prst="rect">
            <a:avLst/>
          </a:prstGeom>
          <a:noFill/>
        </p:spPr>
        <p:txBody>
          <a:bodyPr wrap="square" lIns="0" tIns="0" rIns="0" bIns="0" anchor="t">
            <a:spAutoFit/>
          </a:bodyPr>
          <a:lstStyle/>
          <a:p>
            <a:pPr algn="l">
              <a:spcBef>
                <a:spcPts val="0"/>
              </a:spcBef>
              <a:spcAft>
                <a:spcPts val="600"/>
              </a:spcAft>
            </a:pPr>
            <a:r>
              <a:rPr sz="2000" b="0" i="1">
                <a:solidFill>
                  <a:srgbClr val="5B6172"/>
                </a:solidFill>
                <a:latin typeface="Calibri"/>
              </a:rPr>
              <a:t>The prior talk made the read fast; this one puts an error bar on it — fast time and its uncertainty, together.</a:t>
            </a:r>
          </a:p>
        </p:txBody>
      </p:sp>
      <p:sp>
        <p:nvSpPr>
          <p:cNvPr id="5" name="Rectangle 4"/>
          <p:cNvSpPr/>
          <p:nvPr/>
        </p:nvSpPr>
        <p:spPr>
          <a:xfrm>
            <a:off x="0" y="6601968"/>
            <a:ext cx="12191695" cy="256032"/>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83680"/>
            <a:ext cx="8229600" cy="256032"/>
          </a:xfrm>
          <a:prstGeom prst="rect">
            <a:avLst/>
          </a:prstGeom>
          <a:noFill/>
        </p:spPr>
        <p:txBody>
          <a:bodyPr wrap="square" lIns="0" tIns="0" rIns="0" bIns="0" anchor="ctr">
            <a:spAutoFit/>
          </a:bodyPr>
          <a:lstStyle/>
          <a:p>
            <a:pPr algn="l">
              <a:spcBef>
                <a:spcPts val="0"/>
              </a:spcBef>
              <a:spcAft>
                <a:spcPts val="600"/>
              </a:spcAft>
            </a:pPr>
            <a:r>
              <a:rPr sz="1000" b="0" i="0">
                <a:solidFill>
                  <a:srgbClr val="FFFFFF"/>
                </a:solidFill>
                <a:latin typeface="Calibri"/>
              </a:rPr>
              <a:t>Time Uncertainty as a First-Class Concept</a:t>
            </a:r>
          </a:p>
        </p:txBody>
      </p:sp>
      <p:sp>
        <p:nvSpPr>
          <p:cNvPr id="7" name="TextBox 6"/>
          <p:cNvSpPr txBox="1"/>
          <p:nvPr/>
        </p:nvSpPr>
        <p:spPr>
          <a:xfrm>
            <a:off x="11002975" y="6583680"/>
            <a:ext cx="731520" cy="256032"/>
          </a:xfrm>
          <a:prstGeom prst="rect">
            <a:avLst/>
          </a:prstGeom>
          <a:noFill/>
        </p:spPr>
        <p:txBody>
          <a:bodyPr wrap="square" lIns="0" tIns="0" rIns="0" bIns="0" anchor="ctr">
            <a:spAutoFit/>
          </a:bodyPr>
          <a:lstStyle/>
          <a:p>
            <a:pPr algn="r">
              <a:spcBef>
                <a:spcPts val="0"/>
              </a:spcBef>
              <a:spcAft>
                <a:spcPts val="600"/>
              </a:spcAft>
            </a:pPr>
            <a:r>
              <a:rPr sz="1000" b="1" i="0">
                <a:solidFill>
                  <a:srgbClr val="FFFFFF"/>
                </a:solidFill>
                <a:latin typeface="Calibri"/>
              </a:rPr>
              <a:t>35</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1143000"/>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0972800" cy="365760"/>
          </a:xfrm>
          <a:prstGeom prst="rect">
            <a:avLst/>
          </a:prstGeom>
          <a:noFill/>
        </p:spPr>
        <p:txBody>
          <a:bodyPr wrap="square" lIns="0" tIns="0" rIns="0" bIns="0" anchor="t">
            <a:spAutoFit/>
          </a:bodyPr>
          <a:lstStyle/>
          <a:p>
            <a:pPr algn="l">
              <a:spcBef>
                <a:spcPts val="0"/>
              </a:spcBef>
              <a:spcAft>
                <a:spcPts val="600"/>
              </a:spcAft>
            </a:pPr>
            <a:r>
              <a:rPr sz="1300" b="1" i="0">
                <a:solidFill>
                  <a:srgbClr val="2E6BE6"/>
                </a:solidFill>
                <a:latin typeface="Calibri"/>
              </a:rPr>
              <a:t>THE FULL STORY</a:t>
            </a:r>
          </a:p>
        </p:txBody>
      </p:sp>
      <p:sp>
        <p:nvSpPr>
          <p:cNvPr id="4" name="TextBox 3"/>
          <p:cNvSpPr txBox="1"/>
          <p:nvPr/>
        </p:nvSpPr>
        <p:spPr>
          <a:xfrm>
            <a:off x="502920" y="566928"/>
            <a:ext cx="11155680" cy="822960"/>
          </a:xfrm>
          <a:prstGeom prst="rect">
            <a:avLst/>
          </a:prstGeom>
          <a:noFill/>
        </p:spPr>
        <p:txBody>
          <a:bodyPr wrap="square" lIns="0" tIns="0" rIns="0" bIns="0" anchor="t">
            <a:spAutoFit/>
          </a:bodyPr>
          <a:lstStyle/>
          <a:p>
            <a:pPr algn="l">
              <a:spcBef>
                <a:spcPts val="0"/>
              </a:spcBef>
              <a:spcAft>
                <a:spcPts val="600"/>
              </a:spcAft>
            </a:pPr>
            <a:r>
              <a:rPr sz="3000" b="1" i="0">
                <a:solidFill>
                  <a:srgbClr val="1A1D29"/>
                </a:solidFill>
                <a:latin typeface="Calibri"/>
              </a:rPr>
              <a:t>Fast time + its uncertainty compose</a:t>
            </a:r>
          </a:p>
        </p:txBody>
      </p:sp>
      <p:graphicFrame>
        <p:nvGraphicFramePr>
          <p:cNvPr id="5" name="Table 4"/>
          <p:cNvGraphicFramePr>
            <a:graphicFrameLocks noGrp="1"/>
          </p:cNvGraphicFramePr>
          <p:nvPr/>
        </p:nvGraphicFramePr>
        <p:xfrm>
          <a:off x="640080" y="1645920"/>
          <a:ext cx="10881360" cy="2743200"/>
        </p:xfrm>
        <a:graphic>
          <a:graphicData uri="http://schemas.openxmlformats.org/drawingml/2006/table">
            <a:tbl>
              <a:tblPr firstRow="1" bandRow="1">
                <a:tableStyleId>{5C22544A-7EE6-4342-B048-85BDC9FD1C3A}</a:tableStyleId>
              </a:tblPr>
              <a:tblGrid>
                <a:gridCol w="3627120">
                  <a:extLst>
                    <a:ext uri="{9D8B030D-6E8A-4147-A177-3AD203B41FA5}">
                      <a16:colId xmlns:a16="http://schemas.microsoft.com/office/drawing/2014/main" val="20000"/>
                    </a:ext>
                  </a:extLst>
                </a:gridCol>
                <a:gridCol w="3627120">
                  <a:extLst>
                    <a:ext uri="{9D8B030D-6E8A-4147-A177-3AD203B41FA5}">
                      <a16:colId xmlns:a16="http://schemas.microsoft.com/office/drawing/2014/main" val="20001"/>
                    </a:ext>
                  </a:extLst>
                </a:gridCol>
                <a:gridCol w="3627120">
                  <a:extLst>
                    <a:ext uri="{9D8B030D-6E8A-4147-A177-3AD203B41FA5}">
                      <a16:colId xmlns:a16="http://schemas.microsoft.com/office/drawing/2014/main" val="20002"/>
                    </a:ext>
                  </a:extLst>
                </a:gridCol>
              </a:tblGrid>
              <a:tr h="457200">
                <a:tc>
                  <a:txBody>
                    <a:bodyPr/>
                    <a:lstStyle/>
                    <a:p>
                      <a:r>
                        <a:rPr sz="1500" b="1">
                          <a:solidFill>
                            <a:srgbClr val="FFFFFF"/>
                          </a:solidFill>
                          <a:latin typeface="Calibri"/>
                        </a:rPr>
                        <a:t>Capability</a:t>
                      </a:r>
                    </a:p>
                  </a:txBody>
                  <a:tcPr marL="109728">
                    <a:solidFill>
                      <a:srgbClr val="2E6BE6"/>
                    </a:solidFill>
                  </a:tcPr>
                </a:tc>
                <a:tc>
                  <a:txBody>
                    <a:bodyPr/>
                    <a:lstStyle/>
                    <a:p>
                      <a:r>
                        <a:rPr sz="1500" b="1">
                          <a:solidFill>
                            <a:srgbClr val="FFFFFF"/>
                          </a:solidFill>
                          <a:latin typeface="Calibri"/>
                        </a:rPr>
                        <a:t>Fast read alone</a:t>
                      </a:r>
                    </a:p>
                  </a:txBody>
                  <a:tcPr marL="109728">
                    <a:solidFill>
                      <a:srgbClr val="2E6BE6"/>
                    </a:solidFill>
                  </a:tcPr>
                </a:tc>
                <a:tc>
                  <a:txBody>
                    <a:bodyPr/>
                    <a:lstStyle/>
                    <a:p>
                      <a:r>
                        <a:rPr sz="1500" b="1">
                          <a:solidFill>
                            <a:srgbClr val="FFFFFF"/>
                          </a:solidFill>
                          <a:latin typeface="Calibri"/>
                        </a:rPr>
                        <a:t>+ uncertainty</a:t>
                      </a:r>
                    </a:p>
                  </a:txBody>
                  <a:tcPr marL="109728">
                    <a:solidFill>
                      <a:srgbClr val="2E6BE6"/>
                    </a:solidFill>
                  </a:tcPr>
                </a:tc>
                <a:extLst>
                  <a:ext uri="{0D108BD9-81ED-4DB2-BD59-A6C34878D82A}">
                    <a16:rowId xmlns:a16="http://schemas.microsoft.com/office/drawing/2014/main" val="10000"/>
                  </a:ext>
                </a:extLst>
              </a:tr>
              <a:tr h="457200">
                <a:tc>
                  <a:txBody>
                    <a:bodyPr/>
                    <a:lstStyle/>
                    <a:p>
                      <a:r>
                        <a:rPr sz="1350" b="1">
                          <a:solidFill>
                            <a:srgbClr val="1A1D29"/>
                          </a:solidFill>
                          <a:latin typeface="Calibri"/>
                        </a:rPr>
                        <a:t>Low-overhead timestamp</a:t>
                      </a:r>
                    </a:p>
                  </a:txBody>
                  <a:tcPr marL="109728" marT="36576" marB="36576">
                    <a:solidFill>
                      <a:srgbClr val="FFFFFF"/>
                    </a:solidFill>
                  </a:tcPr>
                </a:tc>
                <a:tc>
                  <a:txBody>
                    <a:bodyPr/>
                    <a:lstStyle/>
                    <a:p>
                      <a:r>
                        <a:rPr sz="1350" b="0">
                          <a:solidFill>
                            <a:srgbClr val="5B6172"/>
                          </a:solidFill>
                          <a:latin typeface="Calibri"/>
                        </a:rPr>
                        <a:t>yes</a:t>
                      </a:r>
                    </a:p>
                  </a:txBody>
                  <a:tcPr marL="109728" marT="36576" marB="36576">
                    <a:solidFill>
                      <a:srgbClr val="FFFFFF"/>
                    </a:solidFill>
                  </a:tcPr>
                </a:tc>
                <a:tc>
                  <a:txBody>
                    <a:bodyPr/>
                    <a:lstStyle/>
                    <a:p>
                      <a:r>
                        <a:rPr sz="1350" b="0">
                          <a:solidFill>
                            <a:srgbClr val="5B6172"/>
                          </a:solidFill>
                          <a:latin typeface="Calibri"/>
                        </a:rPr>
                        <a:t>yes</a:t>
                      </a:r>
                    </a:p>
                  </a:txBody>
                  <a:tcPr marL="109728" marT="36576" marB="36576">
                    <a:solidFill>
                      <a:srgbClr val="FFFFFF"/>
                    </a:solidFill>
                  </a:tcPr>
                </a:tc>
                <a:extLst>
                  <a:ext uri="{0D108BD9-81ED-4DB2-BD59-A6C34878D82A}">
                    <a16:rowId xmlns:a16="http://schemas.microsoft.com/office/drawing/2014/main" val="10001"/>
                  </a:ext>
                </a:extLst>
              </a:tr>
              <a:tr h="457200">
                <a:tc>
                  <a:txBody>
                    <a:bodyPr/>
                    <a:lstStyle/>
                    <a:p>
                      <a:r>
                        <a:rPr sz="1350" b="1">
                          <a:solidFill>
                            <a:srgbClr val="1A1D29"/>
                          </a:solidFill>
                          <a:latin typeface="Calibri"/>
                        </a:rPr>
                        <a:t>Compare two events</a:t>
                      </a:r>
                    </a:p>
                  </a:txBody>
                  <a:tcPr marL="109728" marT="36576" marB="36576">
                    <a:solidFill>
                      <a:srgbClr val="EDF1FB"/>
                    </a:solidFill>
                  </a:tcPr>
                </a:tc>
                <a:tc>
                  <a:txBody>
                    <a:bodyPr/>
                    <a:lstStyle/>
                    <a:p>
                      <a:r>
                        <a:rPr sz="1350" b="0">
                          <a:solidFill>
                            <a:srgbClr val="5B6172"/>
                          </a:solidFill>
                          <a:latin typeface="Calibri"/>
                        </a:rPr>
                        <a:t>point compare</a:t>
                      </a:r>
                    </a:p>
                  </a:txBody>
                  <a:tcPr marL="109728" marT="36576" marB="36576">
                    <a:solidFill>
                      <a:srgbClr val="EDF1FB"/>
                    </a:solidFill>
                  </a:tcPr>
                </a:tc>
                <a:tc>
                  <a:txBody>
                    <a:bodyPr/>
                    <a:lstStyle/>
                    <a:p>
                      <a:r>
                        <a:rPr sz="1350" b="0">
                          <a:solidFill>
                            <a:srgbClr val="5B6172"/>
                          </a:solidFill>
                          <a:latin typeface="Calibri"/>
                        </a:rPr>
                        <a:t>interval compare</a:t>
                      </a:r>
                    </a:p>
                  </a:txBody>
                  <a:tcPr marL="109728" marT="36576" marB="36576">
                    <a:solidFill>
                      <a:srgbClr val="EDF1FB"/>
                    </a:solidFill>
                  </a:tcPr>
                </a:tc>
                <a:extLst>
                  <a:ext uri="{0D108BD9-81ED-4DB2-BD59-A6C34878D82A}">
                    <a16:rowId xmlns:a16="http://schemas.microsoft.com/office/drawing/2014/main" val="10002"/>
                  </a:ext>
                </a:extLst>
              </a:tr>
              <a:tr h="457200">
                <a:tc>
                  <a:txBody>
                    <a:bodyPr/>
                    <a:lstStyle/>
                    <a:p>
                      <a:r>
                        <a:rPr sz="1350" b="1">
                          <a:solidFill>
                            <a:srgbClr val="1A1D29"/>
                          </a:solidFill>
                          <a:latin typeface="Calibri"/>
                        </a:rPr>
                        <a:t>Know when order is ambiguous</a:t>
                      </a:r>
                    </a:p>
                  </a:txBody>
                  <a:tcPr marL="109728" marT="36576" marB="36576">
                    <a:solidFill>
                      <a:srgbClr val="FFFFFF"/>
                    </a:solidFill>
                  </a:tcPr>
                </a:tc>
                <a:tc>
                  <a:txBody>
                    <a:bodyPr/>
                    <a:lstStyle/>
                    <a:p>
                      <a:r>
                        <a:rPr sz="1350" b="0">
                          <a:solidFill>
                            <a:srgbClr val="5B6172"/>
                          </a:solidFill>
                          <a:latin typeface="Calibri"/>
                        </a:rPr>
                        <a:t>no</a:t>
                      </a:r>
                    </a:p>
                  </a:txBody>
                  <a:tcPr marL="109728" marT="36576" marB="36576">
                    <a:solidFill>
                      <a:srgbClr val="FFFFFF"/>
                    </a:solidFill>
                  </a:tcPr>
                </a:tc>
                <a:tc>
                  <a:txBody>
                    <a:bodyPr/>
                    <a:lstStyle/>
                    <a:p>
                      <a:r>
                        <a:rPr sz="1350" b="0">
                          <a:solidFill>
                            <a:srgbClr val="5B6172"/>
                          </a:solidFill>
                          <a:latin typeface="Calibri"/>
                        </a:rPr>
                        <a:t>explicit</a:t>
                      </a:r>
                    </a:p>
                  </a:txBody>
                  <a:tcPr marL="109728" marT="36576" marB="36576">
                    <a:solidFill>
                      <a:srgbClr val="FFFFFF"/>
                    </a:solidFill>
                  </a:tcPr>
                </a:tc>
                <a:extLst>
                  <a:ext uri="{0D108BD9-81ED-4DB2-BD59-A6C34878D82A}">
                    <a16:rowId xmlns:a16="http://schemas.microsoft.com/office/drawing/2014/main" val="10003"/>
                  </a:ext>
                </a:extLst>
              </a:tr>
              <a:tr h="457200">
                <a:tc>
                  <a:txBody>
                    <a:bodyPr/>
                    <a:lstStyle/>
                    <a:p>
                      <a:r>
                        <a:rPr sz="1350" b="1">
                          <a:solidFill>
                            <a:srgbClr val="1A1D29"/>
                          </a:solidFill>
                          <a:latin typeface="Calibri"/>
                        </a:rPr>
                        <a:t>Gate decisions on trust</a:t>
                      </a:r>
                    </a:p>
                  </a:txBody>
                  <a:tcPr marL="109728" marT="36576" marB="36576">
                    <a:solidFill>
                      <a:srgbClr val="EDF1FB"/>
                    </a:solidFill>
                  </a:tcPr>
                </a:tc>
                <a:tc>
                  <a:txBody>
                    <a:bodyPr/>
                    <a:lstStyle/>
                    <a:p>
                      <a:r>
                        <a:rPr sz="1350" b="0">
                          <a:solidFill>
                            <a:srgbClr val="5B6172"/>
                          </a:solidFill>
                          <a:latin typeface="Calibri"/>
                        </a:rPr>
                        <a:t>no</a:t>
                      </a:r>
                    </a:p>
                  </a:txBody>
                  <a:tcPr marL="109728" marT="36576" marB="36576">
                    <a:solidFill>
                      <a:srgbClr val="EDF1FB"/>
                    </a:solidFill>
                  </a:tcPr>
                </a:tc>
                <a:tc>
                  <a:txBody>
                    <a:bodyPr/>
                    <a:lstStyle/>
                    <a:p>
                      <a:r>
                        <a:rPr sz="1350" b="0">
                          <a:solidFill>
                            <a:srgbClr val="5B6172"/>
                          </a:solidFill>
                          <a:latin typeface="Calibri"/>
                        </a:rPr>
                        <a:t>threshold on U</a:t>
                      </a:r>
                    </a:p>
                  </a:txBody>
                  <a:tcPr marL="109728" marT="36576" marB="36576">
                    <a:solidFill>
                      <a:srgbClr val="EDF1FB"/>
                    </a:solidFill>
                  </a:tcPr>
                </a:tc>
                <a:extLst>
                  <a:ext uri="{0D108BD9-81ED-4DB2-BD59-A6C34878D82A}">
                    <a16:rowId xmlns:a16="http://schemas.microsoft.com/office/drawing/2014/main" val="10004"/>
                  </a:ext>
                </a:extLst>
              </a:tr>
              <a:tr h="457200">
                <a:tc>
                  <a:txBody>
                    <a:bodyPr/>
                    <a:lstStyle/>
                    <a:p>
                      <a:r>
                        <a:rPr sz="1350" b="1">
                          <a:solidFill>
                            <a:srgbClr val="1A1D29"/>
                          </a:solidFill>
                          <a:latin typeface="Calibri"/>
                        </a:rPr>
                        <a:t>Merge / correlation window</a:t>
                      </a:r>
                    </a:p>
                  </a:txBody>
                  <a:tcPr marL="109728" marT="36576" marB="36576">
                    <a:solidFill>
                      <a:srgbClr val="FFFFFF"/>
                    </a:solidFill>
                  </a:tcPr>
                </a:tc>
                <a:tc>
                  <a:txBody>
                    <a:bodyPr/>
                    <a:lstStyle/>
                    <a:p>
                      <a:r>
                        <a:rPr sz="1350" b="0">
                          <a:solidFill>
                            <a:srgbClr val="5B6172"/>
                          </a:solidFill>
                          <a:latin typeface="Calibri"/>
                        </a:rPr>
                        <a:t>fixed</a:t>
                      </a:r>
                    </a:p>
                  </a:txBody>
                  <a:tcPr marL="109728" marT="36576" marB="36576">
                    <a:solidFill>
                      <a:srgbClr val="FFFFFF"/>
                    </a:solidFill>
                  </a:tcPr>
                </a:tc>
                <a:tc>
                  <a:txBody>
                    <a:bodyPr/>
                    <a:lstStyle/>
                    <a:p>
                      <a:r>
                        <a:rPr sz="1350" b="0">
                          <a:solidFill>
                            <a:srgbClr val="5B6172"/>
                          </a:solidFill>
                          <a:latin typeface="Calibri"/>
                        </a:rPr>
                        <a:t>adapts to live U</a:t>
                      </a:r>
                    </a:p>
                  </a:txBody>
                  <a:tcPr marL="109728" marT="36576" marB="36576">
                    <a:solidFill>
                      <a:srgbClr val="FFFFFF"/>
                    </a:solidFill>
                  </a:tcPr>
                </a:tc>
                <a:extLst>
                  <a:ext uri="{0D108BD9-81ED-4DB2-BD59-A6C34878D82A}">
                    <a16:rowId xmlns:a16="http://schemas.microsoft.com/office/drawing/2014/main" val="10005"/>
                  </a:ext>
                </a:extLst>
              </a:tr>
            </a:tbl>
          </a:graphicData>
        </a:graphic>
      </p:graphicFrame>
      <p:sp>
        <p:nvSpPr>
          <p:cNvPr id="6" name="Rectangle 5"/>
          <p:cNvSpPr/>
          <p:nvPr/>
        </p:nvSpPr>
        <p:spPr>
          <a:xfrm>
            <a:off x="0" y="6601968"/>
            <a:ext cx="12191695" cy="256032"/>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83680"/>
            <a:ext cx="8229600" cy="256032"/>
          </a:xfrm>
          <a:prstGeom prst="rect">
            <a:avLst/>
          </a:prstGeom>
          <a:noFill/>
        </p:spPr>
        <p:txBody>
          <a:bodyPr wrap="square" lIns="0" tIns="0" rIns="0" bIns="0" anchor="ctr">
            <a:spAutoFit/>
          </a:bodyPr>
          <a:lstStyle/>
          <a:p>
            <a:pPr algn="l">
              <a:spcBef>
                <a:spcPts val="0"/>
              </a:spcBef>
              <a:spcAft>
                <a:spcPts val="600"/>
              </a:spcAft>
            </a:pPr>
            <a:r>
              <a:rPr sz="1000" b="0" i="0">
                <a:solidFill>
                  <a:srgbClr val="FFFFFF"/>
                </a:solidFill>
                <a:latin typeface="Calibri"/>
              </a:rPr>
              <a:t>Time Uncertainty as a First-Class Concept</a:t>
            </a:r>
          </a:p>
        </p:txBody>
      </p:sp>
      <p:sp>
        <p:nvSpPr>
          <p:cNvPr id="8" name="TextBox 7"/>
          <p:cNvSpPr txBox="1"/>
          <p:nvPr/>
        </p:nvSpPr>
        <p:spPr>
          <a:xfrm>
            <a:off x="11002975" y="6583680"/>
            <a:ext cx="731520" cy="256032"/>
          </a:xfrm>
          <a:prstGeom prst="rect">
            <a:avLst/>
          </a:prstGeom>
          <a:noFill/>
        </p:spPr>
        <p:txBody>
          <a:bodyPr wrap="square" lIns="0" tIns="0" rIns="0" bIns="0" anchor="ctr">
            <a:spAutoFit/>
          </a:bodyPr>
          <a:lstStyle/>
          <a:p>
            <a:pPr algn="r">
              <a:spcBef>
                <a:spcPts val="0"/>
              </a:spcBef>
              <a:spcAft>
                <a:spcPts val="600"/>
              </a:spcAft>
            </a:pPr>
            <a:r>
              <a:rPr sz="1000" b="1" i="0">
                <a:solidFill>
                  <a:srgbClr val="FFFFFF"/>
                </a:solidFill>
                <a:latin typeface="Calibri"/>
              </a:rPr>
              <a:t>36</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2E6BE6"/>
        </a:solidFill>
        <a:effectLst/>
      </p:bgPr>
    </p:bg>
    <p:spTree>
      <p:nvGrpSpPr>
        <p:cNvPr id="1" name=""/>
        <p:cNvGrpSpPr/>
        <p:nvPr/>
      </p:nvGrpSpPr>
      <p:grpSpPr>
        <a:xfrm>
          <a:off x="0" y="0"/>
          <a:ext cx="0" cy="0"/>
          <a:chOff x="0" y="0"/>
          <a:chExt cx="0" cy="0"/>
        </a:xfrm>
      </p:grpSpPr>
      <p:sp>
        <p:nvSpPr>
          <p:cNvPr id="2" name="Rectangle 1"/>
          <p:cNvSpPr/>
          <p:nvPr/>
        </p:nvSpPr>
        <p:spPr>
          <a:xfrm>
            <a:off x="0" y="2468880"/>
            <a:ext cx="3200400" cy="9144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1828800"/>
            <a:ext cx="10058400" cy="548640"/>
          </a:xfrm>
          <a:prstGeom prst="rect">
            <a:avLst/>
          </a:prstGeom>
          <a:noFill/>
        </p:spPr>
        <p:txBody>
          <a:bodyPr wrap="square" lIns="0" tIns="0" rIns="0" bIns="0" anchor="t">
            <a:spAutoFit/>
          </a:bodyPr>
          <a:lstStyle/>
          <a:p>
            <a:pPr algn="l">
              <a:spcBef>
                <a:spcPts val="0"/>
              </a:spcBef>
              <a:spcAft>
                <a:spcPts val="600"/>
              </a:spcAft>
            </a:pPr>
            <a:r>
              <a:rPr sz="2000" b="1" i="0">
                <a:solidFill>
                  <a:srgbClr val="C7D2F0"/>
                </a:solidFill>
                <a:latin typeface="Calibri"/>
              </a:rPr>
              <a:t>PART 8</a:t>
            </a:r>
          </a:p>
        </p:txBody>
      </p:sp>
      <p:sp>
        <p:nvSpPr>
          <p:cNvPr id="4" name="TextBox 3"/>
          <p:cNvSpPr txBox="1"/>
          <p:nvPr/>
        </p:nvSpPr>
        <p:spPr>
          <a:xfrm>
            <a:off x="804672" y="2697480"/>
            <a:ext cx="10515600" cy="1828800"/>
          </a:xfrm>
          <a:prstGeom prst="rect">
            <a:avLst/>
          </a:prstGeom>
          <a:noFill/>
        </p:spPr>
        <p:txBody>
          <a:bodyPr wrap="square" lIns="0" tIns="0" rIns="0" bIns="0" anchor="t">
            <a:spAutoFit/>
          </a:bodyPr>
          <a:lstStyle/>
          <a:p>
            <a:pPr algn="l">
              <a:spcBef>
                <a:spcPts val="0"/>
              </a:spcBef>
              <a:spcAft>
                <a:spcPts val="600"/>
              </a:spcAft>
            </a:pPr>
            <a:r>
              <a:rPr sz="4000" b="1" i="0">
                <a:solidFill>
                  <a:srgbClr val="FFFFFF"/>
                </a:solidFill>
                <a:latin typeface="Calibri"/>
              </a:rPr>
              <a:t>Linux APIs: what we have, what we lack</a:t>
            </a:r>
          </a:p>
        </p:txBody>
      </p:sp>
      <p:sp>
        <p:nvSpPr>
          <p:cNvPr id="5" name="TextBox 4"/>
          <p:cNvSpPr txBox="1"/>
          <p:nvPr/>
        </p:nvSpPr>
        <p:spPr>
          <a:xfrm>
            <a:off x="11002975" y="6263640"/>
            <a:ext cx="822960" cy="365760"/>
          </a:xfrm>
          <a:prstGeom prst="rect">
            <a:avLst/>
          </a:prstGeom>
          <a:noFill/>
        </p:spPr>
        <p:txBody>
          <a:bodyPr wrap="square" lIns="0" tIns="0" rIns="0" bIns="0" anchor="t">
            <a:spAutoFit/>
          </a:bodyPr>
          <a:lstStyle/>
          <a:p>
            <a:pPr algn="r">
              <a:spcBef>
                <a:spcPts val="0"/>
              </a:spcBef>
              <a:spcAft>
                <a:spcPts val="600"/>
              </a:spcAft>
            </a:pPr>
            <a:r>
              <a:rPr sz="1200" b="1" i="0">
                <a:solidFill>
                  <a:srgbClr val="FFFFFF"/>
                </a:solidFill>
                <a:latin typeface="Calibri"/>
              </a:rPr>
              <a:t>37</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1143000"/>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0972800" cy="365760"/>
          </a:xfrm>
          <a:prstGeom prst="rect">
            <a:avLst/>
          </a:prstGeom>
          <a:noFill/>
        </p:spPr>
        <p:txBody>
          <a:bodyPr wrap="square" lIns="0" tIns="0" rIns="0" bIns="0" anchor="t">
            <a:spAutoFit/>
          </a:bodyPr>
          <a:lstStyle/>
          <a:p>
            <a:pPr algn="l">
              <a:spcBef>
                <a:spcPts val="0"/>
              </a:spcBef>
              <a:spcAft>
                <a:spcPts val="600"/>
              </a:spcAft>
            </a:pPr>
            <a:r>
              <a:rPr sz="1300" b="1" i="0">
                <a:solidFill>
                  <a:srgbClr val="2E6BE6"/>
                </a:solidFill>
                <a:latin typeface="Calibri"/>
              </a:rPr>
              <a:t>KERNEL LIMITS</a:t>
            </a:r>
          </a:p>
        </p:txBody>
      </p:sp>
      <p:sp>
        <p:nvSpPr>
          <p:cNvPr id="4" name="TextBox 3"/>
          <p:cNvSpPr txBox="1"/>
          <p:nvPr/>
        </p:nvSpPr>
        <p:spPr>
          <a:xfrm>
            <a:off x="502920" y="566928"/>
            <a:ext cx="11155680" cy="822960"/>
          </a:xfrm>
          <a:prstGeom prst="rect">
            <a:avLst/>
          </a:prstGeom>
          <a:noFill/>
        </p:spPr>
        <p:txBody>
          <a:bodyPr wrap="square" lIns="0" tIns="0" rIns="0" bIns="0" anchor="t">
            <a:spAutoFit/>
          </a:bodyPr>
          <a:lstStyle/>
          <a:p>
            <a:pPr algn="l">
              <a:spcBef>
                <a:spcPts val="0"/>
              </a:spcBef>
              <a:spcAft>
                <a:spcPts val="600"/>
              </a:spcAft>
            </a:pPr>
            <a:r>
              <a:rPr sz="3000" b="1" i="0">
                <a:solidFill>
                  <a:srgbClr val="1A1D29"/>
                </a:solidFill>
                <a:latin typeface="Calibri"/>
              </a:rPr>
              <a:t>The kernel gives ingredients, not the recipe</a:t>
            </a:r>
          </a:p>
        </p:txBody>
      </p:sp>
      <p:sp>
        <p:nvSpPr>
          <p:cNvPr id="5" name="Rectangle 4"/>
          <p:cNvSpPr/>
          <p:nvPr/>
        </p:nvSpPr>
        <p:spPr>
          <a:xfrm>
            <a:off x="640080" y="1691640"/>
            <a:ext cx="5349240" cy="4297680"/>
          </a:xfrm>
          <a:prstGeom prst="rect">
            <a:avLst/>
          </a:prstGeom>
          <a:solidFill>
            <a:srgbClr val="ED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56232"/>
            <a:ext cx="4892040" cy="457200"/>
          </a:xfrm>
          <a:prstGeom prst="rect">
            <a:avLst/>
          </a:prstGeom>
          <a:noFill/>
        </p:spPr>
        <p:txBody>
          <a:bodyPr wrap="square" lIns="0" tIns="0" rIns="0" bIns="0" anchor="t">
            <a:spAutoFit/>
          </a:bodyPr>
          <a:lstStyle/>
          <a:p>
            <a:pPr algn="l">
              <a:spcBef>
                <a:spcPts val="0"/>
              </a:spcBef>
              <a:spcAft>
                <a:spcPts val="600"/>
              </a:spcAft>
            </a:pPr>
            <a:r>
              <a:rPr sz="1800" b="1" i="0">
                <a:solidFill>
                  <a:srgbClr val="2E6BE6"/>
                </a:solidFill>
                <a:latin typeface="Calibri"/>
              </a:rPr>
              <a:t>Kernel today: raw ingredients</a:t>
            </a:r>
          </a:p>
        </p:txBody>
      </p:sp>
      <p:sp>
        <p:nvSpPr>
          <p:cNvPr id="7" name="TextBox 6"/>
          <p:cNvSpPr txBox="1"/>
          <p:nvPr/>
        </p:nvSpPr>
        <p:spPr>
          <a:xfrm>
            <a:off x="868680" y="2468880"/>
            <a:ext cx="4892040" cy="3291840"/>
          </a:xfrm>
          <a:prstGeom prst="rect">
            <a:avLst/>
          </a:prstGeom>
          <a:noFill/>
        </p:spPr>
        <p:txBody>
          <a:bodyPr wrap="square" lIns="0" tIns="0" rIns="0" bIns="0" anchor="t">
            <a:spAutoFit/>
          </a:bodyPr>
          <a:lstStyle/>
          <a:p>
            <a:pPr algn="l">
              <a:spcBef>
                <a:spcPts val="0"/>
              </a:spcBef>
              <a:spcAft>
                <a:spcPts val="900"/>
              </a:spcAft>
            </a:pPr>
            <a:r>
              <a:rPr sz="1500" b="1" i="0">
                <a:solidFill>
                  <a:srgbClr val="2E6BE6"/>
                </a:solidFill>
                <a:latin typeface="Calibri"/>
              </a:rPr>
              <a:t>•  </a:t>
            </a:r>
            <a:r>
              <a:rPr sz="1500" b="0" i="0">
                <a:solidFill>
                  <a:srgbClr val="1A1D29"/>
                </a:solidFill>
                <a:latin typeface="Calibri"/>
              </a:rPr>
              <a:t>SO_TIMESTAMPING — HW/SW RX/TX timestamps</a:t>
            </a:r>
          </a:p>
          <a:p>
            <a:pPr algn="l">
              <a:spcBef>
                <a:spcPts val="0"/>
              </a:spcBef>
              <a:spcAft>
                <a:spcPts val="900"/>
              </a:spcAft>
            </a:pPr>
            <a:r>
              <a:rPr sz="1500" b="1" i="0">
                <a:solidFill>
                  <a:srgbClr val="2E6BE6"/>
                </a:solidFill>
                <a:latin typeface="Calibri"/>
              </a:rPr>
              <a:t>•  </a:t>
            </a:r>
            <a:r>
              <a:rPr sz="1500" b="0" i="0">
                <a:solidFill>
                  <a:srgbClr val="1A1D29"/>
                </a:solidFill>
                <a:latin typeface="Calibri"/>
              </a:rPr>
              <a:t>PTP_SYS_OFFSET(_EXTENDED) — PHC ↔ system</a:t>
            </a:r>
          </a:p>
          <a:p>
            <a:pPr algn="l">
              <a:spcBef>
                <a:spcPts val="0"/>
              </a:spcBef>
              <a:spcAft>
                <a:spcPts val="900"/>
              </a:spcAft>
            </a:pPr>
            <a:r>
              <a:rPr sz="1500" b="1" i="0">
                <a:solidFill>
                  <a:srgbClr val="2E6BE6"/>
                </a:solidFill>
                <a:latin typeface="Calibri"/>
              </a:rPr>
              <a:t>•  </a:t>
            </a:r>
            <a:r>
              <a:rPr sz="1500" b="0" i="0">
                <a:solidFill>
                  <a:srgbClr val="1A1D29"/>
                </a:solidFill>
                <a:latin typeface="Calibri"/>
              </a:rPr>
              <a:t>/dev/ptpN — freq adjust, ext timestamps</a:t>
            </a:r>
          </a:p>
          <a:p>
            <a:pPr algn="l">
              <a:spcBef>
                <a:spcPts val="0"/>
              </a:spcBef>
              <a:spcAft>
                <a:spcPts val="900"/>
              </a:spcAft>
            </a:pPr>
            <a:r>
              <a:rPr sz="1500" b="1" i="0">
                <a:solidFill>
                  <a:srgbClr val="2E6BE6"/>
                </a:solidFill>
                <a:latin typeface="Calibri"/>
              </a:rPr>
              <a:t>•  </a:t>
            </a:r>
            <a:r>
              <a:rPr sz="1500" b="0" i="0">
                <a:solidFill>
                  <a:srgbClr val="1A1D29"/>
                </a:solidFill>
                <a:latin typeface="Calibri"/>
              </a:rPr>
              <a:t>sync state lives only in ptp4l userspace</a:t>
            </a:r>
          </a:p>
        </p:txBody>
      </p:sp>
      <p:sp>
        <p:nvSpPr>
          <p:cNvPr id="8" name="Rectangle 7"/>
          <p:cNvSpPr/>
          <p:nvPr/>
        </p:nvSpPr>
        <p:spPr>
          <a:xfrm>
            <a:off x="6355080" y="1691640"/>
            <a:ext cx="5349240" cy="4297680"/>
          </a:xfrm>
          <a:prstGeom prst="rect">
            <a:avLst/>
          </a:prstGeom>
          <a:solidFill>
            <a:srgbClr val="EA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0" y="1856232"/>
            <a:ext cx="4892040" cy="457200"/>
          </a:xfrm>
          <a:prstGeom prst="rect">
            <a:avLst/>
          </a:prstGeom>
          <a:noFill/>
        </p:spPr>
        <p:txBody>
          <a:bodyPr wrap="square" lIns="0" tIns="0" rIns="0" bIns="0" anchor="t">
            <a:spAutoFit/>
          </a:bodyPr>
          <a:lstStyle/>
          <a:p>
            <a:pPr algn="l">
              <a:spcBef>
                <a:spcPts val="0"/>
              </a:spcBef>
              <a:spcAft>
                <a:spcPts val="600"/>
              </a:spcAft>
            </a:pPr>
            <a:r>
              <a:rPr sz="1800" b="1" i="0">
                <a:solidFill>
                  <a:srgbClr val="14B8A6"/>
                </a:solidFill>
                <a:latin typeface="Calibri"/>
              </a:rPr>
              <a:t>Missing: a coherent clock-state snapshot</a:t>
            </a:r>
          </a:p>
        </p:txBody>
      </p:sp>
      <p:sp>
        <p:nvSpPr>
          <p:cNvPr id="10" name="TextBox 9"/>
          <p:cNvSpPr txBox="1"/>
          <p:nvPr/>
        </p:nvSpPr>
        <p:spPr>
          <a:xfrm>
            <a:off x="6583680" y="2468880"/>
            <a:ext cx="4892040" cy="3291840"/>
          </a:xfrm>
          <a:prstGeom prst="rect">
            <a:avLst/>
          </a:prstGeom>
          <a:noFill/>
        </p:spPr>
        <p:txBody>
          <a:bodyPr wrap="square" lIns="0" tIns="0" rIns="0" bIns="0" anchor="t">
            <a:spAutoFit/>
          </a:bodyPr>
          <a:lstStyle/>
          <a:p>
            <a:pPr algn="l">
              <a:spcBef>
                <a:spcPts val="0"/>
              </a:spcBef>
              <a:spcAft>
                <a:spcPts val="900"/>
              </a:spcAft>
            </a:pPr>
            <a:r>
              <a:rPr sz="1500" b="1" i="0" dirty="0">
                <a:solidFill>
                  <a:srgbClr val="14B8A6"/>
                </a:solidFill>
                <a:latin typeface="Calibri"/>
              </a:rPr>
              <a:t>•  </a:t>
            </a:r>
            <a:r>
              <a:rPr sz="1500" b="0" i="0" dirty="0">
                <a:solidFill>
                  <a:srgbClr val="1A1D29"/>
                </a:solidFill>
                <a:latin typeface="Calibri"/>
              </a:rPr>
              <a:t>one atomic read at a defined epoch</a:t>
            </a:r>
          </a:p>
          <a:p>
            <a:pPr algn="l">
              <a:spcBef>
                <a:spcPts val="0"/>
              </a:spcBef>
              <a:spcAft>
                <a:spcPts val="900"/>
              </a:spcAft>
            </a:pPr>
            <a:r>
              <a:rPr sz="1500" b="1" i="0" dirty="0">
                <a:solidFill>
                  <a:srgbClr val="14B8A6"/>
                </a:solidFill>
                <a:latin typeface="Calibri"/>
              </a:rPr>
              <a:t>•  </a:t>
            </a:r>
            <a:r>
              <a:rPr sz="1500" b="0" i="0" dirty="0" err="1">
                <a:solidFill>
                  <a:srgbClr val="1A1D29"/>
                </a:solidFill>
                <a:latin typeface="Calibri"/>
              </a:rPr>
              <a:t>master_offset_ns</a:t>
            </a:r>
            <a:r>
              <a:rPr sz="1500" b="0" i="0" dirty="0">
                <a:solidFill>
                  <a:srgbClr val="1A1D29"/>
                </a:solidFill>
                <a:latin typeface="Calibri"/>
              </a:rPr>
              <a:t> + </a:t>
            </a:r>
            <a:r>
              <a:rPr sz="1500" b="0" i="0" dirty="0" err="1">
                <a:solidFill>
                  <a:srgbClr val="1A1D29"/>
                </a:solidFill>
                <a:latin typeface="Calibri"/>
              </a:rPr>
              <a:t>ingress_time_ns</a:t>
            </a:r>
            <a:r>
              <a:rPr sz="1500" b="0" i="0" dirty="0">
                <a:solidFill>
                  <a:srgbClr val="1A1D29"/>
                </a:solidFill>
                <a:latin typeface="Calibri"/>
              </a:rPr>
              <a:t> (anchor)</a:t>
            </a:r>
          </a:p>
          <a:p>
            <a:pPr algn="l">
              <a:spcBef>
                <a:spcPts val="0"/>
              </a:spcBef>
              <a:spcAft>
                <a:spcPts val="900"/>
              </a:spcAft>
            </a:pPr>
            <a:r>
              <a:rPr sz="1500" b="1" i="0" dirty="0">
                <a:solidFill>
                  <a:srgbClr val="14B8A6"/>
                </a:solidFill>
                <a:latin typeface="Calibri"/>
              </a:rPr>
              <a:t>•  </a:t>
            </a:r>
            <a:r>
              <a:rPr sz="1500" b="0" i="0" dirty="0" err="1">
                <a:solidFill>
                  <a:srgbClr val="1A1D29"/>
                </a:solidFill>
                <a:latin typeface="Calibri"/>
              </a:rPr>
              <a:t>max_drift_ppb</a:t>
            </a:r>
            <a:r>
              <a:rPr sz="1500" b="0" i="0" dirty="0">
                <a:solidFill>
                  <a:srgbClr val="1A1D29"/>
                </a:solidFill>
                <a:latin typeface="Calibri"/>
              </a:rPr>
              <a:t> — assumed frequency-error bound</a:t>
            </a:r>
          </a:p>
          <a:p>
            <a:pPr algn="l">
              <a:spcBef>
                <a:spcPts val="0"/>
              </a:spcBef>
              <a:spcAft>
                <a:spcPts val="900"/>
              </a:spcAft>
            </a:pPr>
            <a:r>
              <a:rPr sz="1500" b="1" i="0" dirty="0">
                <a:solidFill>
                  <a:srgbClr val="14B8A6"/>
                </a:solidFill>
                <a:latin typeface="Calibri"/>
              </a:rPr>
              <a:t>•  </a:t>
            </a:r>
            <a:r>
              <a:rPr sz="1500" b="0" i="0" dirty="0" err="1">
                <a:solidFill>
                  <a:srgbClr val="1A1D29"/>
                </a:solidFill>
                <a:latin typeface="Calibri"/>
              </a:rPr>
              <a:t>gm_id</a:t>
            </a:r>
            <a:r>
              <a:rPr sz="1500" b="0" i="0" dirty="0">
                <a:solidFill>
                  <a:srgbClr val="1A1D29"/>
                </a:solidFill>
                <a:latin typeface="Calibri"/>
              </a:rPr>
              <a:t> + </a:t>
            </a:r>
            <a:r>
              <a:rPr sz="1500" b="0" i="0" dirty="0" err="1">
                <a:solidFill>
                  <a:srgbClr val="1A1D29"/>
                </a:solidFill>
                <a:latin typeface="Calibri"/>
              </a:rPr>
              <a:t>steps_removed</a:t>
            </a:r>
            <a:r>
              <a:rPr sz="1500" b="0" i="0" dirty="0">
                <a:solidFill>
                  <a:srgbClr val="1A1D29"/>
                </a:solidFill>
                <a:latin typeface="Calibri"/>
              </a:rPr>
              <a:t> (per-hop = policy, not a bound)</a:t>
            </a:r>
          </a:p>
          <a:p>
            <a:pPr algn="l">
              <a:spcBef>
                <a:spcPts val="0"/>
              </a:spcBef>
              <a:spcAft>
                <a:spcPts val="900"/>
              </a:spcAft>
            </a:pPr>
            <a:r>
              <a:rPr sz="1500" b="1" i="0" dirty="0">
                <a:solidFill>
                  <a:srgbClr val="14B8A6"/>
                </a:solidFill>
                <a:latin typeface="Calibri"/>
              </a:rPr>
              <a:t>•  </a:t>
            </a:r>
            <a:r>
              <a:rPr sz="1500" b="0" i="0" dirty="0">
                <a:solidFill>
                  <a:srgbClr val="1A1D29"/>
                </a:solidFill>
                <a:latin typeface="Calibri"/>
              </a:rPr>
              <a:t>→ enough metadata to derive U under stated assumptions</a:t>
            </a:r>
          </a:p>
        </p:txBody>
      </p:sp>
      <p:sp>
        <p:nvSpPr>
          <p:cNvPr id="11" name="Rectangle 10"/>
          <p:cNvSpPr/>
          <p:nvPr/>
        </p:nvSpPr>
        <p:spPr>
          <a:xfrm>
            <a:off x="0" y="6601968"/>
            <a:ext cx="12191695" cy="256032"/>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6583680"/>
            <a:ext cx="8229600" cy="256032"/>
          </a:xfrm>
          <a:prstGeom prst="rect">
            <a:avLst/>
          </a:prstGeom>
          <a:noFill/>
        </p:spPr>
        <p:txBody>
          <a:bodyPr wrap="square" lIns="0" tIns="0" rIns="0" bIns="0" anchor="ctr">
            <a:spAutoFit/>
          </a:bodyPr>
          <a:lstStyle/>
          <a:p>
            <a:pPr algn="l">
              <a:spcBef>
                <a:spcPts val="0"/>
              </a:spcBef>
              <a:spcAft>
                <a:spcPts val="600"/>
              </a:spcAft>
            </a:pPr>
            <a:r>
              <a:rPr sz="1000" b="0" i="0">
                <a:solidFill>
                  <a:srgbClr val="FFFFFF"/>
                </a:solidFill>
                <a:latin typeface="Calibri"/>
              </a:rPr>
              <a:t>Time Uncertainty as a First-Class Concept</a:t>
            </a:r>
          </a:p>
        </p:txBody>
      </p:sp>
      <p:sp>
        <p:nvSpPr>
          <p:cNvPr id="13" name="TextBox 12"/>
          <p:cNvSpPr txBox="1"/>
          <p:nvPr/>
        </p:nvSpPr>
        <p:spPr>
          <a:xfrm>
            <a:off x="11002975" y="6583680"/>
            <a:ext cx="731520" cy="256032"/>
          </a:xfrm>
          <a:prstGeom prst="rect">
            <a:avLst/>
          </a:prstGeom>
          <a:noFill/>
        </p:spPr>
        <p:txBody>
          <a:bodyPr wrap="square" lIns="0" tIns="0" rIns="0" bIns="0" anchor="ctr">
            <a:spAutoFit/>
          </a:bodyPr>
          <a:lstStyle/>
          <a:p>
            <a:pPr algn="r">
              <a:spcBef>
                <a:spcPts val="0"/>
              </a:spcBef>
              <a:spcAft>
                <a:spcPts val="600"/>
              </a:spcAft>
            </a:pPr>
            <a:r>
              <a:rPr sz="1000" b="1" i="0">
                <a:solidFill>
                  <a:srgbClr val="FFFFFF"/>
                </a:solidFill>
                <a:latin typeface="Calibri"/>
              </a:rPr>
              <a:t>38</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1143000"/>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0972800" cy="365760"/>
          </a:xfrm>
          <a:prstGeom prst="rect">
            <a:avLst/>
          </a:prstGeom>
          <a:noFill/>
        </p:spPr>
        <p:txBody>
          <a:bodyPr wrap="square" lIns="0" tIns="0" rIns="0" bIns="0" anchor="t">
            <a:spAutoFit/>
          </a:bodyPr>
          <a:lstStyle/>
          <a:p>
            <a:pPr algn="l">
              <a:spcBef>
                <a:spcPts val="0"/>
              </a:spcBef>
              <a:spcAft>
                <a:spcPts val="600"/>
              </a:spcAft>
            </a:pPr>
            <a:r>
              <a:rPr sz="1300" b="1" i="0">
                <a:solidFill>
                  <a:srgbClr val="2E6BE6"/>
                </a:solidFill>
                <a:latin typeface="Calibri"/>
              </a:rPr>
              <a:t>CLOSING</a:t>
            </a:r>
          </a:p>
        </p:txBody>
      </p:sp>
      <p:sp>
        <p:nvSpPr>
          <p:cNvPr id="4" name="TextBox 3"/>
          <p:cNvSpPr txBox="1"/>
          <p:nvPr/>
        </p:nvSpPr>
        <p:spPr>
          <a:xfrm>
            <a:off x="502920" y="566928"/>
            <a:ext cx="11155680" cy="822960"/>
          </a:xfrm>
          <a:prstGeom prst="rect">
            <a:avLst/>
          </a:prstGeom>
          <a:noFill/>
        </p:spPr>
        <p:txBody>
          <a:bodyPr wrap="square" lIns="0" tIns="0" rIns="0" bIns="0" anchor="t">
            <a:spAutoFit/>
          </a:bodyPr>
          <a:lstStyle/>
          <a:p>
            <a:pPr algn="l">
              <a:spcBef>
                <a:spcPts val="0"/>
              </a:spcBef>
              <a:spcAft>
                <a:spcPts val="600"/>
              </a:spcAft>
            </a:pPr>
            <a:r>
              <a:rPr sz="3000" b="1" i="0">
                <a:solidFill>
                  <a:srgbClr val="1A1D29"/>
                </a:solidFill>
                <a:latin typeface="Calibri"/>
              </a:rPr>
              <a:t>Takeaways</a:t>
            </a:r>
          </a:p>
        </p:txBody>
      </p:sp>
      <p:sp>
        <p:nvSpPr>
          <p:cNvPr id="5" name="TextBox 4"/>
          <p:cNvSpPr txBox="1"/>
          <p:nvPr/>
        </p:nvSpPr>
        <p:spPr>
          <a:xfrm>
            <a:off x="640080" y="1554480"/>
            <a:ext cx="10972800" cy="4754880"/>
          </a:xfrm>
          <a:prstGeom prst="rect">
            <a:avLst/>
          </a:prstGeom>
          <a:noFill/>
        </p:spPr>
        <p:txBody>
          <a:bodyPr wrap="square" lIns="0" tIns="0" rIns="0" bIns="0" anchor="t">
            <a:spAutoFit/>
          </a:bodyPr>
          <a:lstStyle/>
          <a:p>
            <a:pPr algn="l">
              <a:spcBef>
                <a:spcPts val="0"/>
              </a:spcBef>
              <a:spcAft>
                <a:spcPts val="1000"/>
              </a:spcAft>
            </a:pPr>
            <a:r>
              <a:rPr sz="1800" b="1" i="0" dirty="0">
                <a:solidFill>
                  <a:srgbClr val="2E6BE6"/>
                </a:solidFill>
                <a:latin typeface="Calibri"/>
              </a:rPr>
              <a:t>▸  </a:t>
            </a:r>
            <a:r>
              <a:rPr sz="1800" b="0" i="0" dirty="0">
                <a:solidFill>
                  <a:srgbClr val="1A1D29"/>
                </a:solidFill>
                <a:latin typeface="Calibri"/>
              </a:rPr>
              <a:t>Timestamps are intervals — design systems around t ± U</a:t>
            </a:r>
          </a:p>
          <a:p>
            <a:pPr algn="l">
              <a:spcBef>
                <a:spcPts val="0"/>
              </a:spcBef>
              <a:spcAft>
                <a:spcPts val="1000"/>
              </a:spcAft>
            </a:pPr>
            <a:r>
              <a:rPr sz="1800" b="1" i="0" dirty="0">
                <a:solidFill>
                  <a:srgbClr val="2E6BE6"/>
                </a:solidFill>
                <a:latin typeface="Calibri"/>
              </a:rPr>
              <a:t>▸  </a:t>
            </a:r>
            <a:r>
              <a:rPr sz="1800" b="0" i="0" dirty="0">
                <a:solidFill>
                  <a:srgbClr val="1A1D29"/>
                </a:solidFill>
                <a:latin typeface="Calibri"/>
              </a:rPr>
              <a:t>U is an envelope under stated assumptions, not a proven bound</a:t>
            </a:r>
          </a:p>
          <a:p>
            <a:pPr algn="l">
              <a:spcBef>
                <a:spcPts val="0"/>
              </a:spcBef>
              <a:spcAft>
                <a:spcPts val="1000"/>
              </a:spcAft>
            </a:pPr>
            <a:r>
              <a:rPr sz="1800" b="1" i="0" dirty="0">
                <a:solidFill>
                  <a:srgbClr val="2E6BE6"/>
                </a:solidFill>
                <a:latin typeface="Calibri"/>
              </a:rPr>
              <a:t>▸  </a:t>
            </a:r>
            <a:r>
              <a:rPr sz="1800" b="0" i="0" dirty="0">
                <a:solidFill>
                  <a:srgbClr val="1A1D29"/>
                </a:solidFill>
                <a:latin typeface="Calibri"/>
              </a:rPr>
              <a:t>Separate </a:t>
            </a:r>
            <a:r>
              <a:rPr sz="1800" b="0" i="0" dirty="0" err="1">
                <a:solidFill>
                  <a:srgbClr val="1A1D29"/>
                </a:solidFill>
                <a:latin typeface="Calibri"/>
              </a:rPr>
              <a:t>U_clock</a:t>
            </a:r>
            <a:r>
              <a:rPr sz="1800" b="0" i="0" dirty="0">
                <a:solidFill>
                  <a:srgbClr val="1A1D29"/>
                </a:solidFill>
                <a:latin typeface="Calibri"/>
              </a:rPr>
              <a:t> (daemon) from </a:t>
            </a:r>
            <a:r>
              <a:rPr sz="1800" b="0" i="0" dirty="0" err="1">
                <a:solidFill>
                  <a:srgbClr val="1A1D29"/>
                </a:solidFill>
                <a:latin typeface="Calibri"/>
              </a:rPr>
              <a:t>U_capture</a:t>
            </a:r>
            <a:r>
              <a:rPr sz="1800" b="0" i="0" dirty="0">
                <a:solidFill>
                  <a:srgbClr val="1A1D29"/>
                </a:solidFill>
                <a:latin typeface="Calibri"/>
              </a:rPr>
              <a:t> (application)</a:t>
            </a:r>
          </a:p>
          <a:p>
            <a:pPr algn="l">
              <a:spcBef>
                <a:spcPts val="0"/>
              </a:spcBef>
              <a:spcAft>
                <a:spcPts val="1000"/>
              </a:spcAft>
            </a:pPr>
            <a:r>
              <a:rPr sz="1800" b="1" i="0" dirty="0">
                <a:solidFill>
                  <a:srgbClr val="2E6BE6"/>
                </a:solidFill>
                <a:latin typeface="Calibri"/>
              </a:rPr>
              <a:t>▸  </a:t>
            </a:r>
            <a:r>
              <a:rPr sz="1800" b="0" i="0" dirty="0">
                <a:solidFill>
                  <a:srgbClr val="1A1D29"/>
                </a:solidFill>
                <a:latin typeface="Calibri"/>
              </a:rPr>
              <a:t>Staleness is an attributed drift bound — the term most tools ignore</a:t>
            </a:r>
          </a:p>
          <a:p>
            <a:pPr algn="l">
              <a:spcBef>
                <a:spcPts val="0"/>
              </a:spcBef>
              <a:spcAft>
                <a:spcPts val="1000"/>
              </a:spcAft>
            </a:pPr>
            <a:r>
              <a:rPr sz="1800" b="1" i="0" dirty="0">
                <a:solidFill>
                  <a:srgbClr val="2E6BE6"/>
                </a:solidFill>
                <a:latin typeface="Calibri"/>
              </a:rPr>
              <a:t>▸  </a:t>
            </a:r>
            <a:r>
              <a:rPr sz="1800" b="0" i="0" dirty="0">
                <a:solidFill>
                  <a:srgbClr val="1A1D29"/>
                </a:solidFill>
                <a:latin typeface="Calibri"/>
              </a:rPr>
              <a:t>Missing kernel primitive: a coherent clock-state at one epoch</a:t>
            </a:r>
          </a:p>
          <a:p>
            <a:pPr algn="l">
              <a:spcBef>
                <a:spcPts val="0"/>
              </a:spcBef>
              <a:spcAft>
                <a:spcPts val="1000"/>
              </a:spcAft>
            </a:pPr>
            <a:r>
              <a:rPr sz="1800" b="1" i="0" dirty="0">
                <a:solidFill>
                  <a:srgbClr val="2E6BE6"/>
                </a:solidFill>
                <a:latin typeface="Calibri"/>
              </a:rPr>
              <a:t>▸  </a:t>
            </a:r>
            <a:r>
              <a:rPr sz="1800" b="0" i="0" dirty="0">
                <a:solidFill>
                  <a:srgbClr val="1A1D29"/>
                </a:solidFill>
                <a:latin typeface="Calibri"/>
              </a:rPr>
              <a:t>The full story: fast access to the time and its uncertainty</a:t>
            </a:r>
          </a:p>
        </p:txBody>
      </p:sp>
      <p:sp>
        <p:nvSpPr>
          <p:cNvPr id="6" name="Rectangle 5"/>
          <p:cNvSpPr/>
          <p:nvPr/>
        </p:nvSpPr>
        <p:spPr>
          <a:xfrm>
            <a:off x="0" y="6601968"/>
            <a:ext cx="12191695" cy="256032"/>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83680"/>
            <a:ext cx="8229600" cy="256032"/>
          </a:xfrm>
          <a:prstGeom prst="rect">
            <a:avLst/>
          </a:prstGeom>
          <a:noFill/>
        </p:spPr>
        <p:txBody>
          <a:bodyPr wrap="square" lIns="0" tIns="0" rIns="0" bIns="0" anchor="ctr">
            <a:spAutoFit/>
          </a:bodyPr>
          <a:lstStyle/>
          <a:p>
            <a:pPr algn="l">
              <a:spcBef>
                <a:spcPts val="0"/>
              </a:spcBef>
              <a:spcAft>
                <a:spcPts val="600"/>
              </a:spcAft>
            </a:pPr>
            <a:r>
              <a:rPr sz="1000" b="0" i="0">
                <a:solidFill>
                  <a:srgbClr val="FFFFFF"/>
                </a:solidFill>
                <a:latin typeface="Calibri"/>
              </a:rPr>
              <a:t>Time Uncertainty as a First-Class Concept</a:t>
            </a:r>
          </a:p>
        </p:txBody>
      </p:sp>
      <p:sp>
        <p:nvSpPr>
          <p:cNvPr id="8" name="TextBox 7"/>
          <p:cNvSpPr txBox="1"/>
          <p:nvPr/>
        </p:nvSpPr>
        <p:spPr>
          <a:xfrm>
            <a:off x="11002975" y="6583680"/>
            <a:ext cx="731520" cy="256032"/>
          </a:xfrm>
          <a:prstGeom prst="rect">
            <a:avLst/>
          </a:prstGeom>
          <a:noFill/>
        </p:spPr>
        <p:txBody>
          <a:bodyPr wrap="square" lIns="0" tIns="0" rIns="0" bIns="0" anchor="ctr">
            <a:spAutoFit/>
          </a:bodyPr>
          <a:lstStyle/>
          <a:p>
            <a:pPr algn="r">
              <a:spcBef>
                <a:spcPts val="0"/>
              </a:spcBef>
              <a:spcAft>
                <a:spcPts val="600"/>
              </a:spcAft>
            </a:pPr>
            <a:r>
              <a:rPr sz="1000" b="1" i="0">
                <a:solidFill>
                  <a:srgbClr val="FFFFFF"/>
                </a:solidFill>
                <a:latin typeface="Calibri"/>
              </a:rPr>
              <a:t>39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0" end="0"/>
                                            </p:txEl>
                                          </p:spTgt>
                                        </p:tgtEl>
                                        <p:attrNameLst>
                                          <p:attrName>ppt_c</p:attrName>
                                        </p:attrNameLst>
                                      </p:cBhvr>
                                      <p:to>
                                        <a:srgbClr val="9EA0A0"/>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1" end="1"/>
                                            </p:txEl>
                                          </p:spTgt>
                                        </p:tgtEl>
                                        <p:attrNameLst>
                                          <p:attrName>ppt_c</p:attrName>
                                        </p:attrNameLst>
                                      </p:cBhvr>
                                      <p:to>
                                        <a:srgbClr val="9EA0A0"/>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2" end="2"/>
                                            </p:txEl>
                                          </p:spTgt>
                                        </p:tgtEl>
                                        <p:attrNameLst>
                                          <p:attrName>ppt_c</p:attrName>
                                        </p:attrNameLst>
                                      </p:cBhvr>
                                      <p:to>
                                        <a:srgbClr val="9EA0A0"/>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3" end="3"/>
                                            </p:txEl>
                                          </p:spTgt>
                                        </p:tgtEl>
                                        <p:attrNameLst>
                                          <p:attrName>ppt_c</p:attrName>
                                        </p:attrNameLst>
                                      </p:cBhvr>
                                      <p:to>
                                        <a:srgbClr val="9EA0A0"/>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4" end="4"/>
                                            </p:txEl>
                                          </p:spTgt>
                                        </p:tgtEl>
                                        <p:attrNameLst>
                                          <p:attrName>ppt_c</p:attrName>
                                        </p:attrNameLst>
                                      </p:cBhvr>
                                      <p:to>
                                        <a:srgbClr val="9EA0A0"/>
                                      </p:to>
                                    </p:animClr>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1A1D29"/>
        </a:solidFill>
        <a:effectLst/>
      </p:bgPr>
    </p:bg>
    <p:spTree>
      <p:nvGrpSpPr>
        <p:cNvPr id="1" name=""/>
        <p:cNvGrpSpPr/>
        <p:nvPr/>
      </p:nvGrpSpPr>
      <p:grpSpPr>
        <a:xfrm>
          <a:off x="0" y="0"/>
          <a:ext cx="0" cy="0"/>
          <a:chOff x="0" y="0"/>
          <a:chExt cx="0" cy="0"/>
        </a:xfrm>
      </p:grpSpPr>
      <p:sp>
        <p:nvSpPr>
          <p:cNvPr id="2" name="Rectangle 1"/>
          <p:cNvSpPr/>
          <p:nvPr/>
        </p:nvSpPr>
        <p:spPr>
          <a:xfrm>
            <a:off x="0" y="2743200"/>
            <a:ext cx="12191695" cy="82296"/>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825496"/>
            <a:ext cx="3840480" cy="82296"/>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920240"/>
            <a:ext cx="10515600" cy="914400"/>
          </a:xfrm>
          <a:prstGeom prst="rect">
            <a:avLst/>
          </a:prstGeom>
          <a:noFill/>
        </p:spPr>
        <p:txBody>
          <a:bodyPr wrap="square" lIns="0" tIns="0" rIns="0" bIns="0" anchor="t">
            <a:spAutoFit/>
          </a:bodyPr>
          <a:lstStyle/>
          <a:p>
            <a:pPr algn="l">
              <a:spcBef>
                <a:spcPts val="0"/>
              </a:spcBef>
              <a:spcAft>
                <a:spcPts val="600"/>
              </a:spcAft>
            </a:pPr>
            <a:r>
              <a:rPr sz="4400" b="1" i="0">
                <a:solidFill>
                  <a:srgbClr val="FFFFFF"/>
                </a:solidFill>
                <a:latin typeface="Calibri"/>
              </a:rPr>
              <a:t>Questions?</a:t>
            </a:r>
          </a:p>
        </p:txBody>
      </p:sp>
      <p:sp>
        <p:nvSpPr>
          <p:cNvPr id="5" name="TextBox 4"/>
          <p:cNvSpPr txBox="1"/>
          <p:nvPr/>
        </p:nvSpPr>
        <p:spPr>
          <a:xfrm>
            <a:off x="841248" y="3108960"/>
            <a:ext cx="10515600" cy="1280160"/>
          </a:xfrm>
          <a:prstGeom prst="rect">
            <a:avLst/>
          </a:prstGeom>
          <a:noFill/>
        </p:spPr>
        <p:txBody>
          <a:bodyPr wrap="square" lIns="0" tIns="0" rIns="0" bIns="0" anchor="t">
            <a:spAutoFit/>
          </a:bodyPr>
          <a:lstStyle/>
          <a:p>
            <a:pPr algn="l">
              <a:spcBef>
                <a:spcPts val="0"/>
              </a:spcBef>
              <a:spcAft>
                <a:spcPts val="600"/>
              </a:spcAft>
            </a:pPr>
            <a:r>
              <a:rPr sz="2000" b="0" i="0">
                <a:solidFill>
                  <a:srgbClr val="C7D2F0"/>
                </a:solidFill>
                <a:latin typeface="Calibri"/>
              </a:rPr>
              <a:t>Treat time as an interval. Make the error bar part of the data.</a:t>
            </a:r>
          </a:p>
        </p:txBody>
      </p:sp>
      <p:sp>
        <p:nvSpPr>
          <p:cNvPr id="6" name="TextBox 5"/>
          <p:cNvSpPr txBox="1"/>
          <p:nvPr/>
        </p:nvSpPr>
        <p:spPr>
          <a:xfrm>
            <a:off x="841248" y="5120640"/>
            <a:ext cx="10515600" cy="731520"/>
          </a:xfrm>
          <a:prstGeom prst="rect">
            <a:avLst/>
          </a:prstGeom>
          <a:noFill/>
        </p:spPr>
        <p:txBody>
          <a:bodyPr wrap="square" lIns="0" tIns="0" rIns="0" bIns="0" anchor="t">
            <a:spAutoFit/>
          </a:bodyPr>
          <a:lstStyle/>
          <a:p>
            <a:pPr algn="l">
              <a:spcBef>
                <a:spcPts val="0"/>
              </a:spcBef>
              <a:spcAft>
                <a:spcPts val="600"/>
              </a:spcAft>
            </a:pPr>
            <a:r>
              <a:rPr sz="1600" b="0" i="0">
                <a:solidFill>
                  <a:srgbClr val="9AA6C4"/>
                </a:solidFill>
                <a:latin typeface="Consolas"/>
              </a:rPr>
              <a:t>ptp-uncertainty  ·  daemon + libptp_unc.so + watch_uncertainty</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1143000"/>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0972800" cy="365760"/>
          </a:xfrm>
          <a:prstGeom prst="rect">
            <a:avLst/>
          </a:prstGeom>
          <a:noFill/>
        </p:spPr>
        <p:txBody>
          <a:bodyPr wrap="square" lIns="0" tIns="0" rIns="0" bIns="0" anchor="t">
            <a:spAutoFit/>
          </a:bodyPr>
          <a:lstStyle/>
          <a:p>
            <a:pPr algn="l">
              <a:spcBef>
                <a:spcPts val="0"/>
              </a:spcBef>
              <a:spcAft>
                <a:spcPts val="600"/>
              </a:spcAft>
            </a:pPr>
            <a:r>
              <a:rPr sz="1300" b="1" i="0">
                <a:solidFill>
                  <a:srgbClr val="2E6BE6"/>
                </a:solidFill>
                <a:latin typeface="Calibri"/>
              </a:rPr>
              <a:t>PTP → BOUND</a:t>
            </a:r>
          </a:p>
        </p:txBody>
      </p:sp>
      <p:sp>
        <p:nvSpPr>
          <p:cNvPr id="4" name="TextBox 3"/>
          <p:cNvSpPr txBox="1"/>
          <p:nvPr/>
        </p:nvSpPr>
        <p:spPr>
          <a:xfrm>
            <a:off x="502920" y="566928"/>
            <a:ext cx="11155680" cy="822960"/>
          </a:xfrm>
          <a:prstGeom prst="rect">
            <a:avLst/>
          </a:prstGeom>
          <a:noFill/>
        </p:spPr>
        <p:txBody>
          <a:bodyPr wrap="square" lIns="0" tIns="0" rIns="0" bIns="0" anchor="t">
            <a:spAutoFit/>
          </a:bodyPr>
          <a:lstStyle/>
          <a:p>
            <a:pPr algn="l">
              <a:spcBef>
                <a:spcPts val="0"/>
              </a:spcBef>
              <a:spcAft>
                <a:spcPts val="600"/>
              </a:spcAft>
            </a:pPr>
            <a:r>
              <a:rPr sz="3000" b="1" i="0">
                <a:solidFill>
                  <a:srgbClr val="1A1D29"/>
                </a:solidFill>
                <a:latin typeface="Calibri"/>
              </a:rPr>
              <a:t>Sync status is a prerequisite, not a proof</a:t>
            </a:r>
          </a:p>
        </p:txBody>
      </p:sp>
      <p:graphicFrame>
        <p:nvGraphicFramePr>
          <p:cNvPr id="5" name="Table 4"/>
          <p:cNvGraphicFramePr>
            <a:graphicFrameLocks noGrp="1"/>
          </p:cNvGraphicFramePr>
          <p:nvPr/>
        </p:nvGraphicFramePr>
        <p:xfrm>
          <a:off x="640080" y="1645920"/>
          <a:ext cx="10881360" cy="2286000"/>
        </p:xfrm>
        <a:graphic>
          <a:graphicData uri="http://schemas.openxmlformats.org/drawingml/2006/table">
            <a:tbl>
              <a:tblPr firstRow="1" bandRow="1">
                <a:tableStyleId>{5C22544A-7EE6-4342-B048-85BDC9FD1C3A}</a:tableStyleId>
              </a:tblPr>
              <a:tblGrid>
                <a:gridCol w="5440680">
                  <a:extLst>
                    <a:ext uri="{9D8B030D-6E8A-4147-A177-3AD203B41FA5}">
                      <a16:colId xmlns:a16="http://schemas.microsoft.com/office/drawing/2014/main" val="20000"/>
                    </a:ext>
                  </a:extLst>
                </a:gridCol>
                <a:gridCol w="5440680">
                  <a:extLst>
                    <a:ext uri="{9D8B030D-6E8A-4147-A177-3AD203B41FA5}">
                      <a16:colId xmlns:a16="http://schemas.microsoft.com/office/drawing/2014/main" val="20001"/>
                    </a:ext>
                  </a:extLst>
                </a:gridCol>
              </a:tblGrid>
              <a:tr h="457200">
                <a:tc>
                  <a:txBody>
                    <a:bodyPr/>
                    <a:lstStyle/>
                    <a:p>
                      <a:r>
                        <a:rPr sz="1500" b="1">
                          <a:solidFill>
                            <a:srgbClr val="FFFFFF"/>
                          </a:solidFill>
                          <a:latin typeface="Calibri"/>
                        </a:rPr>
                        <a:t>Port state</a:t>
                      </a:r>
                    </a:p>
                  </a:txBody>
                  <a:tcPr marL="109728">
                    <a:solidFill>
                      <a:srgbClr val="2E6BE6"/>
                    </a:solidFill>
                  </a:tcPr>
                </a:tc>
                <a:tc>
                  <a:txBody>
                    <a:bodyPr/>
                    <a:lstStyle/>
                    <a:p>
                      <a:r>
                        <a:rPr sz="1500" b="1">
                          <a:solidFill>
                            <a:srgbClr val="FFFFFF"/>
                          </a:solidFill>
                          <a:latin typeface="Calibri"/>
                        </a:rPr>
                        <a:t>Meaning for uncertainty</a:t>
                      </a:r>
                    </a:p>
                  </a:txBody>
                  <a:tcPr marL="109728">
                    <a:solidFill>
                      <a:srgbClr val="2E6BE6"/>
                    </a:solidFill>
                  </a:tcPr>
                </a:tc>
                <a:extLst>
                  <a:ext uri="{0D108BD9-81ED-4DB2-BD59-A6C34878D82A}">
                    <a16:rowId xmlns:a16="http://schemas.microsoft.com/office/drawing/2014/main" val="10000"/>
                  </a:ext>
                </a:extLst>
              </a:tr>
              <a:tr h="457200">
                <a:tc>
                  <a:txBody>
                    <a:bodyPr/>
                    <a:lstStyle/>
                    <a:p>
                      <a:r>
                        <a:rPr sz="1350" b="1">
                          <a:solidFill>
                            <a:srgbClr val="1A1D29"/>
                          </a:solidFill>
                          <a:latin typeface="Calibri"/>
                        </a:rPr>
                        <a:t>SLAVE</a:t>
                      </a:r>
                    </a:p>
                  </a:txBody>
                  <a:tcPr marL="109728" marT="36576" marB="36576">
                    <a:solidFill>
                      <a:srgbClr val="FFFFFF"/>
                    </a:solidFill>
                  </a:tcPr>
                </a:tc>
                <a:tc>
                  <a:txBody>
                    <a:bodyPr/>
                    <a:lstStyle/>
                    <a:p>
                      <a:r>
                        <a:rPr sz="1350" b="0">
                          <a:solidFill>
                            <a:srgbClr val="5B6172"/>
                          </a:solidFill>
                          <a:latin typeface="Calibri"/>
                        </a:rPr>
                        <a:t>actively disciplining — bounds meaningful</a:t>
                      </a:r>
                    </a:p>
                  </a:txBody>
                  <a:tcPr marL="109728" marT="36576" marB="36576">
                    <a:solidFill>
                      <a:srgbClr val="FFFFFF"/>
                    </a:solidFill>
                  </a:tcPr>
                </a:tc>
                <a:extLst>
                  <a:ext uri="{0D108BD9-81ED-4DB2-BD59-A6C34878D82A}">
                    <a16:rowId xmlns:a16="http://schemas.microsoft.com/office/drawing/2014/main" val="10001"/>
                  </a:ext>
                </a:extLst>
              </a:tr>
              <a:tr h="457200">
                <a:tc>
                  <a:txBody>
                    <a:bodyPr/>
                    <a:lstStyle/>
                    <a:p>
                      <a:r>
                        <a:rPr sz="1350" b="1">
                          <a:solidFill>
                            <a:srgbClr val="1A1D29"/>
                          </a:solidFill>
                          <a:latin typeface="Calibri"/>
                        </a:rPr>
                        <a:t>UNCALIBRATED</a:t>
                      </a:r>
                    </a:p>
                  </a:txBody>
                  <a:tcPr marL="109728" marT="36576" marB="36576">
                    <a:solidFill>
                      <a:srgbClr val="EDF1FB"/>
                    </a:solidFill>
                  </a:tcPr>
                </a:tc>
                <a:tc>
                  <a:txBody>
                    <a:bodyPr/>
                    <a:lstStyle/>
                    <a:p>
                      <a:r>
                        <a:rPr sz="1350" b="0">
                          <a:solidFill>
                            <a:srgbClr val="5B6172"/>
                          </a:solidFill>
                          <a:latin typeface="Calibri"/>
                        </a:rPr>
                        <a:t>converging — bounds unstable</a:t>
                      </a:r>
                    </a:p>
                  </a:txBody>
                  <a:tcPr marL="109728" marT="36576" marB="36576">
                    <a:solidFill>
                      <a:srgbClr val="EDF1FB"/>
                    </a:solidFill>
                  </a:tcPr>
                </a:tc>
                <a:extLst>
                  <a:ext uri="{0D108BD9-81ED-4DB2-BD59-A6C34878D82A}">
                    <a16:rowId xmlns:a16="http://schemas.microsoft.com/office/drawing/2014/main" val="10002"/>
                  </a:ext>
                </a:extLst>
              </a:tr>
              <a:tr h="457200">
                <a:tc>
                  <a:txBody>
                    <a:bodyPr/>
                    <a:lstStyle/>
                    <a:p>
                      <a:r>
                        <a:rPr sz="1350" b="1">
                          <a:solidFill>
                            <a:srgbClr val="1A1D29"/>
                          </a:solidFill>
                          <a:latin typeface="Calibri"/>
                        </a:rPr>
                        <a:t>LISTENING / FAULTY</a:t>
                      </a:r>
                    </a:p>
                  </a:txBody>
                  <a:tcPr marL="109728" marT="36576" marB="36576">
                    <a:solidFill>
                      <a:srgbClr val="FFFFFF"/>
                    </a:solidFill>
                  </a:tcPr>
                </a:tc>
                <a:tc>
                  <a:txBody>
                    <a:bodyPr/>
                    <a:lstStyle/>
                    <a:p>
                      <a:r>
                        <a:rPr sz="1350" b="0">
                          <a:solidFill>
                            <a:srgbClr val="5B6172"/>
                          </a:solidFill>
                          <a:latin typeface="Calibri"/>
                        </a:rPr>
                        <a:t>do not trust ordering claims</a:t>
                      </a:r>
                    </a:p>
                  </a:txBody>
                  <a:tcPr marL="109728" marT="36576" marB="36576">
                    <a:solidFill>
                      <a:srgbClr val="FFFFFF"/>
                    </a:solidFill>
                  </a:tcPr>
                </a:tc>
                <a:extLst>
                  <a:ext uri="{0D108BD9-81ED-4DB2-BD59-A6C34878D82A}">
                    <a16:rowId xmlns:a16="http://schemas.microsoft.com/office/drawing/2014/main" val="10003"/>
                  </a:ext>
                </a:extLst>
              </a:tr>
              <a:tr h="457200">
                <a:tc>
                  <a:txBody>
                    <a:bodyPr/>
                    <a:lstStyle/>
                    <a:p>
                      <a:r>
                        <a:rPr sz="1350" b="1">
                          <a:solidFill>
                            <a:srgbClr val="1A1D29"/>
                          </a:solidFill>
                          <a:latin typeface="Calibri"/>
                        </a:rPr>
                        <a:t>ptp4l disconnected</a:t>
                      </a:r>
                    </a:p>
                  </a:txBody>
                  <a:tcPr marL="109728" marT="36576" marB="36576">
                    <a:solidFill>
                      <a:srgbClr val="EDF1FB"/>
                    </a:solidFill>
                  </a:tcPr>
                </a:tc>
                <a:tc>
                  <a:txBody>
                    <a:bodyPr/>
                    <a:lstStyle/>
                    <a:p>
                      <a:r>
                        <a:rPr sz="1350" b="0">
                          <a:solidFill>
                            <a:srgbClr val="5B6172"/>
                          </a:solidFill>
                          <a:latin typeface="Calibri"/>
                        </a:rPr>
                        <a:t>hold last anchor + drift keeps growing</a:t>
                      </a:r>
                    </a:p>
                  </a:txBody>
                  <a:tcPr marL="109728" marT="36576" marB="36576">
                    <a:solidFill>
                      <a:srgbClr val="EDF1FB"/>
                    </a:solidFill>
                  </a:tcPr>
                </a:tc>
                <a:extLst>
                  <a:ext uri="{0D108BD9-81ED-4DB2-BD59-A6C34878D82A}">
                    <a16:rowId xmlns:a16="http://schemas.microsoft.com/office/drawing/2014/main" val="10004"/>
                  </a:ext>
                </a:extLst>
              </a:tr>
            </a:tbl>
          </a:graphicData>
        </a:graphic>
      </p:graphicFrame>
      <p:sp>
        <p:nvSpPr>
          <p:cNvPr id="6" name="Rectangle 5"/>
          <p:cNvSpPr/>
          <p:nvPr/>
        </p:nvSpPr>
        <p:spPr>
          <a:xfrm>
            <a:off x="0" y="6601968"/>
            <a:ext cx="12191695" cy="256032"/>
          </a:xfrm>
          <a:prstGeom prst="rect">
            <a:avLst/>
          </a:prstGeom>
          <a:solidFill>
            <a:srgbClr val="2E6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83680"/>
            <a:ext cx="8229600" cy="256032"/>
          </a:xfrm>
          <a:prstGeom prst="rect">
            <a:avLst/>
          </a:prstGeom>
          <a:noFill/>
        </p:spPr>
        <p:txBody>
          <a:bodyPr wrap="square" lIns="0" tIns="0" rIns="0" bIns="0" anchor="ctr">
            <a:spAutoFit/>
          </a:bodyPr>
          <a:lstStyle/>
          <a:p>
            <a:pPr algn="l">
              <a:spcBef>
                <a:spcPts val="0"/>
              </a:spcBef>
              <a:spcAft>
                <a:spcPts val="600"/>
              </a:spcAft>
            </a:pPr>
            <a:r>
              <a:rPr sz="1000" b="0" i="0">
                <a:solidFill>
                  <a:srgbClr val="FFFFFF"/>
                </a:solidFill>
                <a:latin typeface="Calibri"/>
              </a:rPr>
              <a:t>Time Uncertainty as a First-Class Concept</a:t>
            </a:r>
          </a:p>
        </p:txBody>
      </p:sp>
      <p:sp>
        <p:nvSpPr>
          <p:cNvPr id="8" name="TextBox 7"/>
          <p:cNvSpPr txBox="1"/>
          <p:nvPr/>
        </p:nvSpPr>
        <p:spPr>
          <a:xfrm>
            <a:off x="11002975" y="6583680"/>
            <a:ext cx="731520" cy="256032"/>
          </a:xfrm>
          <a:prstGeom prst="rect">
            <a:avLst/>
          </a:prstGeom>
          <a:noFill/>
        </p:spPr>
        <p:txBody>
          <a:bodyPr wrap="square" lIns="0" tIns="0" rIns="0" bIns="0" anchor="ctr">
            <a:spAutoFit/>
          </a:bodyPr>
          <a:lstStyle/>
          <a:p>
            <a:pPr algn="r">
              <a:spcBef>
                <a:spcPts val="0"/>
              </a:spcBef>
              <a:spcAft>
                <a:spcPts val="600"/>
              </a:spcAft>
            </a:pPr>
            <a:r>
              <a:rPr sz="1000" b="1" i="0">
                <a:solidFill>
                  <a:srgbClr val="FFFFFF"/>
                </a:solidFill>
                <a:latin typeface="Calibri"/>
              </a:rPr>
              <a:t>23</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9DC3C7-C796-807F-A24F-6DEF27E43A32}"/>
              </a:ext>
            </a:extLst>
          </p:cNvPr>
          <p:cNvPicPr>
            <a:picLocks noChangeAspect="1"/>
          </p:cNvPicPr>
          <p:nvPr/>
        </p:nvPicPr>
        <p:blipFill>
          <a:blip r:embed="rId2"/>
          <a:stretch>
            <a:fillRect/>
          </a:stretch>
        </p:blipFill>
        <p:spPr>
          <a:xfrm>
            <a:off x="643467" y="729995"/>
            <a:ext cx="10905066" cy="5398009"/>
          </a:xfrm>
          <a:prstGeom prst="rect">
            <a:avLst/>
          </a:prstGeom>
        </p:spPr>
      </p:pic>
    </p:spTree>
    <p:extLst>
      <p:ext uri="{BB962C8B-B14F-4D97-AF65-F5344CB8AC3E}">
        <p14:creationId xmlns:p14="http://schemas.microsoft.com/office/powerpoint/2010/main" val="5618000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112</TotalTime>
  <Words>8712</Words>
  <Application>Microsoft Macintosh PowerPoint</Application>
  <PresentationFormat>Widescreen</PresentationFormat>
  <Paragraphs>594</Paragraphs>
  <Slides>42</Slides>
  <Notes>35</Notes>
  <HiddenSlides>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42</vt:i4>
      </vt:variant>
    </vt:vector>
  </HeadingPairs>
  <TitlesOfParts>
    <vt:vector size="47" baseType="lpstr">
      <vt:lpstr>Aptos</vt: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Maciek Machnikowski</cp:lastModifiedBy>
  <cp:revision>7</cp:revision>
  <dcterms:created xsi:type="dcterms:W3CDTF">2013-01-27T09:14:16Z</dcterms:created>
  <dcterms:modified xsi:type="dcterms:W3CDTF">2026-07-13T20:57:41Z</dcterms:modified>
  <cp:category/>
</cp:coreProperties>
</file>